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55"/>
  </p:notesMasterIdLst>
  <p:sldIdLst>
    <p:sldId id="256" r:id="rId2"/>
    <p:sldId id="258" r:id="rId3"/>
    <p:sldId id="262" r:id="rId4"/>
    <p:sldId id="261" r:id="rId5"/>
    <p:sldId id="259" r:id="rId6"/>
    <p:sldId id="260" r:id="rId7"/>
    <p:sldId id="266" r:id="rId8"/>
    <p:sldId id="314" r:id="rId9"/>
    <p:sldId id="315" r:id="rId10"/>
    <p:sldId id="319" r:id="rId11"/>
    <p:sldId id="267" r:id="rId12"/>
    <p:sldId id="268" r:id="rId13"/>
    <p:sldId id="269" r:id="rId14"/>
    <p:sldId id="270" r:id="rId15"/>
    <p:sldId id="271" r:id="rId16"/>
    <p:sldId id="274" r:id="rId17"/>
    <p:sldId id="320" r:id="rId18"/>
    <p:sldId id="316" r:id="rId19"/>
    <p:sldId id="273" r:id="rId20"/>
    <p:sldId id="276" r:id="rId21"/>
    <p:sldId id="317" r:id="rId22"/>
    <p:sldId id="318" r:id="rId23"/>
    <p:sldId id="279" r:id="rId24"/>
    <p:sldId id="280" r:id="rId25"/>
    <p:sldId id="311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65" r:id="rId39"/>
    <p:sldId id="263" r:id="rId40"/>
    <p:sldId id="293" r:id="rId41"/>
    <p:sldId id="294" r:id="rId42"/>
    <p:sldId id="295" r:id="rId43"/>
    <p:sldId id="297" r:id="rId44"/>
    <p:sldId id="296" r:id="rId45"/>
    <p:sldId id="298" r:id="rId46"/>
    <p:sldId id="300" r:id="rId47"/>
    <p:sldId id="306" r:id="rId48"/>
    <p:sldId id="307" r:id="rId49"/>
    <p:sldId id="308" r:id="rId50"/>
    <p:sldId id="309" r:id="rId51"/>
    <p:sldId id="310" r:id="rId52"/>
    <p:sldId id="312" r:id="rId53"/>
    <p:sldId id="313" r:id="rId5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EB"/>
    <a:srgbClr val="FF9D00"/>
    <a:srgbClr val="4C20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82"/>
    <p:restoredTop sz="94672"/>
  </p:normalViewPr>
  <p:slideViewPr>
    <p:cSldViewPr snapToGrid="0" snapToObjects="1">
      <p:cViewPr varScale="1">
        <p:scale>
          <a:sx n="54" d="100"/>
          <a:sy n="54" d="100"/>
        </p:scale>
        <p:origin x="124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71A995-36C9-1C4B-92F1-874F9DFE7E7D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4061C1-965D-044E-B44D-B88191E3D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272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general this is called a “distance-vector” routing protocol which means it maintains</a:t>
            </a:r>
            <a:r>
              <a:rPr lang="en-US" baseline="0" dirty="0"/>
              <a:t> a vector of distances.  </a:t>
            </a:r>
            <a:r>
              <a:rPr lang="en-US" dirty="0"/>
              <a:t>OTOH,</a:t>
            </a:r>
            <a:r>
              <a:rPr lang="en-US" baseline="0" dirty="0"/>
              <a:t> the OSPF algorithm that uses Dijkstra is “link-state” routing protocol which means that a node should broadcast to everyone if the topology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9D2867-8BA1-294F-8B99-CC1FFF10554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9210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AF505-C98F-DE4B-A9BE-EAB90D1B6A2A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EE34-B5EC-3346-996B-F676A13696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AF505-C98F-DE4B-A9BE-EAB90D1B6A2A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EE34-B5EC-3346-996B-F676A13696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AF505-C98F-DE4B-A9BE-EAB90D1B6A2A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EE34-B5EC-3346-996B-F676A13696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AF505-C98F-DE4B-A9BE-EAB90D1B6A2A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EE34-B5EC-3346-996B-F676A13696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AF505-C98F-DE4B-A9BE-EAB90D1B6A2A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EE34-B5EC-3346-996B-F676A13696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AF505-C98F-DE4B-A9BE-EAB90D1B6A2A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EE34-B5EC-3346-996B-F676A13696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AF505-C98F-DE4B-A9BE-EAB90D1B6A2A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EE34-B5EC-3346-996B-F676A13696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AF505-C98F-DE4B-A9BE-EAB90D1B6A2A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EE34-B5EC-3346-996B-F676A13696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AF505-C98F-DE4B-A9BE-EAB90D1B6A2A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EE34-B5EC-3346-996B-F676A13696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AF505-C98F-DE4B-A9BE-EAB90D1B6A2A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EE34-B5EC-3346-996B-F676A13696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AF505-C98F-DE4B-A9BE-EAB90D1B6A2A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EE34-B5EC-3346-996B-F676A13696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FAF505-C98F-DE4B-A9BE-EAB90D1B6A2A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1EE34-B5EC-3346-996B-F676A13696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707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.png"/><Relationship Id="rId7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.png"/><Relationship Id="rId7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5.png"/><Relationship Id="rId7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tiff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if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12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Bellman-Ford, Floyd-</a:t>
            </a:r>
            <a:r>
              <a:rPr lang="en-US" dirty="0" err="1"/>
              <a:t>Warshall</a:t>
            </a:r>
            <a:r>
              <a:rPr lang="en-US" dirty="0"/>
              <a:t>, and Dynamic Programming!</a:t>
            </a:r>
          </a:p>
        </p:txBody>
      </p:sp>
    </p:spTree>
    <p:extLst>
      <p:ext uri="{BB962C8B-B14F-4D97-AF65-F5344CB8AC3E}">
        <p14:creationId xmlns:p14="http://schemas.microsoft.com/office/powerpoint/2010/main" val="1758809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49" y="1825625"/>
            <a:ext cx="8601847" cy="4351338"/>
          </a:xfrm>
        </p:spPr>
        <p:txBody>
          <a:bodyPr/>
          <a:lstStyle/>
          <a:p>
            <a:r>
              <a:rPr lang="en-US" dirty="0">
                <a:solidFill>
                  <a:schemeClr val="accent5"/>
                </a:solidFill>
              </a:rPr>
              <a:t>Dijkstra’s algorithm!</a:t>
            </a:r>
          </a:p>
          <a:p>
            <a:r>
              <a:rPr lang="en-US" dirty="0"/>
              <a:t>Solves </a:t>
            </a:r>
            <a:r>
              <a:rPr lang="en-US" dirty="0">
                <a:solidFill>
                  <a:schemeClr val="accent1"/>
                </a:solidFill>
              </a:rPr>
              <a:t>single-source shortest path </a:t>
            </a:r>
            <a:r>
              <a:rPr lang="en-US" dirty="0"/>
              <a:t>in </a:t>
            </a:r>
            <a:r>
              <a:rPr lang="en-US" dirty="0">
                <a:solidFill>
                  <a:schemeClr val="accent4"/>
                </a:solidFill>
              </a:rPr>
              <a:t>weighted graphs.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69179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Bellman-Ford algorithm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Another </a:t>
            </a:r>
            <a:r>
              <a:rPr lang="en-US" b="1" dirty="0">
                <a:solidFill>
                  <a:schemeClr val="accent1"/>
                </a:solidFill>
              </a:rPr>
              <a:t>single-source shortest path algorithm</a:t>
            </a:r>
          </a:p>
          <a:p>
            <a:r>
              <a:rPr lang="en-US" dirty="0"/>
              <a:t>This is an example of </a:t>
            </a:r>
            <a:r>
              <a:rPr lang="en-US" b="1" dirty="0">
                <a:solidFill>
                  <a:schemeClr val="accent4"/>
                </a:solidFill>
              </a:rPr>
              <a:t>dynamic programming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We’ll see what that means</a:t>
            </a:r>
          </a:p>
          <a:p>
            <a:r>
              <a:rPr lang="en-US" dirty="0"/>
              <a:t>Floyd-</a:t>
            </a:r>
            <a:r>
              <a:rPr lang="en-US" dirty="0" err="1"/>
              <a:t>Warshall</a:t>
            </a:r>
            <a:r>
              <a:rPr lang="en-US" dirty="0"/>
              <a:t> algorithm</a:t>
            </a:r>
          </a:p>
          <a:p>
            <a:pPr lvl="1"/>
            <a:r>
              <a:rPr lang="en-US" dirty="0"/>
              <a:t>An </a:t>
            </a:r>
            <a:r>
              <a:rPr lang="en-US" dirty="0">
                <a:solidFill>
                  <a:srgbClr val="7030A0"/>
                </a:solidFill>
              </a:rPr>
              <a:t>“all-pairs” shortest path algorithm</a:t>
            </a:r>
          </a:p>
          <a:p>
            <a:pPr lvl="1"/>
            <a:r>
              <a:rPr lang="en-US" dirty="0"/>
              <a:t>Another example of </a:t>
            </a:r>
            <a:r>
              <a:rPr lang="en-US" b="1" dirty="0">
                <a:solidFill>
                  <a:schemeClr val="accent4"/>
                </a:solidFill>
              </a:rPr>
              <a:t>dynamic programming</a:t>
            </a:r>
          </a:p>
        </p:txBody>
      </p:sp>
    </p:spTree>
    <p:extLst>
      <p:ext uri="{BB962C8B-B14F-4D97-AF65-F5344CB8AC3E}">
        <p14:creationId xmlns:p14="http://schemas.microsoft.com/office/powerpoint/2010/main" val="1728292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54772"/>
            <a:ext cx="7886700" cy="1325563"/>
          </a:xfrm>
        </p:spPr>
        <p:txBody>
          <a:bodyPr/>
          <a:lstStyle/>
          <a:p>
            <a:r>
              <a:rPr lang="en-US" dirty="0"/>
              <a:t>Recall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41464"/>
            <a:ext cx="7886700" cy="4351338"/>
          </a:xfrm>
        </p:spPr>
        <p:txBody>
          <a:bodyPr/>
          <a:lstStyle/>
          <a:p>
            <a:r>
              <a:rPr lang="en-US" dirty="0"/>
              <a:t>A weighted graph:</a:t>
            </a:r>
          </a:p>
        </p:txBody>
      </p:sp>
      <p:sp>
        <p:nvSpPr>
          <p:cNvPr id="5" name="Oval 4"/>
          <p:cNvSpPr/>
          <p:nvPr/>
        </p:nvSpPr>
        <p:spPr>
          <a:xfrm>
            <a:off x="3039757" y="2514597"/>
            <a:ext cx="605481" cy="60548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u</a:t>
            </a:r>
          </a:p>
        </p:txBody>
      </p:sp>
      <p:sp>
        <p:nvSpPr>
          <p:cNvPr id="6" name="Oval 5"/>
          <p:cNvSpPr/>
          <p:nvPr/>
        </p:nvSpPr>
        <p:spPr>
          <a:xfrm>
            <a:off x="4662610" y="3927152"/>
            <a:ext cx="605481" cy="60548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</a:t>
            </a:r>
          </a:p>
        </p:txBody>
      </p:sp>
      <p:sp>
        <p:nvSpPr>
          <p:cNvPr id="7" name="Oval 6"/>
          <p:cNvSpPr/>
          <p:nvPr/>
        </p:nvSpPr>
        <p:spPr>
          <a:xfrm>
            <a:off x="263606" y="4532633"/>
            <a:ext cx="605481" cy="60548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8" name="Oval 7"/>
          <p:cNvSpPr/>
          <p:nvPr/>
        </p:nvSpPr>
        <p:spPr>
          <a:xfrm>
            <a:off x="2434276" y="3927152"/>
            <a:ext cx="605481" cy="60548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9" name="Oval 8"/>
          <p:cNvSpPr/>
          <p:nvPr/>
        </p:nvSpPr>
        <p:spPr>
          <a:xfrm>
            <a:off x="2870881" y="5598136"/>
            <a:ext cx="605481" cy="60548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</a:t>
            </a:r>
          </a:p>
        </p:txBody>
      </p:sp>
      <p:cxnSp>
        <p:nvCxnSpPr>
          <p:cNvPr id="11" name="Straight Arrow Connector 10"/>
          <p:cNvCxnSpPr>
            <a:stCxn id="4" idx="6"/>
            <a:endCxn id="5" idx="2"/>
          </p:cNvCxnSpPr>
          <p:nvPr/>
        </p:nvCxnSpPr>
        <p:spPr>
          <a:xfrm flipV="1">
            <a:off x="1643443" y="2817338"/>
            <a:ext cx="1396314" cy="240958"/>
          </a:xfrm>
          <a:prstGeom prst="straightConnector1">
            <a:avLst/>
          </a:prstGeom>
          <a:ln w="44450">
            <a:solidFill>
              <a:schemeClr val="accent4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4" idx="5"/>
            <a:endCxn id="8" idx="1"/>
          </p:cNvCxnSpPr>
          <p:nvPr/>
        </p:nvCxnSpPr>
        <p:spPr>
          <a:xfrm>
            <a:off x="1554772" y="3272365"/>
            <a:ext cx="968175" cy="743458"/>
          </a:xfrm>
          <a:prstGeom prst="straightConnector1">
            <a:avLst/>
          </a:prstGeom>
          <a:ln w="44450">
            <a:solidFill>
              <a:schemeClr val="accent4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6" idx="3"/>
          </p:cNvCxnSpPr>
          <p:nvPr/>
        </p:nvCxnSpPr>
        <p:spPr>
          <a:xfrm>
            <a:off x="3039757" y="4229892"/>
            <a:ext cx="1711524" cy="214070"/>
          </a:xfrm>
          <a:prstGeom prst="straightConnector1">
            <a:avLst/>
          </a:prstGeom>
          <a:ln w="44450">
            <a:solidFill>
              <a:schemeClr val="accent4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5" idx="4"/>
            <a:endCxn id="6" idx="2"/>
          </p:cNvCxnSpPr>
          <p:nvPr/>
        </p:nvCxnSpPr>
        <p:spPr>
          <a:xfrm>
            <a:off x="3342498" y="3120078"/>
            <a:ext cx="1320112" cy="1109815"/>
          </a:xfrm>
          <a:prstGeom prst="straightConnector1">
            <a:avLst/>
          </a:prstGeom>
          <a:ln w="44450">
            <a:solidFill>
              <a:schemeClr val="accent4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6" idx="0"/>
            <a:endCxn id="5" idx="6"/>
          </p:cNvCxnSpPr>
          <p:nvPr/>
        </p:nvCxnSpPr>
        <p:spPr>
          <a:xfrm flipH="1" flipV="1">
            <a:off x="3645238" y="2817338"/>
            <a:ext cx="1320113" cy="1109814"/>
          </a:xfrm>
          <a:prstGeom prst="straightConnector1">
            <a:avLst/>
          </a:prstGeom>
          <a:ln w="44450">
            <a:solidFill>
              <a:schemeClr val="accent4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6" idx="4"/>
            <a:endCxn id="9" idx="7"/>
          </p:cNvCxnSpPr>
          <p:nvPr/>
        </p:nvCxnSpPr>
        <p:spPr>
          <a:xfrm flipH="1">
            <a:off x="3387691" y="4532633"/>
            <a:ext cx="1577660" cy="1154174"/>
          </a:xfrm>
          <a:prstGeom prst="straightConnector1">
            <a:avLst/>
          </a:prstGeom>
          <a:ln w="44450">
            <a:solidFill>
              <a:schemeClr val="accent4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8" idx="4"/>
            <a:endCxn id="9" idx="0"/>
          </p:cNvCxnSpPr>
          <p:nvPr/>
        </p:nvCxnSpPr>
        <p:spPr>
          <a:xfrm>
            <a:off x="2737017" y="4532633"/>
            <a:ext cx="436605" cy="1065503"/>
          </a:xfrm>
          <a:prstGeom prst="straightConnector1">
            <a:avLst/>
          </a:prstGeom>
          <a:ln w="44450">
            <a:solidFill>
              <a:schemeClr val="accent4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9" idx="2"/>
            <a:endCxn id="7" idx="5"/>
          </p:cNvCxnSpPr>
          <p:nvPr/>
        </p:nvCxnSpPr>
        <p:spPr>
          <a:xfrm flipH="1" flipV="1">
            <a:off x="780416" y="5049443"/>
            <a:ext cx="2090465" cy="851434"/>
          </a:xfrm>
          <a:prstGeom prst="straightConnector1">
            <a:avLst/>
          </a:prstGeom>
          <a:ln w="44450">
            <a:solidFill>
              <a:schemeClr val="accent4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7" idx="7"/>
            <a:endCxn id="4" idx="3"/>
          </p:cNvCxnSpPr>
          <p:nvPr/>
        </p:nvCxnSpPr>
        <p:spPr>
          <a:xfrm flipV="1">
            <a:off x="780416" y="3272365"/>
            <a:ext cx="346217" cy="1348939"/>
          </a:xfrm>
          <a:prstGeom prst="straightConnector1">
            <a:avLst/>
          </a:prstGeom>
          <a:ln w="44450">
            <a:solidFill>
              <a:schemeClr val="accent4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242946" y="2924709"/>
            <a:ext cx="498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07071" y="2972364"/>
            <a:ext cx="498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32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57848" y="3399967"/>
            <a:ext cx="498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19719" y="4760749"/>
            <a:ext cx="498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79282" y="4259296"/>
            <a:ext cx="498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72919" y="5571747"/>
            <a:ext cx="498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4340" y="3740134"/>
            <a:ext cx="498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5"/>
                </a:solidFill>
              </a:rPr>
              <a:t>1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952410" y="286418"/>
            <a:ext cx="3002692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000" dirty="0">
                <a:solidFill>
                  <a:schemeClr val="accent1"/>
                </a:solidFill>
              </a:rPr>
              <a:t>Weights</a:t>
            </a:r>
            <a:r>
              <a:rPr lang="en-US" sz="2000" dirty="0"/>
              <a:t> on edges represent </a:t>
            </a:r>
            <a:r>
              <a:rPr lang="en-US" sz="2000" dirty="0">
                <a:solidFill>
                  <a:schemeClr val="accent1"/>
                </a:solidFill>
              </a:rPr>
              <a:t>costs.</a:t>
            </a:r>
          </a:p>
          <a:p>
            <a:pPr marL="285750" indent="-285750">
              <a:buFont typeface="Arial" charset="0"/>
              <a:buChar char="•"/>
            </a:pPr>
            <a:endParaRPr lang="en-US" sz="2000" dirty="0">
              <a:solidFill>
                <a:schemeClr val="accent1"/>
              </a:solidFill>
            </a:endParaRPr>
          </a:p>
          <a:p>
            <a:pPr marL="285750" indent="-285750">
              <a:buFont typeface="Arial" charset="0"/>
              <a:buChar char="•"/>
            </a:pPr>
            <a:r>
              <a:rPr lang="en-US" sz="2000" dirty="0"/>
              <a:t>The </a:t>
            </a:r>
            <a:r>
              <a:rPr lang="en-US" sz="2000" dirty="0">
                <a:solidFill>
                  <a:schemeClr val="accent4"/>
                </a:solidFill>
              </a:rPr>
              <a:t>cost of a path </a:t>
            </a:r>
            <a:r>
              <a:rPr lang="en-US" sz="2000" dirty="0"/>
              <a:t>is the </a:t>
            </a:r>
            <a:r>
              <a:rPr lang="en-US" sz="2000" dirty="0">
                <a:solidFill>
                  <a:schemeClr val="accent4"/>
                </a:solidFill>
              </a:rPr>
              <a:t>sum of the weights</a:t>
            </a:r>
            <a:r>
              <a:rPr lang="en-US" sz="2000" dirty="0"/>
              <a:t> along that path.</a:t>
            </a:r>
          </a:p>
          <a:p>
            <a:pPr marL="285750" indent="-285750">
              <a:buFont typeface="Arial" charset="0"/>
              <a:buChar char="•"/>
            </a:pPr>
            <a:endParaRPr lang="en-US" sz="2000" dirty="0"/>
          </a:p>
          <a:p>
            <a:pPr marL="285750" indent="-285750">
              <a:buFont typeface="Arial" charset="0"/>
              <a:buChar char="•"/>
            </a:pPr>
            <a:r>
              <a:rPr lang="en-US" sz="2000" dirty="0"/>
              <a:t>A </a:t>
            </a:r>
            <a:r>
              <a:rPr lang="en-US" sz="2000" dirty="0">
                <a:solidFill>
                  <a:schemeClr val="accent5"/>
                </a:solidFill>
              </a:rPr>
              <a:t>shortest path from s to t </a:t>
            </a:r>
            <a:r>
              <a:rPr lang="en-US" sz="2000" dirty="0"/>
              <a:t>is a directed path from s to t with the </a:t>
            </a:r>
            <a:r>
              <a:rPr lang="en-US" sz="2000" dirty="0">
                <a:solidFill>
                  <a:schemeClr val="accent5"/>
                </a:solidFill>
              </a:rPr>
              <a:t>smallest cost</a:t>
            </a:r>
            <a:r>
              <a:rPr lang="en-US" sz="2000" dirty="0"/>
              <a:t>.</a:t>
            </a:r>
          </a:p>
          <a:p>
            <a:pPr marL="285750" indent="-285750">
              <a:buFont typeface="Arial" charset="0"/>
              <a:buChar char="•"/>
            </a:pPr>
            <a:endParaRPr lang="en-US" sz="2000" dirty="0"/>
          </a:p>
          <a:p>
            <a:pPr marL="285750" indent="-285750">
              <a:buFont typeface="Arial" charset="0"/>
              <a:buChar char="•"/>
            </a:pPr>
            <a:r>
              <a:rPr lang="en-US" sz="2000" dirty="0"/>
              <a:t>The </a:t>
            </a:r>
            <a:r>
              <a:rPr lang="en-US" sz="2000" dirty="0">
                <a:solidFill>
                  <a:schemeClr val="accent1"/>
                </a:solidFill>
              </a:rPr>
              <a:t>single-source shortest path</a:t>
            </a:r>
            <a:r>
              <a:rPr lang="en-US" sz="2000" dirty="0"/>
              <a:t> problem is to find </a:t>
            </a:r>
            <a:r>
              <a:rPr lang="en-US" sz="2000" dirty="0">
                <a:solidFill>
                  <a:schemeClr val="accent1"/>
                </a:solidFill>
              </a:rPr>
              <a:t>the shortest path from s to v for all v in the graph.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49931" y="3315716"/>
            <a:ext cx="498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5"/>
                </a:solidFill>
              </a:rPr>
              <a:t>1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977915" y="4750270"/>
            <a:ext cx="498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21</a:t>
            </a:r>
          </a:p>
        </p:txBody>
      </p:sp>
      <p:sp>
        <p:nvSpPr>
          <p:cNvPr id="56" name="Freeform 55"/>
          <p:cNvSpPr/>
          <p:nvPr/>
        </p:nvSpPr>
        <p:spPr>
          <a:xfrm>
            <a:off x="1433650" y="3372245"/>
            <a:ext cx="1458097" cy="2199502"/>
          </a:xfrm>
          <a:custGeom>
            <a:avLst/>
            <a:gdLst>
              <a:gd name="connsiteX0" fmla="*/ 0 w 1458097"/>
              <a:gd name="connsiteY0" fmla="*/ 0 h 2199502"/>
              <a:gd name="connsiteX1" fmla="*/ 1136821 w 1458097"/>
              <a:gd name="connsiteY1" fmla="*/ 976183 h 2199502"/>
              <a:gd name="connsiteX2" fmla="*/ 1458097 w 1458097"/>
              <a:gd name="connsiteY2" fmla="*/ 2199502 h 2199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58097" h="2199502">
                <a:moveTo>
                  <a:pt x="0" y="0"/>
                </a:moveTo>
                <a:cubicBezTo>
                  <a:pt x="446902" y="304799"/>
                  <a:pt x="893805" y="609599"/>
                  <a:pt x="1136821" y="976183"/>
                </a:cubicBezTo>
                <a:cubicBezTo>
                  <a:pt x="1379837" y="1342767"/>
                  <a:pt x="1458097" y="2199502"/>
                  <a:pt x="1458097" y="2199502"/>
                </a:cubicBezTo>
              </a:path>
            </a:pathLst>
          </a:custGeom>
          <a:noFill/>
          <a:ln w="44450">
            <a:solidFill>
              <a:srgbClr val="FF00EB"/>
            </a:solidFill>
            <a:prstDash val="sysDash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1391861" y="4028463"/>
            <a:ext cx="11999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EB"/>
                </a:solidFill>
              </a:rPr>
              <a:t>This is a path from s to t of cost 22.</a:t>
            </a:r>
          </a:p>
        </p:txBody>
      </p:sp>
      <p:sp>
        <p:nvSpPr>
          <p:cNvPr id="58" name="Freeform 57"/>
          <p:cNvSpPr/>
          <p:nvPr/>
        </p:nvSpPr>
        <p:spPr>
          <a:xfrm rot="21416032">
            <a:off x="1416477" y="2640702"/>
            <a:ext cx="3621324" cy="3171922"/>
          </a:xfrm>
          <a:custGeom>
            <a:avLst/>
            <a:gdLst>
              <a:gd name="connsiteX0" fmla="*/ 0 w 3621324"/>
              <a:gd name="connsiteY0" fmla="*/ 441079 h 3171922"/>
              <a:gd name="connsiteX1" fmla="*/ 1668163 w 3621324"/>
              <a:gd name="connsiteY1" fmla="*/ 82733 h 3171922"/>
              <a:gd name="connsiteX2" fmla="*/ 3620530 w 3621324"/>
              <a:gd name="connsiteY2" fmla="*/ 1825036 h 3171922"/>
              <a:gd name="connsiteX3" fmla="*/ 1927654 w 3621324"/>
              <a:gd name="connsiteY3" fmla="*/ 3171922 h 317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21324" h="3171922">
                <a:moveTo>
                  <a:pt x="0" y="441079"/>
                </a:moveTo>
                <a:cubicBezTo>
                  <a:pt x="532370" y="146576"/>
                  <a:pt x="1064741" y="-147926"/>
                  <a:pt x="1668163" y="82733"/>
                </a:cubicBezTo>
                <a:cubicBezTo>
                  <a:pt x="2271585" y="313392"/>
                  <a:pt x="3577282" y="1310171"/>
                  <a:pt x="3620530" y="1825036"/>
                </a:cubicBezTo>
                <a:cubicBezTo>
                  <a:pt x="3663779" y="2339901"/>
                  <a:pt x="1927654" y="3171922"/>
                  <a:pt x="1927654" y="3171922"/>
                </a:cubicBezTo>
              </a:path>
            </a:pathLst>
          </a:custGeom>
          <a:noFill/>
          <a:ln w="47625">
            <a:solidFill>
              <a:srgbClr val="FF0000"/>
            </a:solidFill>
            <a:prstDash val="sysDash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1037962" y="2755555"/>
            <a:ext cx="605481" cy="60548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936" y="5715614"/>
            <a:ext cx="26587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This is a path from s to t of cost 10.  It is the shortest path from s to t.</a:t>
            </a:r>
          </a:p>
        </p:txBody>
      </p:sp>
    </p:spTree>
    <p:extLst>
      <p:ext uri="{BB962C8B-B14F-4D97-AF65-F5344CB8AC3E}">
        <p14:creationId xmlns:p14="http://schemas.microsoft.com/office/powerpoint/2010/main" val="664875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build="p"/>
      <p:bldP spid="56" grpId="0" animBg="1"/>
      <p:bldP spid="57" grpId="0"/>
      <p:bldP spid="58" grpId="0" animBg="1"/>
      <p:bldP spid="5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drawback to Dijkstra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351338"/>
          </a:xfrm>
        </p:spPr>
        <p:txBody>
          <a:bodyPr/>
          <a:lstStyle/>
          <a:p>
            <a:r>
              <a:rPr lang="en-US" dirty="0"/>
              <a:t>Doesn’t work with negative edge weights</a:t>
            </a:r>
          </a:p>
        </p:txBody>
      </p:sp>
      <p:sp>
        <p:nvSpPr>
          <p:cNvPr id="4" name="Oval 3"/>
          <p:cNvSpPr/>
          <p:nvPr/>
        </p:nvSpPr>
        <p:spPr>
          <a:xfrm>
            <a:off x="3404802" y="2919292"/>
            <a:ext cx="605481" cy="60548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u</a:t>
            </a:r>
          </a:p>
        </p:txBody>
      </p:sp>
      <p:sp>
        <p:nvSpPr>
          <p:cNvPr id="5" name="Oval 4"/>
          <p:cNvSpPr/>
          <p:nvPr/>
        </p:nvSpPr>
        <p:spPr>
          <a:xfrm>
            <a:off x="5027655" y="4331847"/>
            <a:ext cx="605481" cy="60548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</a:t>
            </a:r>
          </a:p>
        </p:txBody>
      </p:sp>
      <p:sp>
        <p:nvSpPr>
          <p:cNvPr id="6" name="Oval 5"/>
          <p:cNvSpPr/>
          <p:nvPr/>
        </p:nvSpPr>
        <p:spPr>
          <a:xfrm>
            <a:off x="628651" y="4937328"/>
            <a:ext cx="605481" cy="60548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Oval 6"/>
          <p:cNvSpPr/>
          <p:nvPr/>
        </p:nvSpPr>
        <p:spPr>
          <a:xfrm>
            <a:off x="2799321" y="4331847"/>
            <a:ext cx="605481" cy="60548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Oval 7"/>
          <p:cNvSpPr/>
          <p:nvPr/>
        </p:nvSpPr>
        <p:spPr>
          <a:xfrm>
            <a:off x="3235926" y="6002831"/>
            <a:ext cx="605481" cy="60548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</a:t>
            </a:r>
          </a:p>
        </p:txBody>
      </p:sp>
      <p:cxnSp>
        <p:nvCxnSpPr>
          <p:cNvPr id="9" name="Straight Arrow Connector 8"/>
          <p:cNvCxnSpPr>
            <a:stCxn id="6" idx="6"/>
            <a:endCxn id="7" idx="2"/>
          </p:cNvCxnSpPr>
          <p:nvPr/>
        </p:nvCxnSpPr>
        <p:spPr>
          <a:xfrm flipV="1">
            <a:off x="2008488" y="3222033"/>
            <a:ext cx="1396314" cy="240958"/>
          </a:xfrm>
          <a:prstGeom prst="straightConnector1">
            <a:avLst/>
          </a:prstGeom>
          <a:ln w="44450">
            <a:solidFill>
              <a:schemeClr val="accent4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5"/>
            <a:endCxn id="10" idx="1"/>
          </p:cNvCxnSpPr>
          <p:nvPr/>
        </p:nvCxnSpPr>
        <p:spPr>
          <a:xfrm>
            <a:off x="1919817" y="3677060"/>
            <a:ext cx="968175" cy="743458"/>
          </a:xfrm>
          <a:prstGeom prst="straightConnector1">
            <a:avLst/>
          </a:prstGeom>
          <a:ln w="44450">
            <a:solidFill>
              <a:schemeClr val="accent4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endCxn id="8" idx="3"/>
          </p:cNvCxnSpPr>
          <p:nvPr/>
        </p:nvCxnSpPr>
        <p:spPr>
          <a:xfrm>
            <a:off x="3404802" y="4634587"/>
            <a:ext cx="1711524" cy="214070"/>
          </a:xfrm>
          <a:prstGeom prst="straightConnector1">
            <a:avLst/>
          </a:prstGeom>
          <a:ln w="44450">
            <a:solidFill>
              <a:schemeClr val="accent4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7" idx="4"/>
            <a:endCxn id="8" idx="2"/>
          </p:cNvCxnSpPr>
          <p:nvPr/>
        </p:nvCxnSpPr>
        <p:spPr>
          <a:xfrm>
            <a:off x="3707543" y="3524773"/>
            <a:ext cx="1320112" cy="1109815"/>
          </a:xfrm>
          <a:prstGeom prst="straightConnector1">
            <a:avLst/>
          </a:prstGeom>
          <a:ln w="44450">
            <a:solidFill>
              <a:schemeClr val="accent4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8" idx="0"/>
            <a:endCxn id="7" idx="6"/>
          </p:cNvCxnSpPr>
          <p:nvPr/>
        </p:nvCxnSpPr>
        <p:spPr>
          <a:xfrm flipH="1" flipV="1">
            <a:off x="4010283" y="3222033"/>
            <a:ext cx="1320113" cy="1109814"/>
          </a:xfrm>
          <a:prstGeom prst="straightConnector1">
            <a:avLst/>
          </a:prstGeom>
          <a:ln w="44450">
            <a:solidFill>
              <a:schemeClr val="accent4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8" idx="4"/>
            <a:endCxn id="11" idx="7"/>
          </p:cNvCxnSpPr>
          <p:nvPr/>
        </p:nvCxnSpPr>
        <p:spPr>
          <a:xfrm flipH="1">
            <a:off x="3752736" y="4937328"/>
            <a:ext cx="1577660" cy="1154174"/>
          </a:xfrm>
          <a:prstGeom prst="straightConnector1">
            <a:avLst/>
          </a:prstGeom>
          <a:ln w="44450">
            <a:solidFill>
              <a:schemeClr val="accent4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0" idx="4"/>
            <a:endCxn id="11" idx="0"/>
          </p:cNvCxnSpPr>
          <p:nvPr/>
        </p:nvCxnSpPr>
        <p:spPr>
          <a:xfrm>
            <a:off x="3102062" y="4937328"/>
            <a:ext cx="436605" cy="1065503"/>
          </a:xfrm>
          <a:prstGeom prst="straightConnector1">
            <a:avLst/>
          </a:prstGeom>
          <a:ln w="44450">
            <a:solidFill>
              <a:schemeClr val="accent4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1" idx="2"/>
            <a:endCxn id="9" idx="5"/>
          </p:cNvCxnSpPr>
          <p:nvPr/>
        </p:nvCxnSpPr>
        <p:spPr>
          <a:xfrm flipH="1" flipV="1">
            <a:off x="1145461" y="5454138"/>
            <a:ext cx="2090465" cy="851434"/>
          </a:xfrm>
          <a:prstGeom prst="straightConnector1">
            <a:avLst/>
          </a:prstGeom>
          <a:ln w="44450">
            <a:solidFill>
              <a:schemeClr val="accent4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9" idx="7"/>
            <a:endCxn id="6" idx="3"/>
          </p:cNvCxnSpPr>
          <p:nvPr/>
        </p:nvCxnSpPr>
        <p:spPr>
          <a:xfrm flipV="1">
            <a:off x="1145461" y="3677060"/>
            <a:ext cx="346217" cy="1348939"/>
          </a:xfrm>
          <a:prstGeom prst="straightConnector1">
            <a:avLst/>
          </a:prstGeom>
          <a:ln w="44450">
            <a:solidFill>
              <a:schemeClr val="accent4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607991" y="3329404"/>
            <a:ext cx="498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116" y="3377059"/>
            <a:ext cx="498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32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2893" y="3804662"/>
            <a:ext cx="498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84764" y="5165444"/>
            <a:ext cx="498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-2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4327" y="4663991"/>
            <a:ext cx="498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37964" y="5976442"/>
            <a:ext cx="498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385" y="4144829"/>
            <a:ext cx="498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-1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14976" y="3720411"/>
            <a:ext cx="498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-1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42960" y="5154965"/>
            <a:ext cx="498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21</a:t>
            </a:r>
          </a:p>
        </p:txBody>
      </p:sp>
      <p:sp>
        <p:nvSpPr>
          <p:cNvPr id="30" name="Oval 29"/>
          <p:cNvSpPr/>
          <p:nvPr/>
        </p:nvSpPr>
        <p:spPr>
          <a:xfrm>
            <a:off x="1403007" y="3160250"/>
            <a:ext cx="605481" cy="60548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45371" y="4767139"/>
            <a:ext cx="271333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/>
                </a:solidFill>
              </a:rPr>
              <a:t>Why would we ever have negative weights?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>
                <a:solidFill>
                  <a:schemeClr val="accent4"/>
                </a:solidFill>
              </a:rPr>
              <a:t>Negative costs might mean benefits.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 err="1"/>
              <a:t>eg</a:t>
            </a:r>
            <a:r>
              <a:rPr lang="en-US" dirty="0"/>
              <a:t>, </a:t>
            </a:r>
            <a:r>
              <a:rPr lang="en-US" dirty="0">
                <a:solidFill>
                  <a:schemeClr val="accent1"/>
                </a:solidFill>
              </a:rPr>
              <a:t>it costs me -$2 </a:t>
            </a:r>
            <a:r>
              <a:rPr lang="en-US" dirty="0"/>
              <a:t>when I get $2.</a:t>
            </a:r>
          </a:p>
        </p:txBody>
      </p:sp>
    </p:spTree>
    <p:extLst>
      <p:ext uri="{BB962C8B-B14F-4D97-AF65-F5344CB8AC3E}">
        <p14:creationId xmlns:p14="http://schemas.microsoft.com/office/powerpoint/2010/main" val="1746546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Bellman-Ford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/>
                </a:solidFill>
              </a:rPr>
              <a:t>Slower </a:t>
            </a:r>
            <a:r>
              <a:rPr lang="en-US" dirty="0"/>
              <a:t>(but arguably simpler) than </a:t>
            </a:r>
            <a:r>
              <a:rPr lang="en-US" dirty="0">
                <a:solidFill>
                  <a:schemeClr val="accent4"/>
                </a:solidFill>
              </a:rPr>
              <a:t>Dijkstra’s algorithm.</a:t>
            </a:r>
          </a:p>
          <a:p>
            <a:r>
              <a:rPr lang="en-US" dirty="0"/>
              <a:t>Works with </a:t>
            </a:r>
            <a:r>
              <a:rPr lang="en-US" dirty="0">
                <a:solidFill>
                  <a:schemeClr val="accent1"/>
                </a:solidFill>
              </a:rPr>
              <a:t>negative edge weights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74664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 85"/>
          <p:cNvSpPr/>
          <p:nvPr/>
        </p:nvSpPr>
        <p:spPr>
          <a:xfrm>
            <a:off x="976184" y="3334899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/>
          <p:cNvSpPr/>
          <p:nvPr/>
        </p:nvSpPr>
        <p:spPr>
          <a:xfrm>
            <a:off x="1663528" y="3334898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/>
          <p:cNvSpPr/>
          <p:nvPr/>
        </p:nvSpPr>
        <p:spPr>
          <a:xfrm>
            <a:off x="2350872" y="3334898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3030493" y="3334898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Bellman-Ford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146" y="1731368"/>
            <a:ext cx="8799555" cy="4351338"/>
          </a:xfrm>
        </p:spPr>
        <p:txBody>
          <a:bodyPr/>
          <a:lstStyle/>
          <a:p>
            <a:r>
              <a:rPr lang="en-US" dirty="0"/>
              <a:t>We </a:t>
            </a:r>
            <a:r>
              <a:rPr lang="en-US" dirty="0">
                <a:solidFill>
                  <a:srgbClr val="7030A0"/>
                </a:solidFill>
              </a:rPr>
              <a:t>keep* </a:t>
            </a:r>
            <a:r>
              <a:rPr lang="en-US" dirty="0"/>
              <a:t>an array </a:t>
            </a:r>
            <a:r>
              <a:rPr lang="en-US" dirty="0">
                <a:solidFill>
                  <a:schemeClr val="accent4"/>
                </a:solidFill>
              </a:rPr>
              <a:t>d</a:t>
            </a:r>
            <a:r>
              <a:rPr lang="en-US" baseline="30000" dirty="0">
                <a:solidFill>
                  <a:schemeClr val="accent4"/>
                </a:solidFill>
              </a:rPr>
              <a:t>(k)</a:t>
            </a:r>
            <a:r>
              <a:rPr lang="en-US" dirty="0"/>
              <a:t> of length n </a:t>
            </a:r>
            <a:r>
              <a:rPr lang="en-US" dirty="0">
                <a:solidFill>
                  <a:schemeClr val="accent4"/>
                </a:solidFill>
              </a:rPr>
              <a:t>for each k = 0, 1, </a:t>
            </a:r>
            <a:r>
              <a:rPr lang="mr-IN" dirty="0">
                <a:solidFill>
                  <a:schemeClr val="accent4"/>
                </a:solidFill>
              </a:rPr>
              <a:t>…</a:t>
            </a:r>
            <a:r>
              <a:rPr lang="en-US" dirty="0">
                <a:solidFill>
                  <a:schemeClr val="accent4"/>
                </a:solidFill>
              </a:rPr>
              <a:t>, n-1</a:t>
            </a:r>
            <a:r>
              <a:rPr lang="en-US" dirty="0"/>
              <a:t>.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4979973" y="3694251"/>
            <a:ext cx="3819582" cy="2617648"/>
            <a:chOff x="4695768" y="3523242"/>
            <a:chExt cx="3819582" cy="2617648"/>
          </a:xfrm>
        </p:grpSpPr>
        <p:sp>
          <p:nvSpPr>
            <p:cNvPr id="5" name="Oval 4"/>
            <p:cNvSpPr/>
            <p:nvPr/>
          </p:nvSpPr>
          <p:spPr>
            <a:xfrm>
              <a:off x="4695768" y="5366971"/>
              <a:ext cx="605481" cy="6054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t</a:t>
              </a:r>
            </a:p>
          </p:txBody>
        </p:sp>
        <p:cxnSp>
          <p:nvCxnSpPr>
            <p:cNvPr id="6" name="Straight Arrow Connector 5"/>
            <p:cNvCxnSpPr>
              <a:stCxn id="11" idx="2"/>
              <a:endCxn id="6" idx="6"/>
            </p:cNvCxnSpPr>
            <p:nvPr/>
          </p:nvCxnSpPr>
          <p:spPr>
            <a:xfrm flipH="1" flipV="1">
              <a:off x="5301249" y="5669712"/>
              <a:ext cx="1702859" cy="168438"/>
            </a:xfrm>
            <a:prstGeom prst="straightConnector1">
              <a:avLst/>
            </a:prstGeom>
            <a:ln w="44450">
              <a:solidFill>
                <a:schemeClr val="accent4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5849124" y="5753931"/>
              <a:ext cx="498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</a:rPr>
                <a:t>-2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5884391" y="3523242"/>
              <a:ext cx="605481" cy="6054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7909869" y="4128723"/>
              <a:ext cx="605481" cy="6054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u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7004108" y="5535409"/>
              <a:ext cx="605481" cy="6054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v</a:t>
              </a:r>
            </a:p>
          </p:txBody>
        </p:sp>
        <p:cxnSp>
          <p:nvCxnSpPr>
            <p:cNvPr id="11" name="Straight Arrow Connector 10"/>
            <p:cNvCxnSpPr>
              <a:stCxn id="9" idx="4"/>
              <a:endCxn id="11" idx="1"/>
            </p:cNvCxnSpPr>
            <p:nvPr/>
          </p:nvCxnSpPr>
          <p:spPr>
            <a:xfrm>
              <a:off x="6187132" y="4128723"/>
              <a:ext cx="905647" cy="1495357"/>
            </a:xfrm>
            <a:prstGeom prst="straightConnector1">
              <a:avLst/>
            </a:prstGeom>
            <a:ln w="44450">
              <a:solidFill>
                <a:schemeClr val="accent4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9" idx="6"/>
              <a:endCxn id="10" idx="1"/>
            </p:cNvCxnSpPr>
            <p:nvPr/>
          </p:nvCxnSpPr>
          <p:spPr>
            <a:xfrm>
              <a:off x="6489872" y="3825983"/>
              <a:ext cx="1508668" cy="391411"/>
            </a:xfrm>
            <a:prstGeom prst="straightConnector1">
              <a:avLst/>
            </a:prstGeom>
            <a:ln w="44450">
              <a:solidFill>
                <a:schemeClr val="accent4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10" idx="4"/>
              <a:endCxn id="11" idx="7"/>
            </p:cNvCxnSpPr>
            <p:nvPr/>
          </p:nvCxnSpPr>
          <p:spPr>
            <a:xfrm flipH="1">
              <a:off x="7520918" y="4734204"/>
              <a:ext cx="691692" cy="889876"/>
            </a:xfrm>
            <a:prstGeom prst="straightConnector1">
              <a:avLst/>
            </a:prstGeom>
            <a:ln w="44450">
              <a:solidFill>
                <a:schemeClr val="accent4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10" idx="2"/>
              <a:endCxn id="9" idx="5"/>
            </p:cNvCxnSpPr>
            <p:nvPr/>
          </p:nvCxnSpPr>
          <p:spPr>
            <a:xfrm flipH="1" flipV="1">
              <a:off x="6401201" y="4040052"/>
              <a:ext cx="1508668" cy="391412"/>
            </a:xfrm>
            <a:prstGeom prst="straightConnector1">
              <a:avLst/>
            </a:prstGeom>
            <a:ln w="44450">
              <a:solidFill>
                <a:schemeClr val="accent4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6301960" y="4788014"/>
              <a:ext cx="498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solidFill>
                    <a:schemeClr val="accent5"/>
                  </a:solidFill>
                </a:rPr>
                <a:t>5</a:t>
              </a:r>
              <a:endParaRPr lang="en-US" dirty="0">
                <a:solidFill>
                  <a:schemeClr val="accent5"/>
                </a:solidFill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232421" y="3652356"/>
              <a:ext cx="498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solidFill>
                    <a:schemeClr val="accent5"/>
                  </a:solidFill>
                </a:rPr>
                <a:t>2</a:t>
              </a:r>
              <a:endParaRPr lang="en-US" dirty="0">
                <a:solidFill>
                  <a:schemeClr val="accent5"/>
                </a:solidFill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919051" y="5086251"/>
              <a:ext cx="498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solidFill>
                    <a:schemeClr val="accent5"/>
                  </a:solidFill>
                </a:rPr>
                <a:t>2</a:t>
              </a:r>
              <a:endParaRPr lang="en-US" dirty="0">
                <a:solidFill>
                  <a:schemeClr val="accent5"/>
                </a:solidFill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111143" y="4300057"/>
              <a:ext cx="498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</a:rPr>
                <a:t>1</a:t>
              </a:r>
            </a:p>
          </p:txBody>
        </p:sp>
      </p:grpSp>
      <p:sp>
        <p:nvSpPr>
          <p:cNvPr id="55" name="TextBox 54"/>
          <p:cNvSpPr txBox="1"/>
          <p:nvPr/>
        </p:nvSpPr>
        <p:spPr>
          <a:xfrm>
            <a:off x="2496065" y="62385"/>
            <a:ext cx="6555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7030A0"/>
                </a:solidFill>
              </a:rPr>
              <a:t>*We won’t actually store all these, but let’s pretend we do for now.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60789" y="2533820"/>
            <a:ext cx="43387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/>
                </a:solidFill>
              </a:rPr>
              <a:t>d</a:t>
            </a:r>
            <a:r>
              <a:rPr lang="en-US" sz="2000" baseline="30000" dirty="0">
                <a:solidFill>
                  <a:schemeClr val="accent5"/>
                </a:solidFill>
              </a:rPr>
              <a:t>(k)</a:t>
            </a:r>
            <a:r>
              <a:rPr lang="en-US" sz="2000" dirty="0">
                <a:solidFill>
                  <a:schemeClr val="accent5"/>
                </a:solidFill>
              </a:rPr>
              <a:t>[a] is the cost of the shortest path from s to a with at most k edges in it.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00923" y="3581610"/>
            <a:ext cx="397904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/>
              <p:cNvSpPr/>
              <p:nvPr/>
            </p:nvSpPr>
            <p:spPr>
              <a:xfrm>
                <a:off x="8404023" y="4056929"/>
                <a:ext cx="484203" cy="40777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∞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59" name="Rectangle 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4023" y="4056929"/>
                <a:ext cx="484203" cy="407774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 w="3810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/>
              <p:cNvSpPr/>
              <p:nvPr/>
            </p:nvSpPr>
            <p:spPr>
              <a:xfrm>
                <a:off x="7724402" y="6058586"/>
                <a:ext cx="529203" cy="40777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Rectangle 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4402" y="6058586"/>
                <a:ext cx="529203" cy="40777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3810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60"/>
              <p:cNvSpPr/>
              <p:nvPr/>
            </p:nvSpPr>
            <p:spPr>
              <a:xfrm>
                <a:off x="4753510" y="6048771"/>
                <a:ext cx="529203" cy="40777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1" name="Rectangle 6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3510" y="6048771"/>
                <a:ext cx="529203" cy="40777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3810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Rectangle 61"/>
          <p:cNvSpPr/>
          <p:nvPr/>
        </p:nvSpPr>
        <p:spPr>
          <a:xfrm>
            <a:off x="976184" y="3336328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/>
              <p:cNvSpPr/>
              <p:nvPr/>
            </p:nvSpPr>
            <p:spPr>
              <a:xfrm>
                <a:off x="1663528" y="3336327"/>
                <a:ext cx="679621" cy="40777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∞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63" name="Rectangle 6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3528" y="3336327"/>
                <a:ext cx="679621" cy="407774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3810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/>
              <p:cNvSpPr/>
              <p:nvPr/>
            </p:nvSpPr>
            <p:spPr>
              <a:xfrm>
                <a:off x="2350872" y="3336327"/>
                <a:ext cx="679621" cy="40777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4" name="Rectangle 6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0872" y="3336327"/>
                <a:ext cx="679621" cy="407774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3810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/>
              <p:cNvSpPr/>
              <p:nvPr/>
            </p:nvSpPr>
            <p:spPr>
              <a:xfrm>
                <a:off x="3030493" y="3336327"/>
                <a:ext cx="679621" cy="40777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5" name="Rectangle 6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0493" y="3336327"/>
                <a:ext cx="679621" cy="407774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3810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TextBox 65"/>
          <p:cNvSpPr txBox="1"/>
          <p:nvPr/>
        </p:nvSpPr>
        <p:spPr>
          <a:xfrm>
            <a:off x="1215785" y="2966995"/>
            <a:ext cx="2270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          u           v           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3146" y="3309381"/>
            <a:ext cx="5757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d</a:t>
            </a:r>
            <a:r>
              <a:rPr lang="en-US" sz="2400" baseline="30000" dirty="0"/>
              <a:t>(0)</a:t>
            </a:r>
            <a:endParaRPr lang="en-US" sz="2400" dirty="0"/>
          </a:p>
        </p:txBody>
      </p:sp>
      <p:sp>
        <p:nvSpPr>
          <p:cNvPr id="68" name="Rectangle 67"/>
          <p:cNvSpPr/>
          <p:nvPr/>
        </p:nvSpPr>
        <p:spPr>
          <a:xfrm>
            <a:off x="965180" y="4269600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1652524" y="4269599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2339868" y="4269599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3019489" y="4269599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/>
          <p:cNvSpPr txBox="1"/>
          <p:nvPr/>
        </p:nvSpPr>
        <p:spPr>
          <a:xfrm>
            <a:off x="1204781" y="3900267"/>
            <a:ext cx="2270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          u           v           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12142" y="4242653"/>
            <a:ext cx="5757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d</a:t>
            </a:r>
            <a:r>
              <a:rPr lang="en-US" sz="2400" baseline="30000" dirty="0"/>
              <a:t>(1)</a:t>
            </a:r>
            <a:endParaRPr lang="en-US" sz="2400" dirty="0"/>
          </a:p>
        </p:txBody>
      </p:sp>
      <p:sp>
        <p:nvSpPr>
          <p:cNvPr id="74" name="Rectangle 73"/>
          <p:cNvSpPr/>
          <p:nvPr/>
        </p:nvSpPr>
        <p:spPr>
          <a:xfrm>
            <a:off x="965180" y="5190887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/>
          <p:cNvSpPr/>
          <p:nvPr/>
        </p:nvSpPr>
        <p:spPr>
          <a:xfrm>
            <a:off x="1652524" y="5190886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>
            <a:off x="2339868" y="5190886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3019489" y="5190886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Box 77"/>
          <p:cNvSpPr txBox="1"/>
          <p:nvPr/>
        </p:nvSpPr>
        <p:spPr>
          <a:xfrm>
            <a:off x="1204781" y="4821554"/>
            <a:ext cx="2270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          u           v           t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12142" y="5163940"/>
            <a:ext cx="5757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d</a:t>
            </a:r>
            <a:r>
              <a:rPr lang="en-US" sz="2400" baseline="30000" dirty="0"/>
              <a:t>(2)</a:t>
            </a:r>
            <a:endParaRPr lang="en-US" sz="2400" dirty="0"/>
          </a:p>
        </p:txBody>
      </p:sp>
      <p:sp>
        <p:nvSpPr>
          <p:cNvPr id="80" name="Rectangle 79"/>
          <p:cNvSpPr/>
          <p:nvPr/>
        </p:nvSpPr>
        <p:spPr>
          <a:xfrm>
            <a:off x="944857" y="6085228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/>
          <p:cNvSpPr/>
          <p:nvPr/>
        </p:nvSpPr>
        <p:spPr>
          <a:xfrm>
            <a:off x="1632201" y="6085227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/>
          <p:cNvSpPr/>
          <p:nvPr/>
        </p:nvSpPr>
        <p:spPr>
          <a:xfrm>
            <a:off x="2319545" y="6085227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/>
          <p:cNvSpPr/>
          <p:nvPr/>
        </p:nvSpPr>
        <p:spPr>
          <a:xfrm>
            <a:off x="2999166" y="6085227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TextBox 83"/>
          <p:cNvSpPr txBox="1"/>
          <p:nvPr/>
        </p:nvSpPr>
        <p:spPr>
          <a:xfrm>
            <a:off x="1184458" y="5715895"/>
            <a:ext cx="2270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          u           v           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91819" y="6058281"/>
            <a:ext cx="5757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d</a:t>
            </a:r>
            <a:r>
              <a:rPr lang="en-US" sz="2400" baseline="30000" dirty="0"/>
              <a:t>(3)</a:t>
            </a:r>
            <a:endParaRPr lang="en-US" sz="2400" dirty="0"/>
          </a:p>
        </p:txBody>
      </p:sp>
      <p:sp>
        <p:nvSpPr>
          <p:cNvPr id="90" name="TextBox 89"/>
          <p:cNvSpPr txBox="1"/>
          <p:nvPr/>
        </p:nvSpPr>
        <p:spPr>
          <a:xfrm>
            <a:off x="1664359" y="2314728"/>
            <a:ext cx="27964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Formally, we will maintain the loop invariant:</a:t>
            </a:r>
          </a:p>
        </p:txBody>
      </p:sp>
    </p:spTree>
    <p:extLst>
      <p:ext uri="{BB962C8B-B14F-4D97-AF65-F5344CB8AC3E}">
        <p14:creationId xmlns:p14="http://schemas.microsoft.com/office/powerpoint/2010/main" val="1122764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 animBg="1"/>
      <p:bldP spid="86" grpId="1" animBg="1"/>
      <p:bldP spid="87" grpId="0" animBg="1"/>
      <p:bldP spid="87" grpId="1" animBg="1"/>
      <p:bldP spid="88" grpId="0" animBg="1"/>
      <p:bldP spid="88" grpId="1" animBg="1"/>
      <p:bldP spid="89" grpId="0" animBg="1"/>
      <p:bldP spid="89" grpId="1" animBg="1"/>
      <p:bldP spid="3" grpId="0" build="p"/>
      <p:bldP spid="55" grpId="0"/>
      <p:bldP spid="56" grpId="0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/>
      <p:bldP spid="67" grpId="0"/>
      <p:bldP spid="68" grpId="0" animBg="1"/>
      <p:bldP spid="69" grpId="0" animBg="1"/>
      <p:bldP spid="70" grpId="0" animBg="1"/>
      <p:bldP spid="71" grpId="0" animBg="1"/>
      <p:bldP spid="72" grpId="0"/>
      <p:bldP spid="73" grpId="0"/>
      <p:bldP spid="74" grpId="0" animBg="1"/>
      <p:bldP spid="75" grpId="0" animBg="1"/>
      <p:bldP spid="76" grpId="0" animBg="1"/>
      <p:bldP spid="77" grpId="0" animBg="1"/>
      <p:bldP spid="78" grpId="0"/>
      <p:bldP spid="79" grpId="0"/>
      <p:bldP spid="80" grpId="0" animBg="1"/>
      <p:bldP spid="81" grpId="0" animBg="1"/>
      <p:bldP spid="82" grpId="0" animBg="1"/>
      <p:bldP spid="83" grpId="0" animBg="1"/>
      <p:bldP spid="84" grpId="0"/>
      <p:bldP spid="85" grpId="0"/>
      <p:bldP spid="9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update!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/>
                </a:solidFill>
              </a:rPr>
              <a:t>We will use the table d</a:t>
            </a:r>
            <a:r>
              <a:rPr lang="en-US" baseline="30000" dirty="0">
                <a:solidFill>
                  <a:schemeClr val="accent5"/>
                </a:solidFill>
              </a:rPr>
              <a:t>(0)</a:t>
            </a:r>
            <a:r>
              <a:rPr lang="en-US" dirty="0">
                <a:solidFill>
                  <a:schemeClr val="accent5"/>
                </a:solidFill>
              </a:rPr>
              <a:t> to fill in d</a:t>
            </a:r>
            <a:r>
              <a:rPr lang="en-US" baseline="30000" dirty="0">
                <a:solidFill>
                  <a:schemeClr val="accent5"/>
                </a:solidFill>
              </a:rPr>
              <a:t>(1)</a:t>
            </a:r>
            <a:endParaRPr lang="en-US" dirty="0">
              <a:solidFill>
                <a:schemeClr val="accent5"/>
              </a:solidFill>
            </a:endParaRPr>
          </a:p>
          <a:p>
            <a:r>
              <a:rPr lang="en-US" dirty="0">
                <a:solidFill>
                  <a:schemeClr val="accent6"/>
                </a:solidFill>
              </a:rPr>
              <a:t>Then use d</a:t>
            </a:r>
            <a:r>
              <a:rPr lang="en-US" baseline="30000" dirty="0">
                <a:solidFill>
                  <a:schemeClr val="accent6"/>
                </a:solidFill>
              </a:rPr>
              <a:t>(1)</a:t>
            </a:r>
            <a:r>
              <a:rPr lang="en-US" dirty="0">
                <a:solidFill>
                  <a:schemeClr val="accent6"/>
                </a:solidFill>
              </a:rPr>
              <a:t> to fill in d</a:t>
            </a:r>
            <a:r>
              <a:rPr lang="en-US" baseline="30000" dirty="0">
                <a:solidFill>
                  <a:schemeClr val="accent6"/>
                </a:solidFill>
              </a:rPr>
              <a:t>(2)</a:t>
            </a:r>
            <a:endParaRPr lang="en-US" dirty="0">
              <a:solidFill>
                <a:schemeClr val="accent6"/>
              </a:solidFill>
            </a:endParaRPr>
          </a:p>
          <a:p>
            <a:r>
              <a:rPr lang="mr-IN" dirty="0"/>
              <a:t>…</a:t>
            </a:r>
            <a:endParaRPr lang="en-US" dirty="0"/>
          </a:p>
          <a:p>
            <a:r>
              <a:rPr lang="en-US" dirty="0">
                <a:solidFill>
                  <a:schemeClr val="accent1"/>
                </a:solidFill>
              </a:rPr>
              <a:t>Then use d</a:t>
            </a:r>
            <a:r>
              <a:rPr lang="en-US" baseline="30000" dirty="0">
                <a:solidFill>
                  <a:schemeClr val="accent1"/>
                </a:solidFill>
              </a:rPr>
              <a:t>(k-1)</a:t>
            </a:r>
            <a:r>
              <a:rPr lang="en-US" dirty="0">
                <a:solidFill>
                  <a:schemeClr val="accent1"/>
                </a:solidFill>
              </a:rPr>
              <a:t> to fill in d</a:t>
            </a:r>
            <a:r>
              <a:rPr lang="en-US" baseline="30000" dirty="0">
                <a:solidFill>
                  <a:schemeClr val="accent1"/>
                </a:solidFill>
              </a:rPr>
              <a:t>(k)</a:t>
            </a:r>
          </a:p>
          <a:p>
            <a:r>
              <a:rPr lang="en-US" dirty="0"/>
              <a:t>...</a:t>
            </a:r>
          </a:p>
          <a:p>
            <a:r>
              <a:rPr lang="en-US" dirty="0">
                <a:solidFill>
                  <a:schemeClr val="accent4"/>
                </a:solidFill>
              </a:rPr>
              <a:t>Then use d</a:t>
            </a:r>
            <a:r>
              <a:rPr lang="en-US" baseline="30000" dirty="0">
                <a:solidFill>
                  <a:schemeClr val="accent4"/>
                </a:solidFill>
              </a:rPr>
              <a:t>(n-2)</a:t>
            </a:r>
            <a:r>
              <a:rPr lang="en-US" dirty="0">
                <a:solidFill>
                  <a:schemeClr val="accent4"/>
                </a:solidFill>
              </a:rPr>
              <a:t> to fill in d</a:t>
            </a:r>
            <a:r>
              <a:rPr lang="en-US" baseline="30000" dirty="0">
                <a:solidFill>
                  <a:schemeClr val="accent4"/>
                </a:solidFill>
              </a:rPr>
              <a:t>(n-1)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70702" y="5279551"/>
            <a:ext cx="86183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This eventually gives us what we want: </a:t>
            </a:r>
          </a:p>
          <a:p>
            <a:pPr marL="342900" indent="-342900">
              <a:buFont typeface="Arial" charset="0"/>
              <a:buChar char="•"/>
            </a:pPr>
            <a:r>
              <a:rPr lang="en-US" sz="2400" dirty="0">
                <a:solidFill>
                  <a:srgbClr val="7030A0"/>
                </a:solidFill>
              </a:rPr>
              <a:t>d</a:t>
            </a:r>
            <a:r>
              <a:rPr lang="en-US" sz="2400" baseline="30000" dirty="0">
                <a:solidFill>
                  <a:srgbClr val="7030A0"/>
                </a:solidFill>
              </a:rPr>
              <a:t>(k)</a:t>
            </a:r>
            <a:r>
              <a:rPr lang="en-US" sz="2400" dirty="0">
                <a:solidFill>
                  <a:srgbClr val="7030A0"/>
                </a:solidFill>
              </a:rPr>
              <a:t>[a] is the shortest path from s to a with at most k edges.</a:t>
            </a:r>
          </a:p>
          <a:p>
            <a:pPr marL="342900" indent="-342900">
              <a:buFont typeface="Arial" charset="0"/>
              <a:buChar char="•"/>
            </a:pPr>
            <a:r>
              <a:rPr lang="en-US" sz="2400" dirty="0">
                <a:solidFill>
                  <a:srgbClr val="7030A0"/>
                </a:solidFill>
              </a:rPr>
              <a:t>Eventually we’ll get all the shortest paths</a:t>
            </a:r>
            <a:r>
              <a:rPr lang="mr-IN" sz="2400" dirty="0">
                <a:solidFill>
                  <a:srgbClr val="7030A0"/>
                </a:solidFill>
              </a:rPr>
              <a:t>…</a:t>
            </a:r>
            <a:r>
              <a:rPr lang="en-US" sz="2400" dirty="0">
                <a:solidFill>
                  <a:srgbClr val="7030A0"/>
                </a:solidFill>
              </a:rPr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16843" y="670773"/>
            <a:ext cx="43387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/>
                </a:solidFill>
              </a:rPr>
              <a:t>d</a:t>
            </a:r>
            <a:r>
              <a:rPr lang="en-US" sz="2000" baseline="30000" dirty="0">
                <a:solidFill>
                  <a:schemeClr val="accent5"/>
                </a:solidFill>
              </a:rPr>
              <a:t>(k)</a:t>
            </a:r>
            <a:r>
              <a:rPr lang="en-US" sz="2000" dirty="0">
                <a:solidFill>
                  <a:schemeClr val="accent5"/>
                </a:solidFill>
              </a:rPr>
              <a:t>[a] is the cost of the shortest path from s to a with at most k edges in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8628" y="301441"/>
            <a:ext cx="2796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>
                <a:solidFill>
                  <a:schemeClr val="accent5">
                    <a:lumMod val="50000"/>
                  </a:schemeClr>
                </a:solidFill>
              </a:rPr>
              <a:t>While maintaining:</a:t>
            </a: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9226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956865"/>
          </a:xfrm>
        </p:spPr>
        <p:txBody>
          <a:bodyPr/>
          <a:lstStyle/>
          <a:p>
            <a:r>
              <a:rPr lang="en-US" dirty="0"/>
              <a:t>How do we get d</a:t>
            </a:r>
            <a:r>
              <a:rPr lang="en-US" baseline="30000" dirty="0"/>
              <a:t>(k)</a:t>
            </a:r>
            <a:r>
              <a:rPr lang="en-US" dirty="0"/>
              <a:t>[b] from d</a:t>
            </a:r>
            <a:r>
              <a:rPr lang="en-US" baseline="30000" dirty="0"/>
              <a:t>(k-1)</a:t>
            </a:r>
            <a:r>
              <a:rPr lang="en-US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586" y="1450763"/>
            <a:ext cx="7886700" cy="4351338"/>
          </a:xfrm>
        </p:spPr>
        <p:txBody>
          <a:bodyPr/>
          <a:lstStyle/>
          <a:p>
            <a:r>
              <a:rPr lang="en-US" dirty="0"/>
              <a:t>Two cases: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79820" y="1286191"/>
            <a:ext cx="43387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/>
                </a:solidFill>
              </a:rPr>
              <a:t>d</a:t>
            </a:r>
            <a:r>
              <a:rPr lang="en-US" sz="2000" baseline="30000" dirty="0">
                <a:solidFill>
                  <a:schemeClr val="accent5"/>
                </a:solidFill>
              </a:rPr>
              <a:t>(k)</a:t>
            </a:r>
            <a:r>
              <a:rPr lang="en-US" sz="2000" dirty="0">
                <a:solidFill>
                  <a:schemeClr val="accent5"/>
                </a:solidFill>
              </a:rPr>
              <a:t>[a] is the cost of the shortest path from s to a with at most k edges in it.</a:t>
            </a:r>
          </a:p>
        </p:txBody>
      </p:sp>
      <p:sp>
        <p:nvSpPr>
          <p:cNvPr id="5" name="Oval 4"/>
          <p:cNvSpPr/>
          <p:nvPr/>
        </p:nvSpPr>
        <p:spPr>
          <a:xfrm>
            <a:off x="1512272" y="2952848"/>
            <a:ext cx="605481" cy="60548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6" name="Oval 5"/>
          <p:cNvSpPr/>
          <p:nvPr/>
        </p:nvSpPr>
        <p:spPr>
          <a:xfrm>
            <a:off x="3363211" y="3312394"/>
            <a:ext cx="605481" cy="60548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u</a:t>
            </a:r>
          </a:p>
        </p:txBody>
      </p:sp>
      <p:sp>
        <p:nvSpPr>
          <p:cNvPr id="7" name="Oval 6"/>
          <p:cNvSpPr/>
          <p:nvPr/>
        </p:nvSpPr>
        <p:spPr>
          <a:xfrm>
            <a:off x="6410638" y="2921650"/>
            <a:ext cx="605481" cy="60548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8" name="Straight Arrow Connector 7"/>
          <p:cNvCxnSpPr>
            <a:stCxn id="5" idx="6"/>
          </p:cNvCxnSpPr>
          <p:nvPr/>
        </p:nvCxnSpPr>
        <p:spPr>
          <a:xfrm>
            <a:off x="2117753" y="3255589"/>
            <a:ext cx="1245458" cy="297969"/>
          </a:xfrm>
          <a:prstGeom prst="straightConnector1">
            <a:avLst/>
          </a:prstGeom>
          <a:ln w="44450">
            <a:solidFill>
              <a:schemeClr val="accent4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942403" y="4965248"/>
            <a:ext cx="605481" cy="60548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x</a:t>
            </a:r>
          </a:p>
        </p:txBody>
      </p:sp>
      <p:cxnSp>
        <p:nvCxnSpPr>
          <p:cNvPr id="16" name="Straight Arrow Connector 15"/>
          <p:cNvCxnSpPr>
            <a:stCxn id="6" idx="6"/>
            <a:endCxn id="7" idx="2"/>
          </p:cNvCxnSpPr>
          <p:nvPr/>
        </p:nvCxnSpPr>
        <p:spPr>
          <a:xfrm flipV="1">
            <a:off x="3968692" y="3224391"/>
            <a:ext cx="2441946" cy="390744"/>
          </a:xfrm>
          <a:prstGeom prst="straightConnector1">
            <a:avLst/>
          </a:prstGeom>
          <a:ln w="44450">
            <a:solidFill>
              <a:schemeClr val="accent4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5" idx="6"/>
            <a:endCxn id="27" idx="2"/>
          </p:cNvCxnSpPr>
          <p:nvPr/>
        </p:nvCxnSpPr>
        <p:spPr>
          <a:xfrm flipV="1">
            <a:off x="2547884" y="5194273"/>
            <a:ext cx="1245458" cy="73716"/>
          </a:xfrm>
          <a:prstGeom prst="straightConnector1">
            <a:avLst/>
          </a:prstGeom>
          <a:ln w="44450">
            <a:solidFill>
              <a:schemeClr val="accent4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847249" y="4861799"/>
            <a:ext cx="498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5"/>
                </a:solidFill>
              </a:rPr>
              <a:t>2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897093" y="3021685"/>
            <a:ext cx="498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0206" y="3342465"/>
            <a:ext cx="498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5"/>
                </a:solidFill>
              </a:rPr>
              <a:t>2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3793342" y="4891532"/>
            <a:ext cx="605481" cy="60548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9" name="Oval 28"/>
          <p:cNvSpPr/>
          <p:nvPr/>
        </p:nvSpPr>
        <p:spPr>
          <a:xfrm>
            <a:off x="677637" y="5713430"/>
            <a:ext cx="605481" cy="60548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30" name="Oval 29"/>
          <p:cNvSpPr/>
          <p:nvPr/>
        </p:nvSpPr>
        <p:spPr>
          <a:xfrm>
            <a:off x="2528576" y="6072976"/>
            <a:ext cx="605481" cy="60548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u</a:t>
            </a:r>
          </a:p>
        </p:txBody>
      </p:sp>
      <p:sp>
        <p:nvSpPr>
          <p:cNvPr id="31" name="Oval 30"/>
          <p:cNvSpPr/>
          <p:nvPr/>
        </p:nvSpPr>
        <p:spPr>
          <a:xfrm>
            <a:off x="5576003" y="5682232"/>
            <a:ext cx="605481" cy="60548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32" name="Straight Arrow Connector 31"/>
          <p:cNvCxnSpPr>
            <a:stCxn id="32" idx="6"/>
          </p:cNvCxnSpPr>
          <p:nvPr/>
        </p:nvCxnSpPr>
        <p:spPr>
          <a:xfrm>
            <a:off x="1283118" y="6016171"/>
            <a:ext cx="1245458" cy="297969"/>
          </a:xfrm>
          <a:prstGeom prst="straightConnector1">
            <a:avLst/>
          </a:prstGeom>
          <a:ln w="44450">
            <a:solidFill>
              <a:schemeClr val="accent4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33" idx="6"/>
            <a:endCxn id="34" idx="2"/>
          </p:cNvCxnSpPr>
          <p:nvPr/>
        </p:nvCxnSpPr>
        <p:spPr>
          <a:xfrm flipV="1">
            <a:off x="3134057" y="5984973"/>
            <a:ext cx="2441946" cy="390744"/>
          </a:xfrm>
          <a:prstGeom prst="straightConnector1">
            <a:avLst/>
          </a:prstGeom>
          <a:ln w="44450">
            <a:solidFill>
              <a:schemeClr val="accent4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062458" y="5782267"/>
            <a:ext cx="498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95571" y="6103047"/>
            <a:ext cx="498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5"/>
                </a:solidFill>
              </a:rPr>
              <a:t>2</a:t>
            </a:r>
            <a:endParaRPr lang="en-US" dirty="0">
              <a:solidFill>
                <a:schemeClr val="accent5"/>
              </a:solidFill>
            </a:endParaRPr>
          </a:p>
        </p:txBody>
      </p:sp>
      <p:cxnSp>
        <p:nvCxnSpPr>
          <p:cNvPr id="37" name="Straight Arrow Connector 36"/>
          <p:cNvCxnSpPr>
            <a:stCxn id="29" idx="7"/>
            <a:endCxn id="15" idx="3"/>
          </p:cNvCxnSpPr>
          <p:nvPr/>
        </p:nvCxnSpPr>
        <p:spPr>
          <a:xfrm flipV="1">
            <a:off x="1194447" y="5482058"/>
            <a:ext cx="836627" cy="320043"/>
          </a:xfrm>
          <a:prstGeom prst="straightConnector1">
            <a:avLst/>
          </a:prstGeom>
          <a:ln w="44450">
            <a:solidFill>
              <a:schemeClr val="accent4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319202" y="5298819"/>
            <a:ext cx="498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5"/>
                </a:solidFill>
              </a:rPr>
              <a:t>2</a:t>
            </a:r>
            <a:endParaRPr lang="en-US" dirty="0">
              <a:solidFill>
                <a:schemeClr val="accent5"/>
              </a:solidFill>
            </a:endParaRPr>
          </a:p>
        </p:txBody>
      </p:sp>
      <p:cxnSp>
        <p:nvCxnSpPr>
          <p:cNvPr id="41" name="Straight Arrow Connector 40"/>
          <p:cNvCxnSpPr>
            <a:stCxn id="27" idx="6"/>
            <a:endCxn id="31" idx="1"/>
          </p:cNvCxnSpPr>
          <p:nvPr/>
        </p:nvCxnSpPr>
        <p:spPr>
          <a:xfrm>
            <a:off x="4398823" y="5194273"/>
            <a:ext cx="1265851" cy="576630"/>
          </a:xfrm>
          <a:prstGeom prst="straightConnector1">
            <a:avLst/>
          </a:prstGeom>
          <a:ln w="44450">
            <a:solidFill>
              <a:schemeClr val="accent4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790276" y="5046465"/>
            <a:ext cx="498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5"/>
                </a:solidFill>
              </a:rPr>
              <a:t>2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66208" y="2050882"/>
            <a:ext cx="4678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Case 1</a:t>
            </a:r>
            <a:r>
              <a:rPr lang="en-US" dirty="0"/>
              <a:t>: the shortest path from s to b with at most k edges actually has at most k-1 edges.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6891" y="4142312"/>
            <a:ext cx="4678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Case 2</a:t>
            </a:r>
            <a:r>
              <a:rPr lang="en-US" dirty="0"/>
              <a:t>: the shortest path from s to b with at most k edges really has k edges.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30091" y="2419942"/>
            <a:ext cx="21664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</a:rPr>
              <a:t>d</a:t>
            </a:r>
            <a:r>
              <a:rPr lang="en-US" sz="2400" baseline="30000" dirty="0">
                <a:solidFill>
                  <a:srgbClr val="7030A0"/>
                </a:solidFill>
              </a:rPr>
              <a:t>(k)</a:t>
            </a:r>
            <a:r>
              <a:rPr lang="en-US" sz="2400" dirty="0">
                <a:solidFill>
                  <a:srgbClr val="7030A0"/>
                </a:solidFill>
              </a:rPr>
              <a:t>[b] = d</a:t>
            </a:r>
            <a:r>
              <a:rPr lang="en-US" sz="2400" baseline="30000" dirty="0">
                <a:solidFill>
                  <a:srgbClr val="7030A0"/>
                </a:solidFill>
              </a:rPr>
              <a:t>(k-1)</a:t>
            </a:r>
            <a:r>
              <a:rPr lang="en-US" sz="2400" dirty="0">
                <a:solidFill>
                  <a:srgbClr val="7030A0"/>
                </a:solidFill>
              </a:rPr>
              <a:t>[b] 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14909" y="4643054"/>
            <a:ext cx="472109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4"/>
                </a:solidFill>
              </a:rPr>
              <a:t>d</a:t>
            </a:r>
            <a:r>
              <a:rPr lang="en-US" sz="2000" baseline="30000" dirty="0">
                <a:solidFill>
                  <a:schemeClr val="accent4"/>
                </a:solidFill>
              </a:rPr>
              <a:t>(k)</a:t>
            </a:r>
            <a:r>
              <a:rPr lang="en-US" sz="2000" dirty="0">
                <a:solidFill>
                  <a:schemeClr val="accent4"/>
                </a:solidFill>
              </a:rPr>
              <a:t>[b] = d</a:t>
            </a:r>
            <a:r>
              <a:rPr lang="en-US" sz="2000" baseline="30000" dirty="0">
                <a:solidFill>
                  <a:schemeClr val="accent4"/>
                </a:solidFill>
              </a:rPr>
              <a:t>(k-1)</a:t>
            </a:r>
            <a:r>
              <a:rPr lang="en-US" sz="2000" dirty="0">
                <a:solidFill>
                  <a:schemeClr val="accent4"/>
                </a:solidFill>
              </a:rPr>
              <a:t>[a] + w(</a:t>
            </a:r>
            <a:r>
              <a:rPr lang="en-US" sz="2000" dirty="0" err="1">
                <a:solidFill>
                  <a:schemeClr val="accent4"/>
                </a:solidFill>
              </a:rPr>
              <a:t>a,b</a:t>
            </a:r>
            <a:r>
              <a:rPr lang="en-US" sz="2000" dirty="0">
                <a:solidFill>
                  <a:schemeClr val="accent4"/>
                </a:solidFill>
              </a:rPr>
              <a:t>) for some a...</a:t>
            </a:r>
          </a:p>
          <a:p>
            <a:pPr marL="342900" indent="-342900">
              <a:buFont typeface="Arial" charset="0"/>
              <a:buChar char="•"/>
            </a:pPr>
            <a:endParaRPr lang="en-US" sz="2000" dirty="0">
              <a:solidFill>
                <a:srgbClr val="7030A0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530380" y="3711797"/>
            <a:ext cx="1054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say k=3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39475" y="6452430"/>
            <a:ext cx="1054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say k=3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251946" y="1286191"/>
            <a:ext cx="2796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Want </a:t>
            </a:r>
            <a:r>
              <a:rPr lang="en-US">
                <a:solidFill>
                  <a:schemeClr val="accent5">
                    <a:lumMod val="50000"/>
                  </a:schemeClr>
                </a:solidFill>
              </a:rPr>
              <a:t>to maintain:</a:t>
            </a: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5243145" y="5061167"/>
            <a:ext cx="40034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</a:rPr>
              <a:t>d</a:t>
            </a:r>
            <a:r>
              <a:rPr lang="en-US" sz="2400" baseline="30000" dirty="0">
                <a:solidFill>
                  <a:srgbClr val="7030A0"/>
                </a:solidFill>
              </a:rPr>
              <a:t>(k)</a:t>
            </a:r>
            <a:r>
              <a:rPr lang="en-US" sz="2400" dirty="0">
                <a:solidFill>
                  <a:srgbClr val="7030A0"/>
                </a:solidFill>
              </a:rPr>
              <a:t>[b] = min</a:t>
            </a:r>
            <a:r>
              <a:rPr lang="en-US" sz="2400" baseline="-25000" dirty="0">
                <a:solidFill>
                  <a:srgbClr val="7030A0"/>
                </a:solidFill>
              </a:rPr>
              <a:t>a</a:t>
            </a:r>
            <a:r>
              <a:rPr lang="en-US" sz="2400" dirty="0">
                <a:solidFill>
                  <a:srgbClr val="7030A0"/>
                </a:solidFill>
              </a:rPr>
              <a:t> {d</a:t>
            </a:r>
            <a:r>
              <a:rPr lang="en-US" sz="2400" baseline="30000" dirty="0">
                <a:solidFill>
                  <a:srgbClr val="7030A0"/>
                </a:solidFill>
              </a:rPr>
              <a:t>(k-1)</a:t>
            </a:r>
            <a:r>
              <a:rPr lang="en-US" sz="2400" dirty="0">
                <a:solidFill>
                  <a:srgbClr val="7030A0"/>
                </a:solidFill>
              </a:rPr>
              <a:t>[a] + w(</a:t>
            </a:r>
            <a:r>
              <a:rPr lang="en-US" sz="2400" dirty="0" err="1">
                <a:solidFill>
                  <a:srgbClr val="7030A0"/>
                </a:solidFill>
              </a:rPr>
              <a:t>a,b</a:t>
            </a:r>
            <a:r>
              <a:rPr lang="en-US" sz="2400" dirty="0">
                <a:solidFill>
                  <a:srgbClr val="7030A0"/>
                </a:solidFill>
              </a:rPr>
              <a:t>)}</a:t>
            </a:r>
          </a:p>
        </p:txBody>
      </p:sp>
    </p:spTree>
    <p:extLst>
      <p:ext uri="{BB962C8B-B14F-4D97-AF65-F5344CB8AC3E}">
        <p14:creationId xmlns:p14="http://schemas.microsoft.com/office/powerpoint/2010/main" val="1331904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  <p:bldP spid="7" grpId="0" animBg="1"/>
      <p:bldP spid="15" grpId="0" animBg="1"/>
      <p:bldP spid="22" grpId="0"/>
      <p:bldP spid="23" grpId="0"/>
      <p:bldP spid="24" grpId="0"/>
      <p:bldP spid="27" grpId="0" animBg="1"/>
      <p:bldP spid="29" grpId="0" animBg="1"/>
      <p:bldP spid="30" grpId="0" animBg="1"/>
      <p:bldP spid="31" grpId="0" animBg="1"/>
      <p:bldP spid="34" grpId="0"/>
      <p:bldP spid="35" grpId="0"/>
      <p:bldP spid="40" grpId="0"/>
      <p:bldP spid="44" grpId="0"/>
      <p:bldP spid="45" grpId="0"/>
      <p:bldP spid="46" grpId="0"/>
      <p:bldP spid="47" grpId="0"/>
      <p:bldP spid="48" grpId="0"/>
      <p:bldP spid="50" grpId="0"/>
      <p:bldP spid="51" grpId="0"/>
      <p:bldP spid="5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964" y="-178625"/>
            <a:ext cx="7886700" cy="1325563"/>
          </a:xfrm>
        </p:spPr>
        <p:txBody>
          <a:bodyPr/>
          <a:lstStyle/>
          <a:p>
            <a:r>
              <a:rPr lang="en-US" dirty="0"/>
              <a:t>Bellman-Ford Algorithm*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92964" y="1407172"/>
                <a:ext cx="8121987" cy="3374893"/>
              </a:xfrm>
              <a:ln>
                <a:solidFill>
                  <a:schemeClr val="tx1"/>
                </a:solidFill>
              </a:ln>
            </p:spPr>
            <p:txBody>
              <a:bodyPr>
                <a:normAutofit/>
              </a:bodyPr>
              <a:lstStyle/>
              <a:p>
                <a:endParaRPr lang="en-US" sz="100" dirty="0">
                  <a:solidFill>
                    <a:schemeClr val="tx1"/>
                  </a:solidFill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Bellman-Ford*(G,s):</a:t>
                </a:r>
              </a:p>
              <a:p>
                <a:pPr lvl="1"/>
                <a:r>
                  <a:rPr lang="en-US" dirty="0">
                    <a:solidFill>
                      <a:schemeClr val="accent4"/>
                    </a:solidFill>
                  </a:rPr>
                  <a:t>Initialize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chemeClr val="accent4"/>
                    </a:solidFill>
                  </a:rPr>
                  <a:t>d</a:t>
                </a:r>
                <a:r>
                  <a:rPr lang="en-US" baseline="30000" dirty="0">
                    <a:solidFill>
                      <a:schemeClr val="accent4"/>
                    </a:solidFill>
                  </a:rPr>
                  <a:t>(k)</a:t>
                </a:r>
                <a:r>
                  <a:rPr lang="en-US" dirty="0">
                    <a:solidFill>
                      <a:schemeClr val="accent4"/>
                    </a:solidFill>
                  </a:rPr>
                  <a:t> for k = 0, </a:t>
                </a:r>
                <a:r>
                  <a:rPr lang="mr-IN" dirty="0">
                    <a:solidFill>
                      <a:schemeClr val="accent4"/>
                    </a:solidFill>
                  </a:rPr>
                  <a:t>…</a:t>
                </a:r>
                <a:r>
                  <a:rPr lang="en-US" dirty="0">
                    <a:solidFill>
                      <a:schemeClr val="accent4"/>
                    </a:solidFill>
                  </a:rPr>
                  <a:t>, n-1</a:t>
                </a:r>
                <a:endParaRPr lang="en-US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d</a:t>
                </a:r>
                <a:r>
                  <a:rPr lang="en-US" baseline="30000" dirty="0">
                    <a:solidFill>
                      <a:schemeClr val="accent1"/>
                    </a:solidFill>
                  </a:rPr>
                  <a:t>(0)</a:t>
                </a:r>
                <a:r>
                  <a:rPr lang="en-US" dirty="0">
                    <a:solidFill>
                      <a:schemeClr val="accent1"/>
                    </a:solidFill>
                  </a:rPr>
                  <a:t>[v] =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1"/>
                        </a:solidFill>
                        <a:latin typeface="Cambria Math" charset="0"/>
                      </a:rPr>
                      <m:t>∞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for all v other than s</a:t>
                </a: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d</a:t>
                </a:r>
                <a:r>
                  <a:rPr lang="en-US" baseline="30000" dirty="0">
                    <a:solidFill>
                      <a:schemeClr val="accent1"/>
                    </a:solidFill>
                  </a:rPr>
                  <a:t>(0)</a:t>
                </a:r>
                <a:r>
                  <a:rPr lang="en-US" dirty="0">
                    <a:solidFill>
                      <a:schemeClr val="accent1"/>
                    </a:solidFill>
                  </a:rPr>
                  <a:t>[s] = 0.</a:t>
                </a:r>
              </a:p>
              <a:p>
                <a:pPr lvl="1"/>
                <a:r>
                  <a:rPr lang="en-US" dirty="0"/>
                  <a:t>For k = 1, </a:t>
                </a:r>
                <a:r>
                  <a:rPr lang="mr-IN" dirty="0"/>
                  <a:t>…</a:t>
                </a:r>
                <a:r>
                  <a:rPr lang="en-US" dirty="0"/>
                  <a:t>, n-1:</a:t>
                </a:r>
              </a:p>
              <a:p>
                <a:pPr lvl="2"/>
                <a:r>
                  <a:rPr lang="en-US" dirty="0"/>
                  <a:t>For b in V:</a:t>
                </a:r>
              </a:p>
              <a:p>
                <a:pPr lvl="3"/>
                <a:r>
                  <a:rPr lang="en-US" sz="2200" dirty="0">
                    <a:solidFill>
                      <a:schemeClr val="accent4"/>
                    </a:solidFill>
                  </a:rPr>
                  <a:t>d</a:t>
                </a:r>
                <a:r>
                  <a:rPr lang="en-US" sz="2200" baseline="30000" dirty="0">
                    <a:solidFill>
                      <a:schemeClr val="accent4"/>
                    </a:solidFill>
                  </a:rPr>
                  <a:t>(k)</a:t>
                </a:r>
                <a:r>
                  <a:rPr lang="en-US" sz="2200" dirty="0">
                    <a:solidFill>
                      <a:schemeClr val="accent4"/>
                    </a:solidFill>
                  </a:rPr>
                  <a:t>[b] 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solidFill>
                          <a:schemeClr val="accent4"/>
                        </a:solidFill>
                        <a:latin typeface="Cambria Math" charset="0"/>
                      </a:rPr>
                      <m:t>←</m:t>
                    </m:r>
                  </m:oMath>
                </a14:m>
                <a:r>
                  <a:rPr lang="en-US" sz="2200" dirty="0">
                    <a:solidFill>
                      <a:schemeClr val="accent4"/>
                    </a:solidFill>
                  </a:rPr>
                  <a:t> min{ </a:t>
                </a:r>
                <a:r>
                  <a:rPr lang="en-US" sz="2200" dirty="0">
                    <a:solidFill>
                      <a:schemeClr val="accent1"/>
                    </a:solidFill>
                  </a:rPr>
                  <a:t>d</a:t>
                </a:r>
                <a:r>
                  <a:rPr lang="en-US" sz="2200" baseline="30000" dirty="0">
                    <a:solidFill>
                      <a:schemeClr val="accent1"/>
                    </a:solidFill>
                  </a:rPr>
                  <a:t>(k-1)</a:t>
                </a:r>
                <a:r>
                  <a:rPr lang="en-US" sz="2200" dirty="0">
                    <a:solidFill>
                      <a:schemeClr val="accent1"/>
                    </a:solidFill>
                  </a:rPr>
                  <a:t>[b],  </a:t>
                </a:r>
                <a:r>
                  <a:rPr lang="en-US" sz="2200" dirty="0">
                    <a:solidFill>
                      <a:schemeClr val="accent5"/>
                    </a:solidFill>
                  </a:rPr>
                  <a:t>min</a:t>
                </a:r>
                <a:r>
                  <a:rPr lang="en-US" sz="2200" baseline="-25000" dirty="0">
                    <a:solidFill>
                      <a:schemeClr val="accent5"/>
                    </a:solidFill>
                  </a:rPr>
                  <a:t>a</a:t>
                </a:r>
                <a:r>
                  <a:rPr lang="en-US" sz="2200" dirty="0">
                    <a:solidFill>
                      <a:schemeClr val="accent5"/>
                    </a:solidFill>
                  </a:rPr>
                  <a:t> {</a:t>
                </a:r>
                <a:r>
                  <a:rPr lang="en-US" sz="2200" dirty="0">
                    <a:solidFill>
                      <a:srgbClr val="7030A0"/>
                    </a:solidFill>
                  </a:rPr>
                  <a:t>d</a:t>
                </a:r>
                <a:r>
                  <a:rPr lang="en-US" sz="2200" baseline="30000" dirty="0">
                    <a:solidFill>
                      <a:srgbClr val="7030A0"/>
                    </a:solidFill>
                  </a:rPr>
                  <a:t>(k-1)</a:t>
                </a:r>
                <a:r>
                  <a:rPr lang="en-US" sz="2200" dirty="0">
                    <a:solidFill>
                      <a:srgbClr val="7030A0"/>
                    </a:solidFill>
                  </a:rPr>
                  <a:t>[a]  + weight(</a:t>
                </a:r>
                <a:r>
                  <a:rPr lang="en-US" sz="2200" dirty="0" err="1">
                    <a:solidFill>
                      <a:srgbClr val="7030A0"/>
                    </a:solidFill>
                  </a:rPr>
                  <a:t>a,b</a:t>
                </a:r>
                <a:r>
                  <a:rPr lang="en-US" sz="2200" dirty="0">
                    <a:solidFill>
                      <a:srgbClr val="7030A0"/>
                    </a:solidFill>
                  </a:rPr>
                  <a:t>)</a:t>
                </a:r>
                <a:r>
                  <a:rPr lang="en-US" sz="2200" dirty="0">
                    <a:solidFill>
                      <a:schemeClr val="accent5"/>
                    </a:solidFill>
                  </a:rPr>
                  <a:t>} </a:t>
                </a:r>
                <a:r>
                  <a:rPr lang="en-US" sz="2200" dirty="0">
                    <a:solidFill>
                      <a:schemeClr val="accent4"/>
                    </a:solidFill>
                  </a:rPr>
                  <a:t>}  </a:t>
                </a:r>
              </a:p>
              <a:p>
                <a:pPr lvl="1"/>
                <a:r>
                  <a:rPr lang="en-US" dirty="0"/>
                  <a:t>Return d</a:t>
                </a:r>
                <a:r>
                  <a:rPr lang="en-US" baseline="30000" dirty="0"/>
                  <a:t>(n-1)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2964" y="1407172"/>
                <a:ext cx="8121987" cy="3374893"/>
              </a:xfrm>
              <a:blipFill rotWithShape="0">
                <a:blip r:embed="rId2"/>
                <a:stretch>
                  <a:fillRect l="-1274" b="-126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 rot="1475523">
            <a:off x="6082571" y="4420667"/>
            <a:ext cx="124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</a:rPr>
              <a:t>Case 2</a:t>
            </a:r>
          </a:p>
        </p:txBody>
      </p:sp>
      <p:sp>
        <p:nvSpPr>
          <p:cNvPr id="6" name="TextBox 5"/>
          <p:cNvSpPr txBox="1"/>
          <p:nvPr/>
        </p:nvSpPr>
        <p:spPr>
          <a:xfrm rot="1475523">
            <a:off x="3729940" y="4391622"/>
            <a:ext cx="124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Case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1546" y="5016843"/>
            <a:ext cx="53134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If we set d</a:t>
            </a:r>
            <a:r>
              <a:rPr lang="en-US" baseline="30000" dirty="0">
                <a:solidFill>
                  <a:schemeClr val="accent4"/>
                </a:solidFill>
              </a:rPr>
              <a:t>(k)</a:t>
            </a:r>
            <a:r>
              <a:rPr lang="en-US" dirty="0">
                <a:solidFill>
                  <a:schemeClr val="accent4"/>
                </a:solidFill>
              </a:rPr>
              <a:t>[b] to be the minimum of the previous two cases, then we maintain the loop invariant that:</a:t>
            </a:r>
            <a:r>
              <a:rPr lang="en-US" dirty="0"/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0854" y="5663174"/>
            <a:ext cx="43387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/>
                </a:solidFill>
              </a:rPr>
              <a:t>d</a:t>
            </a:r>
            <a:r>
              <a:rPr lang="en-US" sz="2000" baseline="30000" dirty="0">
                <a:solidFill>
                  <a:schemeClr val="accent5"/>
                </a:solidFill>
              </a:rPr>
              <a:t>(k)</a:t>
            </a:r>
            <a:r>
              <a:rPr lang="en-US" sz="2000" dirty="0">
                <a:solidFill>
                  <a:schemeClr val="accent5"/>
                </a:solidFill>
              </a:rPr>
              <a:t>[a] is the cost of the shortest path from s to a with at most k edges in it.</a:t>
            </a:r>
          </a:p>
        </p:txBody>
      </p:sp>
    </p:spTree>
    <p:extLst>
      <p:ext uri="{BB962C8B-B14F-4D97-AF65-F5344CB8AC3E}">
        <p14:creationId xmlns:p14="http://schemas.microsoft.com/office/powerpoint/2010/main" val="20469561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964" y="-178625"/>
            <a:ext cx="7886700" cy="1325563"/>
          </a:xfrm>
        </p:spPr>
        <p:txBody>
          <a:bodyPr/>
          <a:lstStyle/>
          <a:p>
            <a:r>
              <a:rPr lang="en-US" dirty="0"/>
              <a:t>Bellman-Ford Algorithm*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91819" y="1318925"/>
                <a:ext cx="8799555" cy="4351338"/>
              </a:xfrm>
            </p:spPr>
            <p:txBody>
              <a:bodyPr/>
              <a:lstStyle/>
              <a:p>
                <a:r>
                  <a:rPr lang="en-US" dirty="0"/>
                  <a:t>For k = 1,</a:t>
                </a:r>
                <a:r>
                  <a:rPr lang="mr-IN" dirty="0"/>
                  <a:t>…</a:t>
                </a:r>
                <a:r>
                  <a:rPr lang="en-US" dirty="0"/>
                  <a:t>,n-1:</a:t>
                </a:r>
              </a:p>
              <a:p>
                <a:pPr lvl="1"/>
                <a:r>
                  <a:rPr lang="en-US" dirty="0"/>
                  <a:t>For b in V:</a:t>
                </a:r>
              </a:p>
              <a:p>
                <a:pPr lvl="2"/>
                <a:r>
                  <a:rPr lang="en-US" sz="2400" dirty="0">
                    <a:solidFill>
                      <a:schemeClr val="accent4"/>
                    </a:solidFill>
                  </a:rPr>
                  <a:t>d</a:t>
                </a:r>
                <a:r>
                  <a:rPr lang="en-US" sz="2400" baseline="30000" dirty="0">
                    <a:solidFill>
                      <a:schemeClr val="accent4"/>
                    </a:solidFill>
                  </a:rPr>
                  <a:t>(k)</a:t>
                </a:r>
                <a:r>
                  <a:rPr lang="en-US" sz="2400" dirty="0">
                    <a:solidFill>
                      <a:schemeClr val="accent4"/>
                    </a:solidFill>
                  </a:rPr>
                  <a:t>[b]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4"/>
                        </a:solidFill>
                        <a:latin typeface="Cambria Math" charset="0"/>
                      </a:rPr>
                      <m:t>←</m:t>
                    </m:r>
                  </m:oMath>
                </a14:m>
                <a:r>
                  <a:rPr lang="en-US" sz="2400" dirty="0">
                    <a:solidFill>
                      <a:schemeClr val="accent4"/>
                    </a:solidFill>
                  </a:rPr>
                  <a:t> min{ 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d</a:t>
                </a:r>
                <a:r>
                  <a:rPr lang="en-US" sz="2400" baseline="30000" dirty="0">
                    <a:solidFill>
                      <a:schemeClr val="accent1"/>
                    </a:solidFill>
                  </a:rPr>
                  <a:t>(k-1)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[b],  </a:t>
                </a:r>
                <a:r>
                  <a:rPr lang="en-US" sz="2400" dirty="0">
                    <a:solidFill>
                      <a:schemeClr val="accent5"/>
                    </a:solidFill>
                  </a:rPr>
                  <a:t>min</a:t>
                </a:r>
                <a:r>
                  <a:rPr lang="en-US" sz="2400" baseline="-25000" dirty="0">
                    <a:solidFill>
                      <a:schemeClr val="accent5"/>
                    </a:solidFill>
                  </a:rPr>
                  <a:t>a</a:t>
                </a:r>
                <a:r>
                  <a:rPr lang="en-US" sz="2400" dirty="0">
                    <a:solidFill>
                      <a:schemeClr val="accent5"/>
                    </a:solidFill>
                  </a:rPr>
                  <a:t> {</a:t>
                </a:r>
                <a:r>
                  <a:rPr lang="en-US" sz="2400" dirty="0">
                    <a:solidFill>
                      <a:srgbClr val="7030A0"/>
                    </a:solidFill>
                  </a:rPr>
                  <a:t>d</a:t>
                </a:r>
                <a:r>
                  <a:rPr lang="en-US" sz="2400" baseline="30000" dirty="0">
                    <a:solidFill>
                      <a:srgbClr val="7030A0"/>
                    </a:solidFill>
                  </a:rPr>
                  <a:t>(k-1)</a:t>
                </a:r>
                <a:r>
                  <a:rPr lang="en-US" sz="2400" dirty="0">
                    <a:solidFill>
                      <a:srgbClr val="7030A0"/>
                    </a:solidFill>
                  </a:rPr>
                  <a:t>[a]  + weight(</a:t>
                </a:r>
                <a:r>
                  <a:rPr lang="en-US" sz="2400" dirty="0" err="1">
                    <a:solidFill>
                      <a:srgbClr val="7030A0"/>
                    </a:solidFill>
                  </a:rPr>
                  <a:t>a,b</a:t>
                </a:r>
                <a:r>
                  <a:rPr lang="en-US" sz="2400" dirty="0">
                    <a:solidFill>
                      <a:srgbClr val="7030A0"/>
                    </a:solidFill>
                  </a:rPr>
                  <a:t>)</a:t>
                </a:r>
                <a:r>
                  <a:rPr lang="en-US" sz="2400" dirty="0">
                    <a:solidFill>
                      <a:schemeClr val="accent5"/>
                    </a:solidFill>
                  </a:rPr>
                  <a:t>} </a:t>
                </a:r>
                <a:r>
                  <a:rPr lang="en-US" sz="2400" dirty="0">
                    <a:solidFill>
                      <a:schemeClr val="accent4"/>
                    </a:solidFill>
                  </a:rPr>
                  <a:t>} 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1819" y="1318925"/>
                <a:ext cx="8799555" cy="4351338"/>
              </a:xfrm>
              <a:blipFill rotWithShape="0">
                <a:blip r:embed="rId2"/>
                <a:stretch>
                  <a:fillRect l="-124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4979973" y="3694251"/>
            <a:ext cx="3819582" cy="2617648"/>
            <a:chOff x="4695768" y="3523242"/>
            <a:chExt cx="3819582" cy="2617648"/>
          </a:xfrm>
        </p:grpSpPr>
        <p:sp>
          <p:nvSpPr>
            <p:cNvPr id="5" name="Oval 4"/>
            <p:cNvSpPr/>
            <p:nvPr/>
          </p:nvSpPr>
          <p:spPr>
            <a:xfrm>
              <a:off x="4695768" y="5366971"/>
              <a:ext cx="605481" cy="6054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t</a:t>
              </a:r>
            </a:p>
          </p:txBody>
        </p:sp>
        <p:cxnSp>
          <p:nvCxnSpPr>
            <p:cNvPr id="6" name="Straight Arrow Connector 5"/>
            <p:cNvCxnSpPr>
              <a:stCxn id="11" idx="2"/>
              <a:endCxn id="6" idx="6"/>
            </p:cNvCxnSpPr>
            <p:nvPr/>
          </p:nvCxnSpPr>
          <p:spPr>
            <a:xfrm flipH="1" flipV="1">
              <a:off x="5301249" y="5669712"/>
              <a:ext cx="1702859" cy="168438"/>
            </a:xfrm>
            <a:prstGeom prst="straightConnector1">
              <a:avLst/>
            </a:prstGeom>
            <a:ln w="44450">
              <a:solidFill>
                <a:schemeClr val="accent4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5849124" y="5753931"/>
              <a:ext cx="498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</a:rPr>
                <a:t>-2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5884391" y="3523242"/>
              <a:ext cx="605481" cy="6054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7909869" y="4128723"/>
              <a:ext cx="605481" cy="6054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u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7004108" y="5535409"/>
              <a:ext cx="605481" cy="6054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v</a:t>
              </a:r>
            </a:p>
          </p:txBody>
        </p:sp>
        <p:cxnSp>
          <p:nvCxnSpPr>
            <p:cNvPr id="11" name="Straight Arrow Connector 10"/>
            <p:cNvCxnSpPr>
              <a:stCxn id="9" idx="4"/>
              <a:endCxn id="11" idx="1"/>
            </p:cNvCxnSpPr>
            <p:nvPr/>
          </p:nvCxnSpPr>
          <p:spPr>
            <a:xfrm>
              <a:off x="6187132" y="4128723"/>
              <a:ext cx="905647" cy="1495357"/>
            </a:xfrm>
            <a:prstGeom prst="straightConnector1">
              <a:avLst/>
            </a:prstGeom>
            <a:ln w="44450">
              <a:solidFill>
                <a:schemeClr val="accent4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9" idx="6"/>
              <a:endCxn id="10" idx="1"/>
            </p:cNvCxnSpPr>
            <p:nvPr/>
          </p:nvCxnSpPr>
          <p:spPr>
            <a:xfrm>
              <a:off x="6489872" y="3825983"/>
              <a:ext cx="1508668" cy="391411"/>
            </a:xfrm>
            <a:prstGeom prst="straightConnector1">
              <a:avLst/>
            </a:prstGeom>
            <a:ln w="44450">
              <a:solidFill>
                <a:schemeClr val="accent4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10" idx="4"/>
              <a:endCxn id="11" idx="7"/>
            </p:cNvCxnSpPr>
            <p:nvPr/>
          </p:nvCxnSpPr>
          <p:spPr>
            <a:xfrm flipH="1">
              <a:off x="7520918" y="4734204"/>
              <a:ext cx="691692" cy="889876"/>
            </a:xfrm>
            <a:prstGeom prst="straightConnector1">
              <a:avLst/>
            </a:prstGeom>
            <a:ln w="44450">
              <a:solidFill>
                <a:schemeClr val="accent4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10" idx="2"/>
              <a:endCxn id="9" idx="5"/>
            </p:cNvCxnSpPr>
            <p:nvPr/>
          </p:nvCxnSpPr>
          <p:spPr>
            <a:xfrm flipH="1" flipV="1">
              <a:off x="6401201" y="4040052"/>
              <a:ext cx="1508668" cy="391412"/>
            </a:xfrm>
            <a:prstGeom prst="straightConnector1">
              <a:avLst/>
            </a:prstGeom>
            <a:ln w="44450">
              <a:solidFill>
                <a:schemeClr val="accent4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6301960" y="4788014"/>
              <a:ext cx="498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solidFill>
                    <a:schemeClr val="accent5"/>
                  </a:solidFill>
                </a:rPr>
                <a:t>5</a:t>
              </a:r>
              <a:endParaRPr lang="en-US" dirty="0">
                <a:solidFill>
                  <a:schemeClr val="accent5"/>
                </a:solidFill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232421" y="3652356"/>
              <a:ext cx="498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solidFill>
                    <a:schemeClr val="accent5"/>
                  </a:solidFill>
                </a:rPr>
                <a:t>2</a:t>
              </a:r>
              <a:endParaRPr lang="en-US" dirty="0">
                <a:solidFill>
                  <a:schemeClr val="accent5"/>
                </a:solidFill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919051" y="5086251"/>
              <a:ext cx="498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solidFill>
                    <a:schemeClr val="accent5"/>
                  </a:solidFill>
                </a:rPr>
                <a:t>2</a:t>
              </a:r>
              <a:endParaRPr lang="en-US" dirty="0">
                <a:solidFill>
                  <a:schemeClr val="accent5"/>
                </a:solidFill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111143" y="4300057"/>
              <a:ext cx="498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</a:rPr>
                <a:t>1</a:t>
              </a:r>
            </a:p>
          </p:txBody>
        </p:sp>
      </p:grpSp>
      <p:sp>
        <p:nvSpPr>
          <p:cNvPr id="19" name="Rectangle 18"/>
          <p:cNvSpPr/>
          <p:nvPr/>
        </p:nvSpPr>
        <p:spPr>
          <a:xfrm>
            <a:off x="976184" y="3336328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1663528" y="3336327"/>
                <a:ext cx="679621" cy="40777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∞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3528" y="3336327"/>
                <a:ext cx="679621" cy="40777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3810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2350872" y="3336327"/>
                <a:ext cx="679621" cy="40777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0872" y="3336327"/>
                <a:ext cx="679621" cy="40777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3810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3030493" y="3336327"/>
                <a:ext cx="679621" cy="40777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0493" y="3336327"/>
                <a:ext cx="679621" cy="40777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3810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/>
          <p:cNvSpPr txBox="1"/>
          <p:nvPr/>
        </p:nvSpPr>
        <p:spPr>
          <a:xfrm>
            <a:off x="1215785" y="2966995"/>
            <a:ext cx="2270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          u           v           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3146" y="3309381"/>
            <a:ext cx="5757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d</a:t>
            </a:r>
            <a:r>
              <a:rPr lang="en-US" sz="2400" baseline="30000" dirty="0"/>
              <a:t>(0)</a:t>
            </a:r>
            <a:endParaRPr lang="en-US" sz="2400" dirty="0"/>
          </a:p>
        </p:txBody>
      </p:sp>
      <p:sp>
        <p:nvSpPr>
          <p:cNvPr id="37" name="Rectangle 36"/>
          <p:cNvSpPr/>
          <p:nvPr/>
        </p:nvSpPr>
        <p:spPr>
          <a:xfrm>
            <a:off x="965180" y="4269600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1652524" y="4269599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2339868" y="4269599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3019489" y="4269599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1204781" y="3900267"/>
            <a:ext cx="2270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          u           v           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2142" y="4242653"/>
            <a:ext cx="5757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d</a:t>
            </a:r>
            <a:r>
              <a:rPr lang="en-US" sz="2400" baseline="30000" dirty="0"/>
              <a:t>(1)</a:t>
            </a:r>
            <a:endParaRPr lang="en-US" sz="2400" dirty="0"/>
          </a:p>
        </p:txBody>
      </p:sp>
      <p:sp>
        <p:nvSpPr>
          <p:cNvPr id="43" name="Rectangle 42"/>
          <p:cNvSpPr/>
          <p:nvPr/>
        </p:nvSpPr>
        <p:spPr>
          <a:xfrm>
            <a:off x="965180" y="5190887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1652524" y="5190886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2339868" y="5190886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3019489" y="5190886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/>
          <p:cNvSpPr txBox="1"/>
          <p:nvPr/>
        </p:nvSpPr>
        <p:spPr>
          <a:xfrm>
            <a:off x="1204781" y="4821554"/>
            <a:ext cx="2270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          u           v           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2142" y="5163940"/>
            <a:ext cx="5757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d</a:t>
            </a:r>
            <a:r>
              <a:rPr lang="en-US" sz="2400" baseline="30000" dirty="0"/>
              <a:t>(2)</a:t>
            </a:r>
            <a:endParaRPr lang="en-US" sz="2400" dirty="0"/>
          </a:p>
        </p:txBody>
      </p:sp>
      <p:sp>
        <p:nvSpPr>
          <p:cNvPr id="49" name="Rectangle 48"/>
          <p:cNvSpPr/>
          <p:nvPr/>
        </p:nvSpPr>
        <p:spPr>
          <a:xfrm>
            <a:off x="944857" y="6085228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1632201" y="6085227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2319545" y="6085227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2999166" y="6085227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1184458" y="5715895"/>
            <a:ext cx="2270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          u           v           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91819" y="6058281"/>
            <a:ext cx="5757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d</a:t>
            </a:r>
            <a:r>
              <a:rPr lang="en-US" sz="2400" baseline="30000" dirty="0"/>
              <a:t>(3)</a:t>
            </a:r>
            <a:endParaRPr lang="en-US" sz="2400" dirty="0"/>
          </a:p>
        </p:txBody>
      </p:sp>
      <p:sp>
        <p:nvSpPr>
          <p:cNvPr id="56" name="TextBox 55"/>
          <p:cNvSpPr txBox="1"/>
          <p:nvPr/>
        </p:nvSpPr>
        <p:spPr>
          <a:xfrm>
            <a:off x="4863414" y="900030"/>
            <a:ext cx="43387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/>
                </a:solidFill>
              </a:rPr>
              <a:t>d</a:t>
            </a:r>
            <a:r>
              <a:rPr lang="en-US" sz="2000" baseline="30000" dirty="0">
                <a:solidFill>
                  <a:schemeClr val="accent5"/>
                </a:solidFill>
              </a:rPr>
              <a:t>(k)</a:t>
            </a:r>
            <a:r>
              <a:rPr lang="en-US" sz="2000" dirty="0">
                <a:solidFill>
                  <a:schemeClr val="accent5"/>
                </a:solidFill>
              </a:rPr>
              <a:t>[a] is the cost of the shortest path from s to a with at most k edges in it.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00923" y="3581610"/>
            <a:ext cx="397904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/>
              <p:cNvSpPr/>
              <p:nvPr/>
            </p:nvSpPr>
            <p:spPr>
              <a:xfrm>
                <a:off x="8404023" y="4056929"/>
                <a:ext cx="484203" cy="40777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∞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59" name="Rectangle 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4023" y="4056929"/>
                <a:ext cx="484203" cy="407774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3810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/>
              <p:cNvSpPr/>
              <p:nvPr/>
            </p:nvSpPr>
            <p:spPr>
              <a:xfrm>
                <a:off x="7724402" y="6058586"/>
                <a:ext cx="529203" cy="40777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Rectangle 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4402" y="6058586"/>
                <a:ext cx="529203" cy="407774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3810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60"/>
              <p:cNvSpPr/>
              <p:nvPr/>
            </p:nvSpPr>
            <p:spPr>
              <a:xfrm>
                <a:off x="4753510" y="6048771"/>
                <a:ext cx="529203" cy="40777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1" name="Rectangle 6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3510" y="6048771"/>
                <a:ext cx="529203" cy="407774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 w="3810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3507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964" y="-178625"/>
            <a:ext cx="7886700" cy="1325563"/>
          </a:xfrm>
        </p:spPr>
        <p:txBody>
          <a:bodyPr/>
          <a:lstStyle/>
          <a:p>
            <a:r>
              <a:rPr lang="en-US" dirty="0"/>
              <a:t>Bellman-Ford Algorithm* Example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4979973" y="3694251"/>
            <a:ext cx="3819582" cy="2617648"/>
            <a:chOff x="4695768" y="3523242"/>
            <a:chExt cx="3819582" cy="2617648"/>
          </a:xfrm>
        </p:grpSpPr>
        <p:sp>
          <p:nvSpPr>
            <p:cNvPr id="5" name="Oval 4"/>
            <p:cNvSpPr/>
            <p:nvPr/>
          </p:nvSpPr>
          <p:spPr>
            <a:xfrm>
              <a:off x="4695768" y="5366971"/>
              <a:ext cx="605481" cy="6054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t</a:t>
              </a:r>
            </a:p>
          </p:txBody>
        </p:sp>
        <p:cxnSp>
          <p:nvCxnSpPr>
            <p:cNvPr id="6" name="Straight Arrow Connector 5"/>
            <p:cNvCxnSpPr>
              <a:stCxn id="11" idx="2"/>
              <a:endCxn id="6" idx="6"/>
            </p:cNvCxnSpPr>
            <p:nvPr/>
          </p:nvCxnSpPr>
          <p:spPr>
            <a:xfrm flipH="1" flipV="1">
              <a:off x="5301249" y="5669712"/>
              <a:ext cx="1702859" cy="168438"/>
            </a:xfrm>
            <a:prstGeom prst="straightConnector1">
              <a:avLst/>
            </a:prstGeom>
            <a:ln w="44450">
              <a:solidFill>
                <a:schemeClr val="accent4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5849124" y="5753931"/>
              <a:ext cx="498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</a:rPr>
                <a:t>-2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5884391" y="3523242"/>
              <a:ext cx="605481" cy="6054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7909869" y="4128723"/>
              <a:ext cx="605481" cy="6054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u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7004108" y="5535409"/>
              <a:ext cx="605481" cy="6054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v</a:t>
              </a:r>
            </a:p>
          </p:txBody>
        </p:sp>
        <p:cxnSp>
          <p:nvCxnSpPr>
            <p:cNvPr id="11" name="Straight Arrow Connector 10"/>
            <p:cNvCxnSpPr>
              <a:stCxn id="9" idx="4"/>
              <a:endCxn id="11" idx="1"/>
            </p:cNvCxnSpPr>
            <p:nvPr/>
          </p:nvCxnSpPr>
          <p:spPr>
            <a:xfrm>
              <a:off x="6187132" y="4128723"/>
              <a:ext cx="905647" cy="1495357"/>
            </a:xfrm>
            <a:prstGeom prst="straightConnector1">
              <a:avLst/>
            </a:prstGeom>
            <a:ln w="44450">
              <a:solidFill>
                <a:schemeClr val="accent4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9" idx="6"/>
              <a:endCxn id="10" idx="1"/>
            </p:cNvCxnSpPr>
            <p:nvPr/>
          </p:nvCxnSpPr>
          <p:spPr>
            <a:xfrm>
              <a:off x="6489872" y="3825983"/>
              <a:ext cx="1508668" cy="391411"/>
            </a:xfrm>
            <a:prstGeom prst="straightConnector1">
              <a:avLst/>
            </a:prstGeom>
            <a:ln w="44450">
              <a:solidFill>
                <a:schemeClr val="accent4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10" idx="4"/>
              <a:endCxn id="11" idx="7"/>
            </p:cNvCxnSpPr>
            <p:nvPr/>
          </p:nvCxnSpPr>
          <p:spPr>
            <a:xfrm flipH="1">
              <a:off x="7520918" y="4734204"/>
              <a:ext cx="691692" cy="889876"/>
            </a:xfrm>
            <a:prstGeom prst="straightConnector1">
              <a:avLst/>
            </a:prstGeom>
            <a:ln w="44450">
              <a:solidFill>
                <a:schemeClr val="accent4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10" idx="2"/>
              <a:endCxn id="9" idx="5"/>
            </p:cNvCxnSpPr>
            <p:nvPr/>
          </p:nvCxnSpPr>
          <p:spPr>
            <a:xfrm flipH="1" flipV="1">
              <a:off x="6401201" y="4040052"/>
              <a:ext cx="1508668" cy="391412"/>
            </a:xfrm>
            <a:prstGeom prst="straightConnector1">
              <a:avLst/>
            </a:prstGeom>
            <a:ln w="44450">
              <a:solidFill>
                <a:schemeClr val="accent4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6301960" y="4788014"/>
              <a:ext cx="498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solidFill>
                    <a:schemeClr val="accent5"/>
                  </a:solidFill>
                </a:rPr>
                <a:t>5</a:t>
              </a:r>
              <a:endParaRPr lang="en-US" dirty="0">
                <a:solidFill>
                  <a:schemeClr val="accent5"/>
                </a:solidFill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232421" y="3652356"/>
              <a:ext cx="498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solidFill>
                    <a:schemeClr val="accent5"/>
                  </a:solidFill>
                </a:rPr>
                <a:t>2</a:t>
              </a:r>
              <a:endParaRPr lang="en-US" dirty="0">
                <a:solidFill>
                  <a:schemeClr val="accent5"/>
                </a:solidFill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919051" y="5086251"/>
              <a:ext cx="498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solidFill>
                    <a:schemeClr val="accent5"/>
                  </a:solidFill>
                </a:rPr>
                <a:t>2</a:t>
              </a:r>
              <a:endParaRPr lang="en-US" dirty="0">
                <a:solidFill>
                  <a:schemeClr val="accent5"/>
                </a:solidFill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111143" y="4300057"/>
              <a:ext cx="498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</a:rPr>
                <a:t>1</a:t>
              </a:r>
            </a:p>
          </p:txBody>
        </p:sp>
      </p:grpSp>
      <p:sp>
        <p:nvSpPr>
          <p:cNvPr id="19" name="Rectangle 18"/>
          <p:cNvSpPr/>
          <p:nvPr/>
        </p:nvSpPr>
        <p:spPr>
          <a:xfrm>
            <a:off x="976184" y="3336328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1663528" y="3336327"/>
                <a:ext cx="679621" cy="40777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∞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3528" y="3336327"/>
                <a:ext cx="679621" cy="407774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 w="3810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2350872" y="3336327"/>
                <a:ext cx="679621" cy="40777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0872" y="3336327"/>
                <a:ext cx="679621" cy="407774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 w="3810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3030493" y="3336327"/>
                <a:ext cx="679621" cy="40777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0493" y="3336327"/>
                <a:ext cx="679621" cy="40777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3810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/>
          <p:cNvSpPr txBox="1"/>
          <p:nvPr/>
        </p:nvSpPr>
        <p:spPr>
          <a:xfrm>
            <a:off x="1215785" y="2966995"/>
            <a:ext cx="2270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          u           v           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3146" y="3309381"/>
            <a:ext cx="5757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d</a:t>
            </a:r>
            <a:r>
              <a:rPr lang="en-US" sz="2400" baseline="30000" dirty="0"/>
              <a:t>(0)</a:t>
            </a:r>
            <a:endParaRPr lang="en-US" sz="2400" dirty="0"/>
          </a:p>
        </p:txBody>
      </p:sp>
      <p:sp>
        <p:nvSpPr>
          <p:cNvPr id="37" name="Rectangle 36"/>
          <p:cNvSpPr/>
          <p:nvPr/>
        </p:nvSpPr>
        <p:spPr>
          <a:xfrm>
            <a:off x="965180" y="4269600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52524" y="4269599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39868" y="4269599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/>
              <p:cNvSpPr/>
              <p:nvPr/>
            </p:nvSpPr>
            <p:spPr>
              <a:xfrm>
                <a:off x="3019489" y="4269599"/>
                <a:ext cx="679621" cy="40777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9489" y="4269599"/>
                <a:ext cx="679621" cy="40777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3810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/>
          <p:cNvSpPr txBox="1"/>
          <p:nvPr/>
        </p:nvSpPr>
        <p:spPr>
          <a:xfrm>
            <a:off x="1204781" y="3900267"/>
            <a:ext cx="2270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          u           v           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2142" y="4242653"/>
            <a:ext cx="5757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d</a:t>
            </a:r>
            <a:r>
              <a:rPr lang="en-US" sz="2400" baseline="30000" dirty="0"/>
              <a:t>(1)</a:t>
            </a:r>
            <a:endParaRPr lang="en-US" sz="2400" dirty="0"/>
          </a:p>
        </p:txBody>
      </p:sp>
      <p:sp>
        <p:nvSpPr>
          <p:cNvPr id="43" name="Rectangle 42"/>
          <p:cNvSpPr/>
          <p:nvPr/>
        </p:nvSpPr>
        <p:spPr>
          <a:xfrm>
            <a:off x="965180" y="5190887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1652524" y="5190886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2339868" y="5190886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3019489" y="5190886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/>
          <p:cNvSpPr txBox="1"/>
          <p:nvPr/>
        </p:nvSpPr>
        <p:spPr>
          <a:xfrm>
            <a:off x="1204781" y="4821554"/>
            <a:ext cx="2270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          u           v           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2142" y="5163940"/>
            <a:ext cx="5757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d</a:t>
            </a:r>
            <a:r>
              <a:rPr lang="en-US" sz="2400" baseline="30000" dirty="0"/>
              <a:t>(2)</a:t>
            </a:r>
            <a:endParaRPr lang="en-US" sz="2400" dirty="0"/>
          </a:p>
        </p:txBody>
      </p:sp>
      <p:sp>
        <p:nvSpPr>
          <p:cNvPr id="49" name="Rectangle 48"/>
          <p:cNvSpPr/>
          <p:nvPr/>
        </p:nvSpPr>
        <p:spPr>
          <a:xfrm>
            <a:off x="944857" y="6085228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1632201" y="6085227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2319545" y="6085227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2999166" y="6085227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1184458" y="5715895"/>
            <a:ext cx="2270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          u           v           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91819" y="6058281"/>
            <a:ext cx="5757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d</a:t>
            </a:r>
            <a:r>
              <a:rPr lang="en-US" sz="2400" baseline="30000" dirty="0"/>
              <a:t>(3)</a:t>
            </a:r>
            <a:endParaRPr lang="en-US" sz="2400" dirty="0"/>
          </a:p>
        </p:txBody>
      </p:sp>
      <p:sp>
        <p:nvSpPr>
          <p:cNvPr id="58" name="Rectangle 57"/>
          <p:cNvSpPr/>
          <p:nvPr/>
        </p:nvSpPr>
        <p:spPr>
          <a:xfrm>
            <a:off x="5900923" y="3581610"/>
            <a:ext cx="397904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/>
              <p:cNvSpPr/>
              <p:nvPr/>
            </p:nvSpPr>
            <p:spPr>
              <a:xfrm>
                <a:off x="8404023" y="4056929"/>
                <a:ext cx="484203" cy="40777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2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59" name="Rectangle 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4023" y="4056929"/>
                <a:ext cx="484203" cy="407774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3810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/>
              <p:cNvSpPr/>
              <p:nvPr/>
            </p:nvSpPr>
            <p:spPr>
              <a:xfrm>
                <a:off x="7724402" y="6058586"/>
                <a:ext cx="529203" cy="40777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5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0" name="Rectangle 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4402" y="6058586"/>
                <a:ext cx="529203" cy="407774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3810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60"/>
              <p:cNvSpPr/>
              <p:nvPr/>
            </p:nvSpPr>
            <p:spPr>
              <a:xfrm>
                <a:off x="4753510" y="6048771"/>
                <a:ext cx="529203" cy="40777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1" name="Rectangle 6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3510" y="6048771"/>
                <a:ext cx="529203" cy="407774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 w="3810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91819" y="1318925"/>
                <a:ext cx="8799555" cy="4351338"/>
              </a:xfrm>
            </p:spPr>
            <p:txBody>
              <a:bodyPr/>
              <a:lstStyle/>
              <a:p>
                <a:r>
                  <a:rPr lang="en-US" dirty="0"/>
                  <a:t>For k = 1,</a:t>
                </a:r>
                <a:r>
                  <a:rPr lang="mr-IN" dirty="0"/>
                  <a:t>…</a:t>
                </a:r>
                <a:r>
                  <a:rPr lang="en-US" dirty="0"/>
                  <a:t>,n-1:</a:t>
                </a:r>
              </a:p>
              <a:p>
                <a:pPr lvl="1"/>
                <a:r>
                  <a:rPr lang="en-US" dirty="0"/>
                  <a:t>For b in V:</a:t>
                </a:r>
              </a:p>
              <a:p>
                <a:pPr lvl="2"/>
                <a:r>
                  <a:rPr lang="en-US" sz="2400" dirty="0">
                    <a:solidFill>
                      <a:schemeClr val="accent4"/>
                    </a:solidFill>
                  </a:rPr>
                  <a:t>d</a:t>
                </a:r>
                <a:r>
                  <a:rPr lang="en-US" sz="2400" baseline="30000" dirty="0">
                    <a:solidFill>
                      <a:schemeClr val="accent4"/>
                    </a:solidFill>
                  </a:rPr>
                  <a:t>(k)</a:t>
                </a:r>
                <a:r>
                  <a:rPr lang="en-US" sz="2400" dirty="0">
                    <a:solidFill>
                      <a:schemeClr val="accent4"/>
                    </a:solidFill>
                  </a:rPr>
                  <a:t>[b]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4"/>
                        </a:solidFill>
                        <a:latin typeface="Cambria Math" charset="0"/>
                      </a:rPr>
                      <m:t>←</m:t>
                    </m:r>
                  </m:oMath>
                </a14:m>
                <a:r>
                  <a:rPr lang="en-US" sz="2400" dirty="0">
                    <a:solidFill>
                      <a:schemeClr val="accent4"/>
                    </a:solidFill>
                  </a:rPr>
                  <a:t> min{ 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d</a:t>
                </a:r>
                <a:r>
                  <a:rPr lang="en-US" sz="2400" baseline="30000" dirty="0">
                    <a:solidFill>
                      <a:schemeClr val="accent1"/>
                    </a:solidFill>
                  </a:rPr>
                  <a:t>(k-1)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[b],  </a:t>
                </a:r>
                <a:r>
                  <a:rPr lang="en-US" sz="2400" dirty="0">
                    <a:solidFill>
                      <a:schemeClr val="accent5"/>
                    </a:solidFill>
                  </a:rPr>
                  <a:t>min</a:t>
                </a:r>
                <a:r>
                  <a:rPr lang="en-US" sz="2400" baseline="-25000" dirty="0">
                    <a:solidFill>
                      <a:schemeClr val="accent5"/>
                    </a:solidFill>
                  </a:rPr>
                  <a:t>a</a:t>
                </a:r>
                <a:r>
                  <a:rPr lang="en-US" sz="2400" dirty="0">
                    <a:solidFill>
                      <a:schemeClr val="accent5"/>
                    </a:solidFill>
                  </a:rPr>
                  <a:t> {</a:t>
                </a:r>
                <a:r>
                  <a:rPr lang="en-US" sz="2400" dirty="0">
                    <a:solidFill>
                      <a:srgbClr val="7030A0"/>
                    </a:solidFill>
                  </a:rPr>
                  <a:t>d</a:t>
                </a:r>
                <a:r>
                  <a:rPr lang="en-US" sz="2400" baseline="30000" dirty="0">
                    <a:solidFill>
                      <a:srgbClr val="7030A0"/>
                    </a:solidFill>
                  </a:rPr>
                  <a:t>(k-1)</a:t>
                </a:r>
                <a:r>
                  <a:rPr lang="en-US" sz="2400" dirty="0">
                    <a:solidFill>
                      <a:srgbClr val="7030A0"/>
                    </a:solidFill>
                  </a:rPr>
                  <a:t>[a]  + weight(</a:t>
                </a:r>
                <a:r>
                  <a:rPr lang="en-US" sz="2400" dirty="0" err="1">
                    <a:solidFill>
                      <a:srgbClr val="7030A0"/>
                    </a:solidFill>
                  </a:rPr>
                  <a:t>a,b</a:t>
                </a:r>
                <a:r>
                  <a:rPr lang="en-US" sz="2400" dirty="0">
                    <a:solidFill>
                      <a:srgbClr val="7030A0"/>
                    </a:solidFill>
                  </a:rPr>
                  <a:t>)</a:t>
                </a:r>
                <a:r>
                  <a:rPr lang="en-US" sz="2400" dirty="0">
                    <a:solidFill>
                      <a:schemeClr val="accent5"/>
                    </a:solidFill>
                  </a:rPr>
                  <a:t>} </a:t>
                </a:r>
                <a:r>
                  <a:rPr lang="en-US" sz="2400" dirty="0">
                    <a:solidFill>
                      <a:schemeClr val="accent4"/>
                    </a:solidFill>
                  </a:rPr>
                  <a:t>}  </a:t>
                </a:r>
              </a:p>
            </p:txBody>
          </p:sp>
        </mc:Choice>
        <mc:Fallback xmlns="">
          <p:sp>
            <p:nvSpPr>
              <p:cNvPr id="5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1819" y="1318925"/>
                <a:ext cx="8799555" cy="4351338"/>
              </a:xfrm>
              <a:blipFill rotWithShape="0">
                <a:blip r:embed="rId8"/>
                <a:stretch>
                  <a:fillRect l="-124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61"/>
          <p:cNvSpPr txBox="1"/>
          <p:nvPr/>
        </p:nvSpPr>
        <p:spPr>
          <a:xfrm>
            <a:off x="4863414" y="900030"/>
            <a:ext cx="43387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/>
                </a:solidFill>
              </a:rPr>
              <a:t>d</a:t>
            </a:r>
            <a:r>
              <a:rPr lang="en-US" sz="2000" baseline="30000" dirty="0">
                <a:solidFill>
                  <a:schemeClr val="accent5"/>
                </a:solidFill>
              </a:rPr>
              <a:t>(k)</a:t>
            </a:r>
            <a:r>
              <a:rPr lang="en-US" sz="2000" dirty="0">
                <a:solidFill>
                  <a:schemeClr val="accent5"/>
                </a:solidFill>
              </a:rPr>
              <a:t>[a] is the cost of the shortest path from s to a with at most k edges in it.</a:t>
            </a:r>
          </a:p>
        </p:txBody>
      </p:sp>
    </p:spTree>
    <p:extLst>
      <p:ext uri="{BB962C8B-B14F-4D97-AF65-F5344CB8AC3E}">
        <p14:creationId xmlns:p14="http://schemas.microsoft.com/office/powerpoint/2010/main" val="5753472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964" y="-178625"/>
            <a:ext cx="7886700" cy="1325563"/>
          </a:xfrm>
        </p:spPr>
        <p:txBody>
          <a:bodyPr/>
          <a:lstStyle/>
          <a:p>
            <a:r>
              <a:rPr lang="en-US" dirty="0"/>
              <a:t>Bellman-Ford Algorithm* Example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4979973" y="3694251"/>
            <a:ext cx="3819582" cy="2617648"/>
            <a:chOff x="4695768" y="3523242"/>
            <a:chExt cx="3819582" cy="2617648"/>
          </a:xfrm>
        </p:grpSpPr>
        <p:sp>
          <p:nvSpPr>
            <p:cNvPr id="5" name="Oval 4"/>
            <p:cNvSpPr/>
            <p:nvPr/>
          </p:nvSpPr>
          <p:spPr>
            <a:xfrm>
              <a:off x="4695768" y="5366971"/>
              <a:ext cx="605481" cy="6054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t</a:t>
              </a:r>
            </a:p>
          </p:txBody>
        </p:sp>
        <p:cxnSp>
          <p:nvCxnSpPr>
            <p:cNvPr id="6" name="Straight Arrow Connector 5"/>
            <p:cNvCxnSpPr>
              <a:stCxn id="11" idx="2"/>
              <a:endCxn id="6" idx="6"/>
            </p:cNvCxnSpPr>
            <p:nvPr/>
          </p:nvCxnSpPr>
          <p:spPr>
            <a:xfrm flipH="1" flipV="1">
              <a:off x="5301249" y="5669712"/>
              <a:ext cx="1702859" cy="168438"/>
            </a:xfrm>
            <a:prstGeom prst="straightConnector1">
              <a:avLst/>
            </a:prstGeom>
            <a:ln w="44450">
              <a:solidFill>
                <a:schemeClr val="accent4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5849124" y="5753931"/>
              <a:ext cx="498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</a:rPr>
                <a:t>-2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5884391" y="3523242"/>
              <a:ext cx="605481" cy="6054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7909869" y="4128723"/>
              <a:ext cx="605481" cy="6054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u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7004108" y="5535409"/>
              <a:ext cx="605481" cy="6054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v</a:t>
              </a:r>
            </a:p>
          </p:txBody>
        </p:sp>
        <p:cxnSp>
          <p:nvCxnSpPr>
            <p:cNvPr id="11" name="Straight Arrow Connector 10"/>
            <p:cNvCxnSpPr>
              <a:stCxn id="9" idx="4"/>
              <a:endCxn id="11" idx="1"/>
            </p:cNvCxnSpPr>
            <p:nvPr/>
          </p:nvCxnSpPr>
          <p:spPr>
            <a:xfrm>
              <a:off x="6187132" y="4128723"/>
              <a:ext cx="905647" cy="1495357"/>
            </a:xfrm>
            <a:prstGeom prst="straightConnector1">
              <a:avLst/>
            </a:prstGeom>
            <a:ln w="44450">
              <a:solidFill>
                <a:schemeClr val="accent4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9" idx="6"/>
              <a:endCxn id="10" idx="1"/>
            </p:cNvCxnSpPr>
            <p:nvPr/>
          </p:nvCxnSpPr>
          <p:spPr>
            <a:xfrm>
              <a:off x="6489872" y="3825983"/>
              <a:ext cx="1508668" cy="391411"/>
            </a:xfrm>
            <a:prstGeom prst="straightConnector1">
              <a:avLst/>
            </a:prstGeom>
            <a:ln w="44450">
              <a:solidFill>
                <a:schemeClr val="accent4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10" idx="4"/>
              <a:endCxn id="11" idx="7"/>
            </p:cNvCxnSpPr>
            <p:nvPr/>
          </p:nvCxnSpPr>
          <p:spPr>
            <a:xfrm flipH="1">
              <a:off x="7520918" y="4734204"/>
              <a:ext cx="691692" cy="889876"/>
            </a:xfrm>
            <a:prstGeom prst="straightConnector1">
              <a:avLst/>
            </a:prstGeom>
            <a:ln w="44450">
              <a:solidFill>
                <a:schemeClr val="accent4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10" idx="2"/>
              <a:endCxn id="9" idx="5"/>
            </p:cNvCxnSpPr>
            <p:nvPr/>
          </p:nvCxnSpPr>
          <p:spPr>
            <a:xfrm flipH="1" flipV="1">
              <a:off x="6401201" y="4040052"/>
              <a:ext cx="1508668" cy="391412"/>
            </a:xfrm>
            <a:prstGeom prst="straightConnector1">
              <a:avLst/>
            </a:prstGeom>
            <a:ln w="44450">
              <a:solidFill>
                <a:schemeClr val="accent4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6301960" y="4788014"/>
              <a:ext cx="498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solidFill>
                    <a:schemeClr val="accent5"/>
                  </a:solidFill>
                </a:rPr>
                <a:t>5</a:t>
              </a:r>
              <a:endParaRPr lang="en-US" dirty="0">
                <a:solidFill>
                  <a:schemeClr val="accent5"/>
                </a:solidFill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232421" y="3652356"/>
              <a:ext cx="498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solidFill>
                    <a:schemeClr val="accent5"/>
                  </a:solidFill>
                </a:rPr>
                <a:t>2</a:t>
              </a:r>
              <a:endParaRPr lang="en-US" dirty="0">
                <a:solidFill>
                  <a:schemeClr val="accent5"/>
                </a:solidFill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919051" y="5086251"/>
              <a:ext cx="498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solidFill>
                    <a:schemeClr val="accent5"/>
                  </a:solidFill>
                </a:rPr>
                <a:t>2</a:t>
              </a:r>
              <a:endParaRPr lang="en-US" dirty="0">
                <a:solidFill>
                  <a:schemeClr val="accent5"/>
                </a:solidFill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111143" y="4300057"/>
              <a:ext cx="498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</a:rPr>
                <a:t>1</a:t>
              </a:r>
            </a:p>
          </p:txBody>
        </p:sp>
      </p:grpSp>
      <p:sp>
        <p:nvSpPr>
          <p:cNvPr id="19" name="Rectangle 18"/>
          <p:cNvSpPr/>
          <p:nvPr/>
        </p:nvSpPr>
        <p:spPr>
          <a:xfrm>
            <a:off x="976184" y="3336328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1663528" y="3336327"/>
                <a:ext cx="679621" cy="40777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∞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3528" y="3336327"/>
                <a:ext cx="679621" cy="407774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 w="3810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2350872" y="3336327"/>
                <a:ext cx="679621" cy="40777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0872" y="3336327"/>
                <a:ext cx="679621" cy="407774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 w="3810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3030493" y="3336327"/>
                <a:ext cx="679621" cy="40777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0493" y="3336327"/>
                <a:ext cx="679621" cy="40777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3810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/>
          <p:cNvSpPr txBox="1"/>
          <p:nvPr/>
        </p:nvSpPr>
        <p:spPr>
          <a:xfrm>
            <a:off x="1215785" y="2966995"/>
            <a:ext cx="2270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          u           v           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3146" y="3309381"/>
            <a:ext cx="5757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d</a:t>
            </a:r>
            <a:r>
              <a:rPr lang="en-US" sz="2400" baseline="30000" dirty="0"/>
              <a:t>(0)</a:t>
            </a:r>
            <a:endParaRPr lang="en-US" sz="2400" dirty="0"/>
          </a:p>
        </p:txBody>
      </p:sp>
      <p:sp>
        <p:nvSpPr>
          <p:cNvPr id="37" name="Rectangle 36"/>
          <p:cNvSpPr/>
          <p:nvPr/>
        </p:nvSpPr>
        <p:spPr>
          <a:xfrm>
            <a:off x="965180" y="4269600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52524" y="4269599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39868" y="4269599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/>
              <p:cNvSpPr/>
              <p:nvPr/>
            </p:nvSpPr>
            <p:spPr>
              <a:xfrm>
                <a:off x="3019489" y="4269599"/>
                <a:ext cx="679621" cy="40777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9489" y="4269599"/>
                <a:ext cx="679621" cy="40777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3810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/>
          <p:cNvSpPr txBox="1"/>
          <p:nvPr/>
        </p:nvSpPr>
        <p:spPr>
          <a:xfrm>
            <a:off x="1204781" y="3900267"/>
            <a:ext cx="2270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          u           v           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2142" y="4242653"/>
            <a:ext cx="5757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d</a:t>
            </a:r>
            <a:r>
              <a:rPr lang="en-US" sz="2400" baseline="30000" dirty="0"/>
              <a:t>(1)</a:t>
            </a:r>
            <a:endParaRPr lang="en-US" sz="2400" dirty="0"/>
          </a:p>
        </p:txBody>
      </p:sp>
      <p:sp>
        <p:nvSpPr>
          <p:cNvPr id="43" name="Rectangle 42"/>
          <p:cNvSpPr/>
          <p:nvPr/>
        </p:nvSpPr>
        <p:spPr>
          <a:xfrm>
            <a:off x="965180" y="5190887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652524" y="5190886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339868" y="5190886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019489" y="5190886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04781" y="4821554"/>
            <a:ext cx="2270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          u           v           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2142" y="5163940"/>
            <a:ext cx="5757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d</a:t>
            </a:r>
            <a:r>
              <a:rPr lang="en-US" sz="2400" baseline="30000" dirty="0"/>
              <a:t>(2)</a:t>
            </a:r>
            <a:endParaRPr lang="en-US" sz="2400" dirty="0"/>
          </a:p>
        </p:txBody>
      </p:sp>
      <p:sp>
        <p:nvSpPr>
          <p:cNvPr id="49" name="Rectangle 48"/>
          <p:cNvSpPr/>
          <p:nvPr/>
        </p:nvSpPr>
        <p:spPr>
          <a:xfrm>
            <a:off x="944857" y="6085228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1632201" y="6085227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2319545" y="6085227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2999166" y="6085227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1184458" y="5715895"/>
            <a:ext cx="2270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          u           v           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91819" y="6058281"/>
            <a:ext cx="5757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d</a:t>
            </a:r>
            <a:r>
              <a:rPr lang="en-US" sz="2400" baseline="30000" dirty="0"/>
              <a:t>(3)</a:t>
            </a:r>
            <a:endParaRPr lang="en-US" sz="2400" dirty="0"/>
          </a:p>
        </p:txBody>
      </p:sp>
      <p:sp>
        <p:nvSpPr>
          <p:cNvPr id="58" name="Rectangle 57"/>
          <p:cNvSpPr/>
          <p:nvPr/>
        </p:nvSpPr>
        <p:spPr>
          <a:xfrm>
            <a:off x="5900923" y="3581610"/>
            <a:ext cx="397904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/>
              <p:cNvSpPr/>
              <p:nvPr/>
            </p:nvSpPr>
            <p:spPr>
              <a:xfrm>
                <a:off x="8404023" y="4056929"/>
                <a:ext cx="484203" cy="40777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2</m:t>
                      </m:r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Rectangle 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4023" y="4056929"/>
                <a:ext cx="484203" cy="407774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3810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/>
              <p:cNvSpPr/>
              <p:nvPr/>
            </p:nvSpPr>
            <p:spPr>
              <a:xfrm>
                <a:off x="7724402" y="6058586"/>
                <a:ext cx="529203" cy="40777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4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Rectangle 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4402" y="6058586"/>
                <a:ext cx="529203" cy="407774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3810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60"/>
              <p:cNvSpPr/>
              <p:nvPr/>
            </p:nvSpPr>
            <p:spPr>
              <a:xfrm>
                <a:off x="4753510" y="6048771"/>
                <a:ext cx="529203" cy="40777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1" name="Rectangle 6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3510" y="6048771"/>
                <a:ext cx="529203" cy="407774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 w="3810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91819" y="1318925"/>
                <a:ext cx="8799555" cy="4351338"/>
              </a:xfrm>
            </p:spPr>
            <p:txBody>
              <a:bodyPr/>
              <a:lstStyle/>
              <a:p>
                <a:r>
                  <a:rPr lang="en-US" dirty="0"/>
                  <a:t>For k = 1,</a:t>
                </a:r>
                <a:r>
                  <a:rPr lang="mr-IN" dirty="0"/>
                  <a:t>…</a:t>
                </a:r>
                <a:r>
                  <a:rPr lang="en-US" dirty="0"/>
                  <a:t>,n-1:</a:t>
                </a:r>
              </a:p>
              <a:p>
                <a:pPr lvl="1"/>
                <a:r>
                  <a:rPr lang="en-US" dirty="0"/>
                  <a:t>For b in V:</a:t>
                </a:r>
              </a:p>
              <a:p>
                <a:pPr lvl="2"/>
                <a:r>
                  <a:rPr lang="en-US" sz="2400" dirty="0">
                    <a:solidFill>
                      <a:schemeClr val="accent4"/>
                    </a:solidFill>
                  </a:rPr>
                  <a:t>d</a:t>
                </a:r>
                <a:r>
                  <a:rPr lang="en-US" sz="2400" baseline="30000" dirty="0">
                    <a:solidFill>
                      <a:schemeClr val="accent4"/>
                    </a:solidFill>
                  </a:rPr>
                  <a:t>(k)</a:t>
                </a:r>
                <a:r>
                  <a:rPr lang="en-US" sz="2400" dirty="0">
                    <a:solidFill>
                      <a:schemeClr val="accent4"/>
                    </a:solidFill>
                  </a:rPr>
                  <a:t>[b]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4"/>
                        </a:solidFill>
                        <a:latin typeface="Cambria Math" charset="0"/>
                      </a:rPr>
                      <m:t>←</m:t>
                    </m:r>
                  </m:oMath>
                </a14:m>
                <a:r>
                  <a:rPr lang="en-US" sz="2400" dirty="0">
                    <a:solidFill>
                      <a:schemeClr val="accent4"/>
                    </a:solidFill>
                  </a:rPr>
                  <a:t> min{ 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d</a:t>
                </a:r>
                <a:r>
                  <a:rPr lang="en-US" sz="2400" baseline="30000" dirty="0">
                    <a:solidFill>
                      <a:schemeClr val="accent1"/>
                    </a:solidFill>
                  </a:rPr>
                  <a:t>(k-1)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[b],  </a:t>
                </a:r>
                <a:r>
                  <a:rPr lang="en-US" sz="2400" dirty="0">
                    <a:solidFill>
                      <a:schemeClr val="accent5"/>
                    </a:solidFill>
                  </a:rPr>
                  <a:t>min</a:t>
                </a:r>
                <a:r>
                  <a:rPr lang="en-US" sz="2400" baseline="-25000" dirty="0">
                    <a:solidFill>
                      <a:schemeClr val="accent5"/>
                    </a:solidFill>
                  </a:rPr>
                  <a:t>a</a:t>
                </a:r>
                <a:r>
                  <a:rPr lang="en-US" sz="2400" dirty="0">
                    <a:solidFill>
                      <a:schemeClr val="accent5"/>
                    </a:solidFill>
                  </a:rPr>
                  <a:t> {</a:t>
                </a:r>
                <a:r>
                  <a:rPr lang="en-US" sz="2400" dirty="0">
                    <a:solidFill>
                      <a:srgbClr val="7030A0"/>
                    </a:solidFill>
                  </a:rPr>
                  <a:t>d</a:t>
                </a:r>
                <a:r>
                  <a:rPr lang="en-US" sz="2400" baseline="30000" dirty="0">
                    <a:solidFill>
                      <a:srgbClr val="7030A0"/>
                    </a:solidFill>
                  </a:rPr>
                  <a:t>(k-1)</a:t>
                </a:r>
                <a:r>
                  <a:rPr lang="en-US" sz="2400" dirty="0">
                    <a:solidFill>
                      <a:srgbClr val="7030A0"/>
                    </a:solidFill>
                  </a:rPr>
                  <a:t>[a]  + weight(</a:t>
                </a:r>
                <a:r>
                  <a:rPr lang="en-US" sz="2400" dirty="0" err="1">
                    <a:solidFill>
                      <a:srgbClr val="7030A0"/>
                    </a:solidFill>
                  </a:rPr>
                  <a:t>a,b</a:t>
                </a:r>
                <a:r>
                  <a:rPr lang="en-US" sz="2400" dirty="0">
                    <a:solidFill>
                      <a:srgbClr val="7030A0"/>
                    </a:solidFill>
                  </a:rPr>
                  <a:t>)</a:t>
                </a:r>
                <a:r>
                  <a:rPr lang="en-US" sz="2400" dirty="0">
                    <a:solidFill>
                      <a:schemeClr val="accent5"/>
                    </a:solidFill>
                  </a:rPr>
                  <a:t>} </a:t>
                </a:r>
                <a:r>
                  <a:rPr lang="en-US" sz="2400" dirty="0">
                    <a:solidFill>
                      <a:schemeClr val="accent4"/>
                    </a:solidFill>
                  </a:rPr>
                  <a:t>}  </a:t>
                </a:r>
              </a:p>
            </p:txBody>
          </p:sp>
        </mc:Choice>
        <mc:Fallback xmlns="">
          <p:sp>
            <p:nvSpPr>
              <p:cNvPr id="5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1819" y="1318925"/>
                <a:ext cx="8799555" cy="4351338"/>
              </a:xfrm>
              <a:blipFill rotWithShape="0">
                <a:blip r:embed="rId8"/>
                <a:stretch>
                  <a:fillRect l="-124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61"/>
          <p:cNvSpPr txBox="1"/>
          <p:nvPr/>
        </p:nvSpPr>
        <p:spPr>
          <a:xfrm>
            <a:off x="4863414" y="900030"/>
            <a:ext cx="43387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/>
                </a:solidFill>
              </a:rPr>
              <a:t>d</a:t>
            </a:r>
            <a:r>
              <a:rPr lang="en-US" sz="2000" baseline="30000" dirty="0">
                <a:solidFill>
                  <a:schemeClr val="accent5"/>
                </a:solidFill>
              </a:rPr>
              <a:t>(k)</a:t>
            </a:r>
            <a:r>
              <a:rPr lang="en-US" sz="2000" dirty="0">
                <a:solidFill>
                  <a:schemeClr val="accent5"/>
                </a:solidFill>
              </a:rPr>
              <a:t>[a] is the cost of the shortest path from s to a with at most k edges in it.</a:t>
            </a:r>
          </a:p>
        </p:txBody>
      </p:sp>
    </p:spTree>
    <p:extLst>
      <p:ext uri="{BB962C8B-B14F-4D97-AF65-F5344CB8AC3E}">
        <p14:creationId xmlns:p14="http://schemas.microsoft.com/office/powerpoint/2010/main" val="11191142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964" y="-178625"/>
            <a:ext cx="7886700" cy="1325563"/>
          </a:xfrm>
        </p:spPr>
        <p:txBody>
          <a:bodyPr/>
          <a:lstStyle/>
          <a:p>
            <a:r>
              <a:rPr lang="en-US" dirty="0"/>
              <a:t>Bellman-Ford Algorithm* Example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4979973" y="3694251"/>
            <a:ext cx="3819582" cy="2617648"/>
            <a:chOff x="4695768" y="3523242"/>
            <a:chExt cx="3819582" cy="2617648"/>
          </a:xfrm>
        </p:grpSpPr>
        <p:sp>
          <p:nvSpPr>
            <p:cNvPr id="5" name="Oval 4"/>
            <p:cNvSpPr/>
            <p:nvPr/>
          </p:nvSpPr>
          <p:spPr>
            <a:xfrm>
              <a:off x="4695768" y="5366971"/>
              <a:ext cx="605481" cy="6054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t</a:t>
              </a:r>
            </a:p>
          </p:txBody>
        </p:sp>
        <p:cxnSp>
          <p:nvCxnSpPr>
            <p:cNvPr id="6" name="Straight Arrow Connector 5"/>
            <p:cNvCxnSpPr>
              <a:stCxn id="11" idx="2"/>
              <a:endCxn id="6" idx="6"/>
            </p:cNvCxnSpPr>
            <p:nvPr/>
          </p:nvCxnSpPr>
          <p:spPr>
            <a:xfrm flipH="1" flipV="1">
              <a:off x="5301249" y="5669712"/>
              <a:ext cx="1702859" cy="168438"/>
            </a:xfrm>
            <a:prstGeom prst="straightConnector1">
              <a:avLst/>
            </a:prstGeom>
            <a:ln w="44450">
              <a:solidFill>
                <a:schemeClr val="accent4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5849124" y="5753931"/>
              <a:ext cx="498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</a:rPr>
                <a:t>-2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5884391" y="3523242"/>
              <a:ext cx="605481" cy="6054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7909869" y="4128723"/>
              <a:ext cx="605481" cy="6054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u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7004108" y="5535409"/>
              <a:ext cx="605481" cy="6054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v</a:t>
              </a:r>
            </a:p>
          </p:txBody>
        </p:sp>
        <p:cxnSp>
          <p:nvCxnSpPr>
            <p:cNvPr id="11" name="Straight Arrow Connector 10"/>
            <p:cNvCxnSpPr>
              <a:stCxn id="9" idx="4"/>
              <a:endCxn id="11" idx="1"/>
            </p:cNvCxnSpPr>
            <p:nvPr/>
          </p:nvCxnSpPr>
          <p:spPr>
            <a:xfrm>
              <a:off x="6187132" y="4128723"/>
              <a:ext cx="905647" cy="1495357"/>
            </a:xfrm>
            <a:prstGeom prst="straightConnector1">
              <a:avLst/>
            </a:prstGeom>
            <a:ln w="44450">
              <a:solidFill>
                <a:schemeClr val="accent4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9" idx="6"/>
              <a:endCxn id="10" idx="1"/>
            </p:cNvCxnSpPr>
            <p:nvPr/>
          </p:nvCxnSpPr>
          <p:spPr>
            <a:xfrm>
              <a:off x="6489872" y="3825983"/>
              <a:ext cx="1508668" cy="391411"/>
            </a:xfrm>
            <a:prstGeom prst="straightConnector1">
              <a:avLst/>
            </a:prstGeom>
            <a:ln w="44450">
              <a:solidFill>
                <a:schemeClr val="accent4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10" idx="4"/>
              <a:endCxn id="11" idx="7"/>
            </p:cNvCxnSpPr>
            <p:nvPr/>
          </p:nvCxnSpPr>
          <p:spPr>
            <a:xfrm flipH="1">
              <a:off x="7520918" y="4734204"/>
              <a:ext cx="691692" cy="889876"/>
            </a:xfrm>
            <a:prstGeom prst="straightConnector1">
              <a:avLst/>
            </a:prstGeom>
            <a:ln w="44450">
              <a:solidFill>
                <a:schemeClr val="accent4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10" idx="2"/>
              <a:endCxn id="9" idx="5"/>
            </p:cNvCxnSpPr>
            <p:nvPr/>
          </p:nvCxnSpPr>
          <p:spPr>
            <a:xfrm flipH="1" flipV="1">
              <a:off x="6401201" y="4040052"/>
              <a:ext cx="1508668" cy="391412"/>
            </a:xfrm>
            <a:prstGeom prst="straightConnector1">
              <a:avLst/>
            </a:prstGeom>
            <a:ln w="44450">
              <a:solidFill>
                <a:schemeClr val="accent4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6301960" y="4788014"/>
              <a:ext cx="498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solidFill>
                    <a:schemeClr val="accent5"/>
                  </a:solidFill>
                </a:rPr>
                <a:t>5</a:t>
              </a:r>
              <a:endParaRPr lang="en-US" dirty="0">
                <a:solidFill>
                  <a:schemeClr val="accent5"/>
                </a:solidFill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232421" y="3652356"/>
              <a:ext cx="498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solidFill>
                    <a:schemeClr val="accent5"/>
                  </a:solidFill>
                </a:rPr>
                <a:t>2</a:t>
              </a:r>
              <a:endParaRPr lang="en-US" dirty="0">
                <a:solidFill>
                  <a:schemeClr val="accent5"/>
                </a:solidFill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919051" y="5086251"/>
              <a:ext cx="498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solidFill>
                    <a:schemeClr val="accent5"/>
                  </a:solidFill>
                </a:rPr>
                <a:t>2</a:t>
              </a:r>
              <a:endParaRPr lang="en-US" dirty="0">
                <a:solidFill>
                  <a:schemeClr val="accent5"/>
                </a:solidFill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111143" y="4300057"/>
              <a:ext cx="498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</a:rPr>
                <a:t>1</a:t>
              </a:r>
            </a:p>
          </p:txBody>
        </p:sp>
      </p:grpSp>
      <p:sp>
        <p:nvSpPr>
          <p:cNvPr id="19" name="Rectangle 18"/>
          <p:cNvSpPr/>
          <p:nvPr/>
        </p:nvSpPr>
        <p:spPr>
          <a:xfrm>
            <a:off x="976184" y="3336328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1663528" y="3336327"/>
                <a:ext cx="679621" cy="40777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∞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3528" y="3336327"/>
                <a:ext cx="679621" cy="407774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 w="3810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2350872" y="3336327"/>
                <a:ext cx="679621" cy="40777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0872" y="3336327"/>
                <a:ext cx="679621" cy="407774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 w="3810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3030493" y="3336327"/>
                <a:ext cx="679621" cy="40777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0493" y="3336327"/>
                <a:ext cx="679621" cy="40777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3810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/>
          <p:cNvSpPr txBox="1"/>
          <p:nvPr/>
        </p:nvSpPr>
        <p:spPr>
          <a:xfrm>
            <a:off x="1215785" y="2966995"/>
            <a:ext cx="2270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          u           v           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3146" y="3309381"/>
            <a:ext cx="5757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d</a:t>
            </a:r>
            <a:r>
              <a:rPr lang="en-US" sz="2400" baseline="30000" dirty="0"/>
              <a:t>(0)</a:t>
            </a:r>
            <a:endParaRPr lang="en-US" sz="2400" dirty="0"/>
          </a:p>
        </p:txBody>
      </p:sp>
      <p:sp>
        <p:nvSpPr>
          <p:cNvPr id="37" name="Rectangle 36"/>
          <p:cNvSpPr/>
          <p:nvPr/>
        </p:nvSpPr>
        <p:spPr>
          <a:xfrm>
            <a:off x="965180" y="4269600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52524" y="4269599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39868" y="4269599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/>
              <p:cNvSpPr/>
              <p:nvPr/>
            </p:nvSpPr>
            <p:spPr>
              <a:xfrm>
                <a:off x="3019489" y="4269599"/>
                <a:ext cx="679621" cy="40777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9489" y="4269599"/>
                <a:ext cx="679621" cy="40777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3810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/>
          <p:cNvSpPr txBox="1"/>
          <p:nvPr/>
        </p:nvSpPr>
        <p:spPr>
          <a:xfrm>
            <a:off x="1204781" y="3900267"/>
            <a:ext cx="2270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          u           v           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2142" y="4242653"/>
            <a:ext cx="5757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d</a:t>
            </a:r>
            <a:r>
              <a:rPr lang="en-US" sz="2400" baseline="30000" dirty="0"/>
              <a:t>(1)</a:t>
            </a:r>
            <a:endParaRPr lang="en-US" sz="2400" dirty="0"/>
          </a:p>
        </p:txBody>
      </p:sp>
      <p:sp>
        <p:nvSpPr>
          <p:cNvPr id="43" name="Rectangle 42"/>
          <p:cNvSpPr/>
          <p:nvPr/>
        </p:nvSpPr>
        <p:spPr>
          <a:xfrm>
            <a:off x="965180" y="5190887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652524" y="5190886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339868" y="5190886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019489" y="5190886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04781" y="4821554"/>
            <a:ext cx="2270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          u           v           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2142" y="5163940"/>
            <a:ext cx="5757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d</a:t>
            </a:r>
            <a:r>
              <a:rPr lang="en-US" sz="2400" baseline="30000" dirty="0"/>
              <a:t>(2)</a:t>
            </a:r>
            <a:endParaRPr lang="en-US" sz="2400" dirty="0"/>
          </a:p>
        </p:txBody>
      </p:sp>
      <p:sp>
        <p:nvSpPr>
          <p:cNvPr id="49" name="Rectangle 48"/>
          <p:cNvSpPr/>
          <p:nvPr/>
        </p:nvSpPr>
        <p:spPr>
          <a:xfrm>
            <a:off x="944857" y="6085228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632201" y="6085227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319545" y="6085227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99166" y="6085227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84458" y="5715895"/>
            <a:ext cx="2270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          u           v           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91819" y="6058281"/>
            <a:ext cx="5757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d</a:t>
            </a:r>
            <a:r>
              <a:rPr lang="en-US" sz="2400" baseline="30000" dirty="0"/>
              <a:t>(3)</a:t>
            </a:r>
            <a:endParaRPr lang="en-US" sz="2400" dirty="0"/>
          </a:p>
        </p:txBody>
      </p:sp>
      <p:sp>
        <p:nvSpPr>
          <p:cNvPr id="58" name="Rectangle 57"/>
          <p:cNvSpPr/>
          <p:nvPr/>
        </p:nvSpPr>
        <p:spPr>
          <a:xfrm>
            <a:off x="5900923" y="3581610"/>
            <a:ext cx="397904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/>
              <p:cNvSpPr/>
              <p:nvPr/>
            </p:nvSpPr>
            <p:spPr>
              <a:xfrm>
                <a:off x="8404023" y="4056929"/>
                <a:ext cx="484203" cy="40777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2</m:t>
                      </m:r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Rectangle 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4023" y="4056929"/>
                <a:ext cx="484203" cy="407774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3810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/>
              <p:cNvSpPr/>
              <p:nvPr/>
            </p:nvSpPr>
            <p:spPr>
              <a:xfrm>
                <a:off x="7724402" y="6058586"/>
                <a:ext cx="529203" cy="40777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4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Rectangle 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4402" y="6058586"/>
                <a:ext cx="529203" cy="407774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3810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60"/>
              <p:cNvSpPr/>
              <p:nvPr/>
            </p:nvSpPr>
            <p:spPr>
              <a:xfrm>
                <a:off x="4753510" y="6048771"/>
                <a:ext cx="529203" cy="40777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1" name="Rectangle 6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3510" y="6048771"/>
                <a:ext cx="529203" cy="407774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 w="3810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91819" y="1318925"/>
                <a:ext cx="8799555" cy="4351338"/>
              </a:xfrm>
            </p:spPr>
            <p:txBody>
              <a:bodyPr/>
              <a:lstStyle/>
              <a:p>
                <a:r>
                  <a:rPr lang="en-US" dirty="0"/>
                  <a:t>For k = 1,</a:t>
                </a:r>
                <a:r>
                  <a:rPr lang="mr-IN" dirty="0"/>
                  <a:t>…</a:t>
                </a:r>
                <a:r>
                  <a:rPr lang="en-US" dirty="0"/>
                  <a:t>,n-1:</a:t>
                </a:r>
              </a:p>
              <a:p>
                <a:pPr lvl="1"/>
                <a:r>
                  <a:rPr lang="en-US" dirty="0"/>
                  <a:t>For b in V:</a:t>
                </a:r>
              </a:p>
              <a:p>
                <a:pPr lvl="2"/>
                <a:r>
                  <a:rPr lang="en-US" sz="2400" dirty="0">
                    <a:solidFill>
                      <a:schemeClr val="accent4"/>
                    </a:solidFill>
                  </a:rPr>
                  <a:t>d</a:t>
                </a:r>
                <a:r>
                  <a:rPr lang="en-US" sz="2400" baseline="30000" dirty="0">
                    <a:solidFill>
                      <a:schemeClr val="accent4"/>
                    </a:solidFill>
                  </a:rPr>
                  <a:t>(k)</a:t>
                </a:r>
                <a:r>
                  <a:rPr lang="en-US" sz="2400" dirty="0">
                    <a:solidFill>
                      <a:schemeClr val="accent4"/>
                    </a:solidFill>
                  </a:rPr>
                  <a:t>[b]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4"/>
                        </a:solidFill>
                        <a:latin typeface="Cambria Math" charset="0"/>
                      </a:rPr>
                      <m:t>←</m:t>
                    </m:r>
                  </m:oMath>
                </a14:m>
                <a:r>
                  <a:rPr lang="en-US" sz="2400" dirty="0">
                    <a:solidFill>
                      <a:schemeClr val="accent4"/>
                    </a:solidFill>
                  </a:rPr>
                  <a:t> min{ 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d</a:t>
                </a:r>
                <a:r>
                  <a:rPr lang="en-US" sz="2400" baseline="30000" dirty="0">
                    <a:solidFill>
                      <a:schemeClr val="accent1"/>
                    </a:solidFill>
                  </a:rPr>
                  <a:t>(k-1)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[b],  </a:t>
                </a:r>
                <a:r>
                  <a:rPr lang="en-US" sz="2400" dirty="0">
                    <a:solidFill>
                      <a:schemeClr val="accent5"/>
                    </a:solidFill>
                  </a:rPr>
                  <a:t>min</a:t>
                </a:r>
                <a:r>
                  <a:rPr lang="en-US" sz="2400" baseline="-25000" dirty="0">
                    <a:solidFill>
                      <a:schemeClr val="accent5"/>
                    </a:solidFill>
                  </a:rPr>
                  <a:t>a</a:t>
                </a:r>
                <a:r>
                  <a:rPr lang="en-US" sz="2400" dirty="0">
                    <a:solidFill>
                      <a:schemeClr val="accent5"/>
                    </a:solidFill>
                  </a:rPr>
                  <a:t> {</a:t>
                </a:r>
                <a:r>
                  <a:rPr lang="en-US" sz="2400" dirty="0">
                    <a:solidFill>
                      <a:srgbClr val="7030A0"/>
                    </a:solidFill>
                  </a:rPr>
                  <a:t>d</a:t>
                </a:r>
                <a:r>
                  <a:rPr lang="en-US" sz="2400" baseline="30000" dirty="0">
                    <a:solidFill>
                      <a:srgbClr val="7030A0"/>
                    </a:solidFill>
                  </a:rPr>
                  <a:t>(k-1)</a:t>
                </a:r>
                <a:r>
                  <a:rPr lang="en-US" sz="2400" dirty="0">
                    <a:solidFill>
                      <a:srgbClr val="7030A0"/>
                    </a:solidFill>
                  </a:rPr>
                  <a:t>[a]  + weight(</a:t>
                </a:r>
                <a:r>
                  <a:rPr lang="en-US" sz="2400" dirty="0" err="1">
                    <a:solidFill>
                      <a:srgbClr val="7030A0"/>
                    </a:solidFill>
                  </a:rPr>
                  <a:t>a,b</a:t>
                </a:r>
                <a:r>
                  <a:rPr lang="en-US" sz="2400" dirty="0">
                    <a:solidFill>
                      <a:srgbClr val="7030A0"/>
                    </a:solidFill>
                  </a:rPr>
                  <a:t>)</a:t>
                </a:r>
                <a:r>
                  <a:rPr lang="en-US" sz="2400" dirty="0">
                    <a:solidFill>
                      <a:schemeClr val="accent5"/>
                    </a:solidFill>
                  </a:rPr>
                  <a:t>} </a:t>
                </a:r>
                <a:r>
                  <a:rPr lang="en-US" sz="2400" dirty="0">
                    <a:solidFill>
                      <a:schemeClr val="accent4"/>
                    </a:solidFill>
                  </a:rPr>
                  <a:t>}  </a:t>
                </a:r>
              </a:p>
            </p:txBody>
          </p:sp>
        </mc:Choice>
        <mc:Fallback xmlns="">
          <p:sp>
            <p:nvSpPr>
              <p:cNvPr id="5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1819" y="1318925"/>
                <a:ext cx="8799555" cy="4351338"/>
              </a:xfrm>
              <a:blipFill rotWithShape="0">
                <a:blip r:embed="rId8"/>
                <a:stretch>
                  <a:fillRect l="-124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61"/>
          <p:cNvSpPr txBox="1"/>
          <p:nvPr/>
        </p:nvSpPr>
        <p:spPr>
          <a:xfrm>
            <a:off x="4863414" y="900030"/>
            <a:ext cx="43387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/>
                </a:solidFill>
              </a:rPr>
              <a:t>d</a:t>
            </a:r>
            <a:r>
              <a:rPr lang="en-US" sz="2000" baseline="30000" dirty="0">
                <a:solidFill>
                  <a:schemeClr val="accent5"/>
                </a:solidFill>
              </a:rPr>
              <a:t>(k)</a:t>
            </a:r>
            <a:r>
              <a:rPr lang="en-US" sz="2000" dirty="0">
                <a:solidFill>
                  <a:schemeClr val="accent5"/>
                </a:solidFill>
              </a:rPr>
              <a:t>[a] is the cost of the shortest path from s to a with at most k edges in it.</a:t>
            </a:r>
          </a:p>
        </p:txBody>
      </p:sp>
    </p:spTree>
    <p:extLst>
      <p:ext uri="{BB962C8B-B14F-4D97-AF65-F5344CB8AC3E}">
        <p14:creationId xmlns:p14="http://schemas.microsoft.com/office/powerpoint/2010/main" val="2249237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964" y="-178625"/>
            <a:ext cx="7886700" cy="1325563"/>
          </a:xfrm>
        </p:spPr>
        <p:txBody>
          <a:bodyPr/>
          <a:lstStyle/>
          <a:p>
            <a:r>
              <a:rPr lang="en-US" dirty="0"/>
              <a:t>Bellman-Ford Algorithm* Example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4979973" y="3694251"/>
            <a:ext cx="3819582" cy="2617648"/>
            <a:chOff x="4695768" y="3523242"/>
            <a:chExt cx="3819582" cy="2617648"/>
          </a:xfrm>
        </p:grpSpPr>
        <p:sp>
          <p:nvSpPr>
            <p:cNvPr id="5" name="Oval 4"/>
            <p:cNvSpPr/>
            <p:nvPr/>
          </p:nvSpPr>
          <p:spPr>
            <a:xfrm>
              <a:off x="4695768" y="5366971"/>
              <a:ext cx="605481" cy="6054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t</a:t>
              </a:r>
            </a:p>
          </p:txBody>
        </p:sp>
        <p:cxnSp>
          <p:nvCxnSpPr>
            <p:cNvPr id="6" name="Straight Arrow Connector 5"/>
            <p:cNvCxnSpPr>
              <a:stCxn id="11" idx="2"/>
              <a:endCxn id="6" idx="6"/>
            </p:cNvCxnSpPr>
            <p:nvPr/>
          </p:nvCxnSpPr>
          <p:spPr>
            <a:xfrm flipH="1" flipV="1">
              <a:off x="5301249" y="5669712"/>
              <a:ext cx="1702859" cy="168438"/>
            </a:xfrm>
            <a:prstGeom prst="straightConnector1">
              <a:avLst/>
            </a:prstGeom>
            <a:ln w="44450">
              <a:solidFill>
                <a:schemeClr val="accent4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5849124" y="5753931"/>
              <a:ext cx="498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</a:rPr>
                <a:t>-2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5884391" y="3523242"/>
              <a:ext cx="605481" cy="6054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7909869" y="4128723"/>
              <a:ext cx="605481" cy="6054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u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7004108" y="5535409"/>
              <a:ext cx="605481" cy="6054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v</a:t>
              </a:r>
            </a:p>
          </p:txBody>
        </p:sp>
        <p:cxnSp>
          <p:nvCxnSpPr>
            <p:cNvPr id="11" name="Straight Arrow Connector 10"/>
            <p:cNvCxnSpPr>
              <a:stCxn id="9" idx="4"/>
              <a:endCxn id="11" idx="1"/>
            </p:cNvCxnSpPr>
            <p:nvPr/>
          </p:nvCxnSpPr>
          <p:spPr>
            <a:xfrm>
              <a:off x="6187132" y="4128723"/>
              <a:ext cx="905647" cy="1495357"/>
            </a:xfrm>
            <a:prstGeom prst="straightConnector1">
              <a:avLst/>
            </a:prstGeom>
            <a:ln w="44450">
              <a:solidFill>
                <a:schemeClr val="accent4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9" idx="6"/>
              <a:endCxn id="10" idx="1"/>
            </p:cNvCxnSpPr>
            <p:nvPr/>
          </p:nvCxnSpPr>
          <p:spPr>
            <a:xfrm>
              <a:off x="6489872" y="3825983"/>
              <a:ext cx="1508668" cy="391411"/>
            </a:xfrm>
            <a:prstGeom prst="straightConnector1">
              <a:avLst/>
            </a:prstGeom>
            <a:ln w="44450">
              <a:solidFill>
                <a:schemeClr val="accent4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10" idx="4"/>
              <a:endCxn id="11" idx="7"/>
            </p:cNvCxnSpPr>
            <p:nvPr/>
          </p:nvCxnSpPr>
          <p:spPr>
            <a:xfrm flipH="1">
              <a:off x="7520918" y="4734204"/>
              <a:ext cx="691692" cy="889876"/>
            </a:xfrm>
            <a:prstGeom prst="straightConnector1">
              <a:avLst/>
            </a:prstGeom>
            <a:ln w="44450">
              <a:solidFill>
                <a:schemeClr val="accent4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10" idx="2"/>
              <a:endCxn id="9" idx="5"/>
            </p:cNvCxnSpPr>
            <p:nvPr/>
          </p:nvCxnSpPr>
          <p:spPr>
            <a:xfrm flipH="1" flipV="1">
              <a:off x="6401201" y="4040052"/>
              <a:ext cx="1508668" cy="391412"/>
            </a:xfrm>
            <a:prstGeom prst="straightConnector1">
              <a:avLst/>
            </a:prstGeom>
            <a:ln w="44450">
              <a:solidFill>
                <a:schemeClr val="accent4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6301960" y="4788014"/>
              <a:ext cx="498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solidFill>
                    <a:schemeClr val="accent5"/>
                  </a:solidFill>
                </a:rPr>
                <a:t>5</a:t>
              </a:r>
              <a:endParaRPr lang="en-US" dirty="0">
                <a:solidFill>
                  <a:schemeClr val="accent5"/>
                </a:solidFill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232421" y="3652356"/>
              <a:ext cx="498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solidFill>
                    <a:schemeClr val="accent5"/>
                  </a:solidFill>
                </a:rPr>
                <a:t>2</a:t>
              </a:r>
              <a:endParaRPr lang="en-US" dirty="0">
                <a:solidFill>
                  <a:schemeClr val="accent5"/>
                </a:solidFill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919051" y="5086251"/>
              <a:ext cx="498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solidFill>
                    <a:schemeClr val="accent5"/>
                  </a:solidFill>
                </a:rPr>
                <a:t>2</a:t>
              </a:r>
              <a:endParaRPr lang="en-US" dirty="0">
                <a:solidFill>
                  <a:schemeClr val="accent5"/>
                </a:solidFill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111143" y="4300057"/>
              <a:ext cx="498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</a:rPr>
                <a:t>1</a:t>
              </a:r>
            </a:p>
          </p:txBody>
        </p:sp>
      </p:grpSp>
      <p:sp>
        <p:nvSpPr>
          <p:cNvPr id="19" name="Rectangle 18"/>
          <p:cNvSpPr/>
          <p:nvPr/>
        </p:nvSpPr>
        <p:spPr>
          <a:xfrm>
            <a:off x="976184" y="3336328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1663528" y="3336327"/>
                <a:ext cx="679621" cy="40777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∞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3528" y="3336327"/>
                <a:ext cx="679621" cy="407774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 w="3810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2350872" y="3336327"/>
                <a:ext cx="679621" cy="40777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0872" y="3336327"/>
                <a:ext cx="679621" cy="407774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 w="3810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3030493" y="3336327"/>
                <a:ext cx="679621" cy="40777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0493" y="3336327"/>
                <a:ext cx="679621" cy="40777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3810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/>
          <p:cNvSpPr txBox="1"/>
          <p:nvPr/>
        </p:nvSpPr>
        <p:spPr>
          <a:xfrm>
            <a:off x="1215785" y="2966995"/>
            <a:ext cx="2270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          u           v           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3146" y="3309381"/>
            <a:ext cx="5757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d</a:t>
            </a:r>
            <a:r>
              <a:rPr lang="en-US" sz="2400" baseline="30000" dirty="0"/>
              <a:t>(0)</a:t>
            </a:r>
            <a:endParaRPr lang="en-US" sz="2400" dirty="0"/>
          </a:p>
        </p:txBody>
      </p:sp>
      <p:sp>
        <p:nvSpPr>
          <p:cNvPr id="37" name="Rectangle 36"/>
          <p:cNvSpPr/>
          <p:nvPr/>
        </p:nvSpPr>
        <p:spPr>
          <a:xfrm>
            <a:off x="965180" y="4269600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52524" y="4269599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39868" y="4269599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/>
              <p:cNvSpPr/>
              <p:nvPr/>
            </p:nvSpPr>
            <p:spPr>
              <a:xfrm>
                <a:off x="3019489" y="4269599"/>
                <a:ext cx="679621" cy="40777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9489" y="4269599"/>
                <a:ext cx="679621" cy="40777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3810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/>
          <p:cNvSpPr txBox="1"/>
          <p:nvPr/>
        </p:nvSpPr>
        <p:spPr>
          <a:xfrm>
            <a:off x="1204781" y="3900267"/>
            <a:ext cx="2270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          u           v           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2142" y="4242653"/>
            <a:ext cx="5757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d</a:t>
            </a:r>
            <a:r>
              <a:rPr lang="en-US" sz="2400" baseline="30000" dirty="0"/>
              <a:t>(1)</a:t>
            </a:r>
            <a:endParaRPr lang="en-US" sz="2400" dirty="0"/>
          </a:p>
        </p:txBody>
      </p:sp>
      <p:sp>
        <p:nvSpPr>
          <p:cNvPr id="43" name="Rectangle 42"/>
          <p:cNvSpPr/>
          <p:nvPr/>
        </p:nvSpPr>
        <p:spPr>
          <a:xfrm>
            <a:off x="965180" y="5190887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652524" y="5190886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339868" y="5190886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019489" y="5190886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04781" y="4821554"/>
            <a:ext cx="2270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          u           v           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2142" y="5163940"/>
            <a:ext cx="5757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d</a:t>
            </a:r>
            <a:r>
              <a:rPr lang="en-US" sz="2400" baseline="30000" dirty="0"/>
              <a:t>(2)</a:t>
            </a:r>
            <a:endParaRPr lang="en-US" sz="2400" dirty="0"/>
          </a:p>
        </p:txBody>
      </p:sp>
      <p:sp>
        <p:nvSpPr>
          <p:cNvPr id="49" name="Rectangle 48"/>
          <p:cNvSpPr/>
          <p:nvPr/>
        </p:nvSpPr>
        <p:spPr>
          <a:xfrm>
            <a:off x="944857" y="6085228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632201" y="6085227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319545" y="6085227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99166" y="6085227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84458" y="5715895"/>
            <a:ext cx="2270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          u           v           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91819" y="6058281"/>
            <a:ext cx="5757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d</a:t>
            </a:r>
            <a:r>
              <a:rPr lang="en-US" sz="2400" baseline="30000" dirty="0"/>
              <a:t>(3)</a:t>
            </a:r>
            <a:endParaRPr lang="en-US" sz="2400" dirty="0"/>
          </a:p>
        </p:txBody>
      </p:sp>
      <p:sp>
        <p:nvSpPr>
          <p:cNvPr id="58" name="Rectangle 57"/>
          <p:cNvSpPr/>
          <p:nvPr/>
        </p:nvSpPr>
        <p:spPr>
          <a:xfrm>
            <a:off x="5900923" y="3581610"/>
            <a:ext cx="397904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/>
              <p:cNvSpPr/>
              <p:nvPr/>
            </p:nvSpPr>
            <p:spPr>
              <a:xfrm>
                <a:off x="8404023" y="4056929"/>
                <a:ext cx="484203" cy="40777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2</m:t>
                      </m:r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Rectangle 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4023" y="4056929"/>
                <a:ext cx="484203" cy="407774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3810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/>
              <p:cNvSpPr/>
              <p:nvPr/>
            </p:nvSpPr>
            <p:spPr>
              <a:xfrm>
                <a:off x="7724402" y="6058586"/>
                <a:ext cx="529203" cy="40777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4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Rectangle 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4402" y="6058586"/>
                <a:ext cx="529203" cy="407774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3810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60"/>
              <p:cNvSpPr/>
              <p:nvPr/>
            </p:nvSpPr>
            <p:spPr>
              <a:xfrm>
                <a:off x="4753510" y="6048771"/>
                <a:ext cx="529203" cy="40777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2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1" name="Rectangle 6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3510" y="6048771"/>
                <a:ext cx="529203" cy="407774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 w="3810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292964" y="1241777"/>
                <a:ext cx="8912056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chemeClr val="accent4"/>
                    </a:solidFill>
                  </a:rPr>
                  <a:t>SANITY CHECK:</a:t>
                </a:r>
              </a:p>
              <a:p>
                <a:pPr marL="285750" indent="-285750">
                  <a:buFont typeface="Arial" charset="0"/>
                  <a:buChar char="•"/>
                </a:pPr>
                <a:r>
                  <a:rPr lang="en-US" sz="2000" dirty="0"/>
                  <a:t>The shortest path with 1 edge from s to t has cost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∞</m:t>
                    </m:r>
                    <m:r>
                      <a:rPr lang="en-US" sz="2000" b="0" i="0" smtClean="0">
                        <a:solidFill>
                          <a:schemeClr val="tx1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solidFill>
                      <a:schemeClr val="accent1"/>
                    </a:solidFill>
                  </a:rPr>
                  <a:t>(there is no such path).</a:t>
                </a:r>
              </a:p>
              <a:p>
                <a:pPr marL="285750" indent="-285750">
                  <a:buFont typeface="Arial" charset="0"/>
                  <a:buChar char="•"/>
                </a:pPr>
                <a:r>
                  <a:rPr lang="en-US" sz="2000" dirty="0"/>
                  <a:t>The shortest path with 2 edges from s to t has cost 3.  </a:t>
                </a:r>
                <a:r>
                  <a:rPr lang="en-US" sz="2000" dirty="0">
                    <a:solidFill>
                      <a:srgbClr val="7030A0"/>
                    </a:solidFill>
                  </a:rPr>
                  <a:t>(s-v-t)</a:t>
                </a:r>
              </a:p>
              <a:p>
                <a:pPr marL="285750" indent="-285750">
                  <a:buFont typeface="Arial" charset="0"/>
                  <a:buChar char="•"/>
                </a:pPr>
                <a:r>
                  <a:rPr lang="en-US" sz="2000" dirty="0"/>
                  <a:t>The shortest path with 3 edges from s to t has cost 2. </a:t>
                </a:r>
                <a:r>
                  <a:rPr lang="en-US" sz="2000" dirty="0">
                    <a:solidFill>
                      <a:schemeClr val="accent4"/>
                    </a:solidFill>
                  </a:rPr>
                  <a:t>(s-u-v-t)</a:t>
                </a: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64" y="1241777"/>
                <a:ext cx="8912056" cy="1323439"/>
              </a:xfrm>
              <a:prstGeom prst="rect">
                <a:avLst/>
              </a:prstGeom>
              <a:blipFill rotWithShape="0">
                <a:blip r:embed="rId8"/>
                <a:stretch>
                  <a:fillRect l="-684" t="-2765" b="-7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/>
          <p:cNvSpPr txBox="1"/>
          <p:nvPr/>
        </p:nvSpPr>
        <p:spPr>
          <a:xfrm>
            <a:off x="4866254" y="775088"/>
            <a:ext cx="43387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/>
                </a:solidFill>
              </a:rPr>
              <a:t>d</a:t>
            </a:r>
            <a:r>
              <a:rPr lang="en-US" sz="2000" baseline="30000" dirty="0">
                <a:solidFill>
                  <a:schemeClr val="accent5"/>
                </a:solidFill>
              </a:rPr>
              <a:t>(k)</a:t>
            </a:r>
            <a:r>
              <a:rPr lang="en-US" sz="2000" dirty="0">
                <a:solidFill>
                  <a:schemeClr val="accent5"/>
                </a:solidFill>
              </a:rPr>
              <a:t>[a] is the cost of the shortest path from s to a with at most k edges in it.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3004" y="2516057"/>
            <a:ext cx="3534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7030A0"/>
                </a:solidFill>
              </a:rPr>
              <a:t>And this one is the shortest path!!!</a:t>
            </a:r>
          </a:p>
        </p:txBody>
      </p:sp>
    </p:spTree>
    <p:extLst>
      <p:ext uri="{BB962C8B-B14F-4D97-AF65-F5344CB8AC3E}">
        <p14:creationId xmlns:p14="http://schemas.microsoft.com/office/powerpoint/2010/main" val="284181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 we actually implement this?  </a:t>
            </a:r>
            <a:r>
              <a:rPr lang="en-US" sz="2700" dirty="0">
                <a:solidFill>
                  <a:schemeClr val="accent4"/>
                </a:solidFill>
              </a:rPr>
              <a:t>(This is what the * on all the previous slides was for).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515350" cy="4351338"/>
          </a:xfrm>
        </p:spPr>
        <p:txBody>
          <a:bodyPr/>
          <a:lstStyle/>
          <a:p>
            <a:r>
              <a:rPr lang="en-US" dirty="0"/>
              <a:t>Don’t actually keep all the arrays d</a:t>
            </a:r>
            <a:r>
              <a:rPr lang="en-US" baseline="30000" dirty="0"/>
              <a:t>(k)</a:t>
            </a:r>
            <a:r>
              <a:rPr lang="en-US" dirty="0"/>
              <a:t> around.</a:t>
            </a:r>
          </a:p>
          <a:p>
            <a:pPr lvl="1"/>
            <a:r>
              <a:rPr lang="en-US" dirty="0">
                <a:solidFill>
                  <a:schemeClr val="accent5"/>
                </a:solidFill>
              </a:rPr>
              <a:t>Just keep two of them at a time, that’s all we need.</a:t>
            </a:r>
          </a:p>
          <a:p>
            <a:r>
              <a:rPr lang="en-US" dirty="0"/>
              <a:t>Running time: O(</a:t>
            </a:r>
            <a:r>
              <a:rPr lang="en-US" dirty="0" err="1"/>
              <a:t>mn</a:t>
            </a:r>
            <a:r>
              <a:rPr lang="en-US" dirty="0"/>
              <a:t>)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That’s worse than Dijkstra, but BF can handle negative edge weights.</a:t>
            </a:r>
          </a:p>
          <a:p>
            <a:r>
              <a:rPr lang="en-US" dirty="0"/>
              <a:t>Space complexity: 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We need space to store the graph and two arrays of size n.</a:t>
            </a:r>
          </a:p>
          <a:p>
            <a:endParaRPr lang="en-US" dirty="0"/>
          </a:p>
          <a:p>
            <a:endParaRPr lang="en-US" b="1" dirty="0">
              <a:solidFill>
                <a:schemeClr val="accent5"/>
              </a:solidFill>
            </a:endParaRPr>
          </a:p>
          <a:p>
            <a:pPr lvl="2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359243" y="5576798"/>
            <a:ext cx="77847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</a:rPr>
              <a:t>*WARNING:</a:t>
            </a:r>
            <a:r>
              <a:rPr lang="en-US" dirty="0"/>
              <a:t> This is slightly different from the version of Bellman-Ford in CLRS.</a:t>
            </a:r>
          </a:p>
          <a:p>
            <a:r>
              <a:rPr lang="en-US" dirty="0">
                <a:solidFill>
                  <a:schemeClr val="accent4"/>
                </a:solidFill>
              </a:rPr>
              <a:t>But we will stick with what we just saw for pedagogical reasons.</a:t>
            </a:r>
          </a:p>
          <a:p>
            <a:r>
              <a:rPr lang="en-US" b="1" dirty="0">
                <a:solidFill>
                  <a:srgbClr val="FF0000"/>
                </a:solidFill>
              </a:rPr>
              <a:t>See Lecture Notes 11.5 (listed on the webpage in the Lecture 12 box) for notes on the analysis of the slightly different CLRS version.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5" y="5461686"/>
            <a:ext cx="1168629" cy="1396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448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964" y="-178625"/>
            <a:ext cx="7886700" cy="1325563"/>
          </a:xfrm>
        </p:spPr>
        <p:txBody>
          <a:bodyPr/>
          <a:lstStyle/>
          <a:p>
            <a:r>
              <a:rPr lang="en-US" dirty="0"/>
              <a:t>Bellman-Ford Algorithm*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92964" y="1407172"/>
                <a:ext cx="8121987" cy="3374893"/>
              </a:xfrm>
              <a:ln>
                <a:solidFill>
                  <a:schemeClr val="tx1"/>
                </a:solidFill>
              </a:ln>
            </p:spPr>
            <p:txBody>
              <a:bodyPr>
                <a:normAutofit/>
              </a:bodyPr>
              <a:lstStyle/>
              <a:p>
                <a:endParaRPr lang="en-US" sz="100" dirty="0">
                  <a:solidFill>
                    <a:schemeClr val="tx1"/>
                  </a:solidFill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Bellman-Ford*(G,s):</a:t>
                </a:r>
              </a:p>
              <a:p>
                <a:pPr lvl="1"/>
                <a:r>
                  <a:rPr lang="en-US" dirty="0">
                    <a:solidFill>
                      <a:schemeClr val="accent4"/>
                    </a:solidFill>
                  </a:rPr>
                  <a:t>Initialize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chemeClr val="accent4"/>
                    </a:solidFill>
                  </a:rPr>
                  <a:t>d</a:t>
                </a:r>
                <a:r>
                  <a:rPr lang="en-US" baseline="30000" dirty="0">
                    <a:solidFill>
                      <a:schemeClr val="accent4"/>
                    </a:solidFill>
                  </a:rPr>
                  <a:t>(k)</a:t>
                </a:r>
                <a:r>
                  <a:rPr lang="en-US" dirty="0">
                    <a:solidFill>
                      <a:schemeClr val="accent4"/>
                    </a:solidFill>
                  </a:rPr>
                  <a:t> for k = 0, </a:t>
                </a:r>
                <a:r>
                  <a:rPr lang="mr-IN" dirty="0">
                    <a:solidFill>
                      <a:schemeClr val="accent4"/>
                    </a:solidFill>
                  </a:rPr>
                  <a:t>…</a:t>
                </a:r>
                <a:r>
                  <a:rPr lang="en-US" dirty="0">
                    <a:solidFill>
                      <a:schemeClr val="accent4"/>
                    </a:solidFill>
                  </a:rPr>
                  <a:t>, n-1</a:t>
                </a:r>
                <a:endParaRPr lang="en-US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d</a:t>
                </a:r>
                <a:r>
                  <a:rPr lang="en-US" baseline="30000" dirty="0">
                    <a:solidFill>
                      <a:schemeClr val="accent1"/>
                    </a:solidFill>
                  </a:rPr>
                  <a:t>(0)</a:t>
                </a:r>
                <a:r>
                  <a:rPr lang="en-US" dirty="0">
                    <a:solidFill>
                      <a:schemeClr val="accent1"/>
                    </a:solidFill>
                  </a:rPr>
                  <a:t>[v] =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1"/>
                        </a:solidFill>
                        <a:latin typeface="Cambria Math" charset="0"/>
                      </a:rPr>
                      <m:t>∞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for all v other than s</a:t>
                </a: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d</a:t>
                </a:r>
                <a:r>
                  <a:rPr lang="en-US" baseline="30000" dirty="0">
                    <a:solidFill>
                      <a:schemeClr val="accent1"/>
                    </a:solidFill>
                  </a:rPr>
                  <a:t>(0)</a:t>
                </a:r>
                <a:r>
                  <a:rPr lang="en-US" dirty="0">
                    <a:solidFill>
                      <a:schemeClr val="accent1"/>
                    </a:solidFill>
                  </a:rPr>
                  <a:t>[s] = 0.</a:t>
                </a:r>
              </a:p>
              <a:p>
                <a:pPr lvl="1"/>
                <a:r>
                  <a:rPr lang="en-US" dirty="0"/>
                  <a:t>For k = 1, </a:t>
                </a:r>
                <a:r>
                  <a:rPr lang="mr-IN" dirty="0"/>
                  <a:t>…</a:t>
                </a:r>
                <a:r>
                  <a:rPr lang="en-US" dirty="0"/>
                  <a:t>, n-1:</a:t>
                </a:r>
              </a:p>
              <a:p>
                <a:pPr lvl="2"/>
                <a:r>
                  <a:rPr lang="en-US" dirty="0"/>
                  <a:t>For b in V:</a:t>
                </a:r>
              </a:p>
              <a:p>
                <a:pPr lvl="3"/>
                <a:r>
                  <a:rPr lang="en-US" sz="2200" dirty="0">
                    <a:solidFill>
                      <a:schemeClr val="accent4"/>
                    </a:solidFill>
                  </a:rPr>
                  <a:t>d</a:t>
                </a:r>
                <a:r>
                  <a:rPr lang="en-US" sz="2200" baseline="30000" dirty="0">
                    <a:solidFill>
                      <a:schemeClr val="accent4"/>
                    </a:solidFill>
                  </a:rPr>
                  <a:t>(k)</a:t>
                </a:r>
                <a:r>
                  <a:rPr lang="en-US" sz="2200" dirty="0">
                    <a:solidFill>
                      <a:schemeClr val="accent4"/>
                    </a:solidFill>
                  </a:rPr>
                  <a:t>[b] 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solidFill>
                          <a:schemeClr val="accent4"/>
                        </a:solidFill>
                        <a:latin typeface="Cambria Math" charset="0"/>
                      </a:rPr>
                      <m:t>←</m:t>
                    </m:r>
                  </m:oMath>
                </a14:m>
                <a:r>
                  <a:rPr lang="en-US" sz="2200" dirty="0">
                    <a:solidFill>
                      <a:schemeClr val="accent4"/>
                    </a:solidFill>
                  </a:rPr>
                  <a:t> min{ </a:t>
                </a:r>
                <a:r>
                  <a:rPr lang="en-US" sz="2200" dirty="0">
                    <a:solidFill>
                      <a:schemeClr val="accent1"/>
                    </a:solidFill>
                  </a:rPr>
                  <a:t>d</a:t>
                </a:r>
                <a:r>
                  <a:rPr lang="en-US" sz="2200" baseline="30000" dirty="0">
                    <a:solidFill>
                      <a:schemeClr val="accent1"/>
                    </a:solidFill>
                  </a:rPr>
                  <a:t>(k-1)</a:t>
                </a:r>
                <a:r>
                  <a:rPr lang="en-US" sz="2200" dirty="0">
                    <a:solidFill>
                      <a:schemeClr val="accent1"/>
                    </a:solidFill>
                  </a:rPr>
                  <a:t>[b],  </a:t>
                </a:r>
                <a:r>
                  <a:rPr lang="en-US" sz="2200" dirty="0">
                    <a:solidFill>
                      <a:schemeClr val="accent5"/>
                    </a:solidFill>
                  </a:rPr>
                  <a:t>min</a:t>
                </a:r>
                <a:r>
                  <a:rPr lang="en-US" sz="2200" baseline="-25000" dirty="0">
                    <a:solidFill>
                      <a:schemeClr val="accent5"/>
                    </a:solidFill>
                  </a:rPr>
                  <a:t>a</a:t>
                </a:r>
                <a:r>
                  <a:rPr lang="en-US" sz="2200" dirty="0">
                    <a:solidFill>
                      <a:schemeClr val="accent5"/>
                    </a:solidFill>
                  </a:rPr>
                  <a:t> {</a:t>
                </a:r>
                <a:r>
                  <a:rPr lang="en-US" sz="2200" dirty="0">
                    <a:solidFill>
                      <a:srgbClr val="7030A0"/>
                    </a:solidFill>
                  </a:rPr>
                  <a:t>d</a:t>
                </a:r>
                <a:r>
                  <a:rPr lang="en-US" sz="2200" baseline="30000" dirty="0">
                    <a:solidFill>
                      <a:srgbClr val="7030A0"/>
                    </a:solidFill>
                  </a:rPr>
                  <a:t>(k-1)</a:t>
                </a:r>
                <a:r>
                  <a:rPr lang="en-US" sz="2200" dirty="0">
                    <a:solidFill>
                      <a:srgbClr val="7030A0"/>
                    </a:solidFill>
                  </a:rPr>
                  <a:t>[a]  + weight(</a:t>
                </a:r>
                <a:r>
                  <a:rPr lang="en-US" sz="2200" dirty="0" err="1">
                    <a:solidFill>
                      <a:srgbClr val="7030A0"/>
                    </a:solidFill>
                  </a:rPr>
                  <a:t>a,b</a:t>
                </a:r>
                <a:r>
                  <a:rPr lang="en-US" sz="2200" dirty="0">
                    <a:solidFill>
                      <a:srgbClr val="7030A0"/>
                    </a:solidFill>
                  </a:rPr>
                  <a:t>)</a:t>
                </a:r>
                <a:r>
                  <a:rPr lang="en-US" sz="2200" dirty="0">
                    <a:solidFill>
                      <a:schemeClr val="accent5"/>
                    </a:solidFill>
                  </a:rPr>
                  <a:t>} </a:t>
                </a:r>
                <a:r>
                  <a:rPr lang="en-US" sz="2200" dirty="0">
                    <a:solidFill>
                      <a:schemeClr val="accent4"/>
                    </a:solidFill>
                  </a:rPr>
                  <a:t>}  </a:t>
                </a:r>
              </a:p>
              <a:p>
                <a:pPr lvl="1"/>
                <a:r>
                  <a:rPr lang="en-US" dirty="0"/>
                  <a:t>Return d</a:t>
                </a:r>
                <a:r>
                  <a:rPr lang="en-US" baseline="30000" dirty="0"/>
                  <a:t>(n-1)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2964" y="1407172"/>
                <a:ext cx="8121987" cy="3374893"/>
              </a:xfrm>
              <a:blipFill rotWithShape="0">
                <a:blip r:embed="rId2"/>
                <a:stretch>
                  <a:fillRect l="-1274" b="-126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 rot="21146035">
            <a:off x="5796031" y="657390"/>
            <a:ext cx="2982551" cy="954107"/>
          </a:xfrm>
          <a:prstGeom prst="rect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Let’s stick with this version though.</a:t>
            </a:r>
          </a:p>
        </p:txBody>
      </p:sp>
    </p:spTree>
    <p:extLst>
      <p:ext uri="{BB962C8B-B14F-4D97-AF65-F5344CB8AC3E}">
        <p14:creationId xmlns:p14="http://schemas.microsoft.com/office/powerpoint/2010/main" val="6639858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does it work?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First, we’ve been asserting that: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Technically, this requires proof!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We’ve basically already seen the proof!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It follows from induction with the inductive hypothesis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57362" y="2521414"/>
            <a:ext cx="6126249" cy="954107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chemeClr val="accent5"/>
                </a:solidFill>
              </a:rPr>
              <a:t>d</a:t>
            </a:r>
            <a:r>
              <a:rPr lang="en-US" sz="2800" baseline="30000">
                <a:solidFill>
                  <a:schemeClr val="accent5"/>
                </a:solidFill>
              </a:rPr>
              <a:t>(n-1)</a:t>
            </a:r>
            <a:r>
              <a:rPr lang="en-US" sz="2800">
                <a:solidFill>
                  <a:schemeClr val="accent5"/>
                </a:solidFill>
              </a:rPr>
              <a:t>[</a:t>
            </a:r>
            <a:r>
              <a:rPr lang="en-US" sz="2800" dirty="0">
                <a:solidFill>
                  <a:schemeClr val="accent5"/>
                </a:solidFill>
              </a:rPr>
              <a:t>a] is the cost of the shortest path from s to a with at </a:t>
            </a:r>
            <a:r>
              <a:rPr lang="en-US" sz="2800">
                <a:solidFill>
                  <a:schemeClr val="accent5"/>
                </a:solidFill>
              </a:rPr>
              <a:t>most n-1 </a:t>
            </a:r>
            <a:r>
              <a:rPr lang="en-US" sz="2800" dirty="0">
                <a:solidFill>
                  <a:schemeClr val="accent5"/>
                </a:solidFill>
              </a:rPr>
              <a:t>edges in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09071" y="5141326"/>
            <a:ext cx="4423719" cy="7078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d</a:t>
            </a:r>
            <a:r>
              <a:rPr lang="en-US" sz="2000" baseline="30000" dirty="0">
                <a:solidFill>
                  <a:schemeClr val="accent1"/>
                </a:solidFill>
              </a:rPr>
              <a:t>(k)</a:t>
            </a:r>
            <a:r>
              <a:rPr lang="en-US" sz="2000" dirty="0">
                <a:solidFill>
                  <a:schemeClr val="accent1"/>
                </a:solidFill>
              </a:rPr>
              <a:t>[a] is the cost of the shortest path from s to a with at most k edges in it.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11210" y="5590017"/>
            <a:ext cx="817989" cy="11738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6239" y="5396413"/>
            <a:ext cx="34104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Work out the details of this proof! (On your own, after class).  To help you, there’s an outline on the next slide.  (Which we’ll skip now).</a:t>
            </a:r>
          </a:p>
        </p:txBody>
      </p:sp>
    </p:spTree>
    <p:extLst>
      <p:ext uri="{BB962C8B-B14F-4D97-AF65-F5344CB8AC3E}">
        <p14:creationId xmlns:p14="http://schemas.microsoft.com/office/powerpoint/2010/main" val="719169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  <p:bldP spid="5" grpId="0" animBg="1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472" y="122809"/>
            <a:ext cx="7886700" cy="836717"/>
          </a:xfrm>
        </p:spPr>
        <p:txBody>
          <a:bodyPr>
            <a:normAutofit fontScale="90000"/>
          </a:bodyPr>
          <a:lstStyle/>
          <a:p>
            <a:r>
              <a:rPr lang="en-US" dirty="0"/>
              <a:t>Sketch of proof [skip this in lecture]</a:t>
            </a:r>
            <a:br>
              <a:rPr lang="en-US" sz="2700" dirty="0">
                <a:solidFill>
                  <a:schemeClr val="accent5"/>
                </a:solidFill>
              </a:rPr>
            </a:br>
            <a:r>
              <a:rPr lang="en-US" sz="2700" dirty="0">
                <a:solidFill>
                  <a:schemeClr val="accent5"/>
                </a:solidFill>
              </a:rPr>
              <a:t>that this thing we’ve been asserting is really true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7282" y="1362052"/>
            <a:ext cx="7886700" cy="6490473"/>
          </a:xfrm>
        </p:spPr>
        <p:txBody>
          <a:bodyPr>
            <a:normAutofit/>
          </a:bodyPr>
          <a:lstStyle/>
          <a:p>
            <a:r>
              <a:rPr lang="en-US" dirty="0"/>
              <a:t>Inductive hypothesis:</a:t>
            </a:r>
          </a:p>
          <a:p>
            <a:endParaRPr lang="en-US" dirty="0"/>
          </a:p>
          <a:p>
            <a:r>
              <a:rPr lang="en-US" dirty="0"/>
              <a:t>Base case:</a:t>
            </a:r>
          </a:p>
          <a:p>
            <a:endParaRPr lang="en-US" dirty="0"/>
          </a:p>
          <a:p>
            <a:r>
              <a:rPr lang="en-US" dirty="0"/>
              <a:t>Inductive step: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Conclusion: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30645" y="1369059"/>
            <a:ext cx="43387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/>
                </a:solidFill>
              </a:rPr>
              <a:t>d</a:t>
            </a:r>
            <a:r>
              <a:rPr lang="en-US" sz="2000" baseline="30000" dirty="0">
                <a:solidFill>
                  <a:schemeClr val="accent5"/>
                </a:solidFill>
              </a:rPr>
              <a:t>(k)</a:t>
            </a:r>
            <a:r>
              <a:rPr lang="en-US" sz="2000" dirty="0">
                <a:solidFill>
                  <a:schemeClr val="accent5"/>
                </a:solidFill>
              </a:rPr>
              <a:t>[a] is the cost of the shortest path from s to a with at most k edges in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080822" y="2388845"/>
            <a:ext cx="679621" cy="407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4768166" y="2388844"/>
                <a:ext cx="679621" cy="40777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∞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8166" y="2388844"/>
                <a:ext cx="679621" cy="407774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 w="3810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5455510" y="2388844"/>
                <a:ext cx="679621" cy="40777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5510" y="2388844"/>
                <a:ext cx="679621" cy="40777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3810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6135131" y="2388844"/>
                <a:ext cx="679621" cy="40777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5131" y="2388844"/>
                <a:ext cx="679621" cy="407774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 w="3810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2839737" y="2396508"/>
            <a:ext cx="43387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</a:rPr>
              <a:t>For k = 0:</a:t>
            </a:r>
            <a:endParaRPr lang="en-US" sz="2000" dirty="0">
              <a:solidFill>
                <a:schemeClr val="accent5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/>
              <p:cNvSpPr txBox="1">
                <a:spLocks/>
              </p:cNvSpPr>
              <p:nvPr/>
            </p:nvSpPr>
            <p:spPr>
              <a:xfrm>
                <a:off x="668813" y="3973542"/>
                <a:ext cx="8799555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1"/>
                <a:r>
                  <a:rPr lang="en-US" dirty="0">
                    <a:solidFill>
                      <a:schemeClr val="accent4"/>
                    </a:solidFill>
                  </a:rPr>
                  <a:t>d</a:t>
                </a:r>
                <a:r>
                  <a:rPr lang="en-US" baseline="30000" dirty="0">
                    <a:solidFill>
                      <a:schemeClr val="accent4"/>
                    </a:solidFill>
                  </a:rPr>
                  <a:t>(k)</a:t>
                </a:r>
                <a:r>
                  <a:rPr lang="en-US" dirty="0">
                    <a:solidFill>
                      <a:schemeClr val="accent4"/>
                    </a:solidFill>
                  </a:rPr>
                  <a:t>[b]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4"/>
                        </a:solidFill>
                        <a:latin typeface="Cambria Math" charset="0"/>
                      </a:rPr>
                      <m:t>←</m:t>
                    </m:r>
                  </m:oMath>
                </a14:m>
                <a:r>
                  <a:rPr lang="en-US" dirty="0">
                    <a:solidFill>
                      <a:schemeClr val="accent4"/>
                    </a:solidFill>
                  </a:rPr>
                  <a:t> min{ </a:t>
                </a:r>
                <a:r>
                  <a:rPr lang="en-US" dirty="0">
                    <a:solidFill>
                      <a:schemeClr val="accent1"/>
                    </a:solidFill>
                  </a:rPr>
                  <a:t>d</a:t>
                </a:r>
                <a:r>
                  <a:rPr lang="en-US" baseline="30000" dirty="0">
                    <a:solidFill>
                      <a:schemeClr val="accent1"/>
                    </a:solidFill>
                  </a:rPr>
                  <a:t>(k-1)</a:t>
                </a:r>
                <a:r>
                  <a:rPr lang="en-US" dirty="0">
                    <a:solidFill>
                      <a:schemeClr val="accent1"/>
                    </a:solidFill>
                  </a:rPr>
                  <a:t>[b],  </a:t>
                </a:r>
                <a:r>
                  <a:rPr lang="en-US" dirty="0">
                    <a:solidFill>
                      <a:schemeClr val="accent5"/>
                    </a:solidFill>
                  </a:rPr>
                  <a:t>min</a:t>
                </a:r>
                <a:r>
                  <a:rPr lang="en-US" baseline="-25000" dirty="0">
                    <a:solidFill>
                      <a:schemeClr val="accent5"/>
                    </a:solidFill>
                  </a:rPr>
                  <a:t>a</a:t>
                </a:r>
                <a:r>
                  <a:rPr lang="en-US" dirty="0">
                    <a:solidFill>
                      <a:schemeClr val="accent5"/>
                    </a:solidFill>
                  </a:rPr>
                  <a:t> {</a:t>
                </a:r>
                <a:r>
                  <a:rPr lang="en-US" dirty="0">
                    <a:solidFill>
                      <a:srgbClr val="7030A0"/>
                    </a:solidFill>
                  </a:rPr>
                  <a:t>d</a:t>
                </a:r>
                <a:r>
                  <a:rPr lang="en-US" baseline="30000" dirty="0">
                    <a:solidFill>
                      <a:srgbClr val="7030A0"/>
                    </a:solidFill>
                  </a:rPr>
                  <a:t>(k-1)</a:t>
                </a:r>
                <a:r>
                  <a:rPr lang="en-US" dirty="0">
                    <a:solidFill>
                      <a:srgbClr val="7030A0"/>
                    </a:solidFill>
                  </a:rPr>
                  <a:t>[a]  + weight(</a:t>
                </a:r>
                <a:r>
                  <a:rPr lang="en-US" dirty="0" err="1">
                    <a:solidFill>
                      <a:srgbClr val="7030A0"/>
                    </a:solidFill>
                  </a:rPr>
                  <a:t>a,b</a:t>
                </a:r>
                <a:r>
                  <a:rPr lang="en-US" dirty="0">
                    <a:solidFill>
                      <a:srgbClr val="7030A0"/>
                    </a:solidFill>
                  </a:rPr>
                  <a:t>)</a:t>
                </a:r>
                <a:r>
                  <a:rPr lang="en-US" dirty="0">
                    <a:solidFill>
                      <a:schemeClr val="accent5"/>
                    </a:solidFill>
                  </a:rPr>
                  <a:t>} </a:t>
                </a:r>
                <a:r>
                  <a:rPr lang="en-US" dirty="0">
                    <a:solidFill>
                      <a:schemeClr val="accent4"/>
                    </a:solidFill>
                  </a:rPr>
                  <a:t>}</a:t>
                </a:r>
              </a:p>
              <a:p>
                <a:pPr lvl="1"/>
                <a:endParaRPr lang="en-US" dirty="0">
                  <a:solidFill>
                    <a:schemeClr val="accent4"/>
                  </a:solidFill>
                </a:endParaRPr>
              </a:p>
              <a:p>
                <a:pPr lvl="1"/>
                <a:endParaRPr lang="en-US" sz="1400" dirty="0">
                  <a:solidFill>
                    <a:schemeClr val="accent4"/>
                  </a:solidFill>
                </a:endParaRPr>
              </a:p>
              <a:p>
                <a:pPr lvl="1"/>
                <a:r>
                  <a:rPr lang="en-US" dirty="0">
                    <a:solidFill>
                      <a:schemeClr val="accent4"/>
                    </a:solidFill>
                  </a:rPr>
                  <a:t>In either case, we make the correct update.</a:t>
                </a:r>
              </a:p>
            </p:txBody>
          </p:sp>
        </mc:Choice>
        <mc:Fallback xmlns="">
          <p:sp>
            <p:nvSpPr>
              <p:cNvPr id="10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813" y="3973542"/>
                <a:ext cx="8799555" cy="4351338"/>
              </a:xfrm>
              <a:prstGeom prst="rect">
                <a:avLst/>
              </a:prstGeom>
              <a:blipFill rotWithShape="0">
                <a:blip r:embed="rId4"/>
                <a:stretch>
                  <a:fillRect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2330796" y="4387232"/>
            <a:ext cx="31169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Case 1</a:t>
            </a:r>
            <a:r>
              <a:rPr lang="en-US" dirty="0">
                <a:solidFill>
                  <a:schemeClr val="accent1"/>
                </a:solidFill>
              </a:rPr>
              <a:t>: the shortest path from s to be has &lt;k edges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97949" y="3024761"/>
            <a:ext cx="34799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4C206E"/>
                </a:solidFill>
              </a:rPr>
              <a:t>Case 2</a:t>
            </a:r>
            <a:r>
              <a:rPr lang="en-US" dirty="0">
                <a:solidFill>
                  <a:srgbClr val="4C206E"/>
                </a:solidFill>
              </a:rPr>
              <a:t>: the shortest path from s to b of length at most k edges has exactly k edges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3093" y="5982909"/>
            <a:ext cx="43387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/>
                </a:solidFill>
              </a:rPr>
              <a:t>d</a:t>
            </a:r>
            <a:r>
              <a:rPr lang="en-US" sz="2000" baseline="30000" dirty="0">
                <a:solidFill>
                  <a:schemeClr val="accent5"/>
                </a:solidFill>
              </a:rPr>
              <a:t>(n-1)</a:t>
            </a:r>
            <a:r>
              <a:rPr lang="en-US" sz="2000" dirty="0">
                <a:solidFill>
                  <a:schemeClr val="accent5"/>
                </a:solidFill>
              </a:rPr>
              <a:t>[a] is the cost of the shortest path from s to a with at most n-1 edges in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7422" y="5597554"/>
            <a:ext cx="29578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4"/>
                </a:solidFill>
              </a:rPr>
              <a:t>When k = n-1, the </a:t>
            </a:r>
            <a:r>
              <a:rPr lang="en-US" dirty="0">
                <a:solidFill>
                  <a:schemeClr val="accent4"/>
                </a:solidFill>
              </a:rPr>
              <a:t>inductive hypothesis reads:</a:t>
            </a:r>
          </a:p>
        </p:txBody>
      </p:sp>
    </p:spTree>
    <p:extLst>
      <p:ext uri="{BB962C8B-B14F-4D97-AF65-F5344CB8AC3E}">
        <p14:creationId xmlns:p14="http://schemas.microsoft.com/office/powerpoint/2010/main" val="7640726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42705"/>
            <a:ext cx="7886700" cy="1340105"/>
          </a:xfrm>
        </p:spPr>
        <p:txBody>
          <a:bodyPr/>
          <a:lstStyle/>
          <a:p>
            <a:r>
              <a:rPr lang="en-US" dirty="0"/>
              <a:t>Is this the conclusion we want?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639408"/>
            <a:ext cx="8269761" cy="4218592"/>
          </a:xfrm>
        </p:spPr>
        <p:txBody>
          <a:bodyPr/>
          <a:lstStyle/>
          <a:p>
            <a:r>
              <a:rPr lang="en-US" dirty="0">
                <a:solidFill>
                  <a:schemeClr val="accent4"/>
                </a:solidFill>
              </a:rPr>
              <a:t>We still need to prove that this implies BF* is correct.</a:t>
            </a:r>
          </a:p>
          <a:p>
            <a:pPr lvl="1"/>
            <a:r>
              <a:rPr lang="en-US" dirty="0"/>
              <a:t>We return d</a:t>
            </a:r>
            <a:r>
              <a:rPr lang="en-US" baseline="30000" dirty="0"/>
              <a:t>(n-1)</a:t>
            </a:r>
          </a:p>
          <a:p>
            <a:pPr lvl="1"/>
            <a:r>
              <a:rPr lang="en-US" dirty="0"/>
              <a:t>Need to show d</a:t>
            </a:r>
            <a:r>
              <a:rPr lang="en-US" baseline="30000" dirty="0"/>
              <a:t>(n-1)</a:t>
            </a:r>
            <a:r>
              <a:rPr lang="en-US" dirty="0"/>
              <a:t>[a] = distance(</a:t>
            </a:r>
            <a:r>
              <a:rPr lang="en-US" dirty="0" err="1"/>
              <a:t>s,a</a:t>
            </a:r>
            <a:r>
              <a:rPr lang="en-US" dirty="0"/>
              <a:t>).</a:t>
            </a:r>
          </a:p>
          <a:p>
            <a:pPr lvl="1"/>
            <a:endParaRPr lang="en-US" dirty="0"/>
          </a:p>
          <a:p>
            <a:r>
              <a:rPr lang="en-US" dirty="0"/>
              <a:t>Enough to show: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4271" y="1410831"/>
            <a:ext cx="5055458" cy="830997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5"/>
                </a:solidFill>
              </a:rPr>
              <a:t>d</a:t>
            </a:r>
            <a:r>
              <a:rPr lang="en-US" sz="2400" baseline="30000" dirty="0">
                <a:solidFill>
                  <a:schemeClr val="accent5"/>
                </a:solidFill>
              </a:rPr>
              <a:t>(n-1)</a:t>
            </a:r>
            <a:r>
              <a:rPr lang="en-US" sz="2400" dirty="0">
                <a:solidFill>
                  <a:schemeClr val="accent5"/>
                </a:solidFill>
              </a:rPr>
              <a:t>[a] is the cost of the shortest path from s to a with at most n-1 edges in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0832" y="4893276"/>
            <a:ext cx="2706130" cy="1507524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Shortest path with at most n-1 edges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6664" y="4893276"/>
            <a:ext cx="2706130" cy="1507524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Shortest path with any number of edges</a:t>
            </a:r>
          </a:p>
        </p:txBody>
      </p:sp>
      <p:sp>
        <p:nvSpPr>
          <p:cNvPr id="7" name="Left-Right Arrow 6"/>
          <p:cNvSpPr/>
          <p:nvPr/>
        </p:nvSpPr>
        <p:spPr>
          <a:xfrm>
            <a:off x="3861872" y="5399902"/>
            <a:ext cx="1519881" cy="494271"/>
          </a:xfrm>
          <a:prstGeom prst="leftRightArrow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97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83" y="260408"/>
            <a:ext cx="1063522" cy="97301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9207" y="58763"/>
            <a:ext cx="7886700" cy="1325563"/>
          </a:xfrm>
        </p:spPr>
        <p:txBody>
          <a:bodyPr/>
          <a:lstStyle/>
          <a:p>
            <a:r>
              <a:rPr lang="en-US" dirty="0"/>
              <a:t>DANGER!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51578"/>
            <a:ext cx="4673580" cy="4351338"/>
          </a:xfrm>
        </p:spPr>
        <p:txBody>
          <a:bodyPr/>
          <a:lstStyle/>
          <a:p>
            <a:r>
              <a:rPr lang="en-US" dirty="0"/>
              <a:t>If the graph has a </a:t>
            </a:r>
            <a:r>
              <a:rPr lang="en-US" dirty="0">
                <a:solidFill>
                  <a:srgbClr val="FF0000"/>
                </a:solidFill>
              </a:rPr>
              <a:t>negative cycle</a:t>
            </a:r>
            <a:r>
              <a:rPr lang="en-US" dirty="0"/>
              <a:t>, this might not be true.</a:t>
            </a:r>
          </a:p>
          <a:p>
            <a:r>
              <a:rPr lang="en-US" dirty="0"/>
              <a:t>If there is a negative cycle, there may not be a shortest path between two vertices!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4735035" y="3824507"/>
            <a:ext cx="3819582" cy="2617648"/>
            <a:chOff x="4695768" y="3523242"/>
            <a:chExt cx="3819582" cy="2617648"/>
          </a:xfrm>
        </p:grpSpPr>
        <p:sp>
          <p:nvSpPr>
            <p:cNvPr id="7" name="Oval 6"/>
            <p:cNvSpPr/>
            <p:nvPr/>
          </p:nvSpPr>
          <p:spPr>
            <a:xfrm>
              <a:off x="4695768" y="5366971"/>
              <a:ext cx="605481" cy="6054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t</a:t>
              </a:r>
            </a:p>
          </p:txBody>
        </p:sp>
        <p:cxnSp>
          <p:nvCxnSpPr>
            <p:cNvPr id="8" name="Straight Arrow Connector 7"/>
            <p:cNvCxnSpPr>
              <a:endCxn id="14" idx="6"/>
            </p:cNvCxnSpPr>
            <p:nvPr/>
          </p:nvCxnSpPr>
          <p:spPr>
            <a:xfrm flipH="1" flipV="1">
              <a:off x="5301249" y="5669712"/>
              <a:ext cx="1702859" cy="168438"/>
            </a:xfrm>
            <a:prstGeom prst="straightConnector1">
              <a:avLst/>
            </a:prstGeom>
            <a:ln w="44450">
              <a:solidFill>
                <a:schemeClr val="accent4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5849124" y="5753931"/>
              <a:ext cx="498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</a:rPr>
                <a:t>-2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5884391" y="3523242"/>
              <a:ext cx="605481" cy="6054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7909869" y="4128723"/>
              <a:ext cx="605481" cy="6054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u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7004108" y="5535409"/>
              <a:ext cx="605481" cy="6054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v</a:t>
              </a:r>
            </a:p>
          </p:txBody>
        </p:sp>
        <p:cxnSp>
          <p:nvCxnSpPr>
            <p:cNvPr id="13" name="Straight Arrow Connector 12"/>
            <p:cNvCxnSpPr>
              <a:stCxn id="17" idx="6"/>
              <a:endCxn id="18" idx="1"/>
            </p:cNvCxnSpPr>
            <p:nvPr/>
          </p:nvCxnSpPr>
          <p:spPr>
            <a:xfrm>
              <a:off x="6489872" y="3825983"/>
              <a:ext cx="1508668" cy="391411"/>
            </a:xfrm>
            <a:prstGeom prst="straightConnector1">
              <a:avLst/>
            </a:prstGeom>
            <a:ln w="44450">
              <a:solidFill>
                <a:schemeClr val="accent4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18" idx="4"/>
            </p:cNvCxnSpPr>
            <p:nvPr/>
          </p:nvCxnSpPr>
          <p:spPr>
            <a:xfrm flipH="1">
              <a:off x="7520918" y="4734204"/>
              <a:ext cx="691692" cy="889876"/>
            </a:xfrm>
            <a:prstGeom prst="straightConnector1">
              <a:avLst/>
            </a:prstGeom>
            <a:ln w="44450">
              <a:solidFill>
                <a:schemeClr val="accent4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stCxn id="18" idx="2"/>
              <a:endCxn id="17" idx="5"/>
            </p:cNvCxnSpPr>
            <p:nvPr/>
          </p:nvCxnSpPr>
          <p:spPr>
            <a:xfrm flipH="1" flipV="1">
              <a:off x="6401201" y="4040052"/>
              <a:ext cx="1508668" cy="391412"/>
            </a:xfrm>
            <a:prstGeom prst="straightConnector1">
              <a:avLst/>
            </a:prstGeom>
            <a:ln w="44450">
              <a:solidFill>
                <a:schemeClr val="accent4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6876335" y="3617461"/>
              <a:ext cx="498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solidFill>
                    <a:schemeClr val="accent5"/>
                  </a:solidFill>
                </a:rPr>
                <a:t>2</a:t>
              </a:r>
              <a:endParaRPr lang="en-US" dirty="0">
                <a:solidFill>
                  <a:schemeClr val="accent5"/>
                </a:solidFill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919051" y="5086251"/>
              <a:ext cx="498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</a:rPr>
                <a:t>2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111143" y="4300057"/>
              <a:ext cx="498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</a:rPr>
                <a:t>1</a:t>
              </a:r>
            </a:p>
          </p:txBody>
        </p:sp>
      </p:grpSp>
      <p:sp>
        <p:nvSpPr>
          <p:cNvPr id="19" name="Freeform 18"/>
          <p:cNvSpPr/>
          <p:nvPr/>
        </p:nvSpPr>
        <p:spPr>
          <a:xfrm>
            <a:off x="5669777" y="3058430"/>
            <a:ext cx="3364557" cy="3550031"/>
          </a:xfrm>
          <a:custGeom>
            <a:avLst/>
            <a:gdLst>
              <a:gd name="connsiteX0" fmla="*/ 671436 w 3364557"/>
              <a:gd name="connsiteY0" fmla="*/ 928018 h 3550031"/>
              <a:gd name="connsiteX1" fmla="*/ 1548766 w 3364557"/>
              <a:gd name="connsiteY1" fmla="*/ 717953 h 3550031"/>
              <a:gd name="connsiteX2" fmla="*/ 2846226 w 3364557"/>
              <a:gd name="connsiteY2" fmla="*/ 1508786 h 3550031"/>
              <a:gd name="connsiteX3" fmla="*/ 2302528 w 3364557"/>
              <a:gd name="connsiteY3" fmla="*/ 3485867 h 3550031"/>
              <a:gd name="connsiteX4" fmla="*/ 671436 w 3364557"/>
              <a:gd name="connsiteY4" fmla="*/ 2756818 h 3550031"/>
              <a:gd name="connsiteX5" fmla="*/ 325447 w 3364557"/>
              <a:gd name="connsiteY5" fmla="*/ 1162797 h 3550031"/>
              <a:gd name="connsiteX6" fmla="*/ 1140993 w 3364557"/>
              <a:gd name="connsiteY6" fmla="*/ 816807 h 3550031"/>
              <a:gd name="connsiteX7" fmla="*/ 2389026 w 3364557"/>
              <a:gd name="connsiteY7" fmla="*/ 1385218 h 3550031"/>
              <a:gd name="connsiteX8" fmla="*/ 3142788 w 3364557"/>
              <a:gd name="connsiteY8" fmla="*/ 2497326 h 3550031"/>
              <a:gd name="connsiteX9" fmla="*/ 2623804 w 3364557"/>
              <a:gd name="connsiteY9" fmla="*/ 3300515 h 3550031"/>
              <a:gd name="connsiteX10" fmla="*/ 869145 w 3364557"/>
              <a:gd name="connsiteY10" fmla="*/ 3325229 h 3550031"/>
              <a:gd name="connsiteX11" fmla="*/ 201880 w 3364557"/>
              <a:gd name="connsiteY11" fmla="*/ 2015413 h 3550031"/>
              <a:gd name="connsiteX12" fmla="*/ 523155 w 3364557"/>
              <a:gd name="connsiteY12" fmla="*/ 483175 h 3550031"/>
              <a:gd name="connsiteX13" fmla="*/ 1931826 w 3364557"/>
              <a:gd name="connsiteY13" fmla="*/ 767380 h 3550031"/>
              <a:gd name="connsiteX14" fmla="*/ 3155145 w 3364557"/>
              <a:gd name="connsiteY14" fmla="*/ 2101910 h 3550031"/>
              <a:gd name="connsiteX15" fmla="*/ 2994507 w 3364557"/>
              <a:gd name="connsiteY15" fmla="*/ 3164591 h 3550031"/>
              <a:gd name="connsiteX16" fmla="*/ 1820615 w 3364557"/>
              <a:gd name="connsiteY16" fmla="*/ 3337586 h 3550031"/>
              <a:gd name="connsiteX17" fmla="*/ 683793 w 3364557"/>
              <a:gd name="connsiteY17" fmla="*/ 2657964 h 3550031"/>
              <a:gd name="connsiteX18" fmla="*/ 362518 w 3364557"/>
              <a:gd name="connsiteY18" fmla="*/ 1236937 h 3550031"/>
              <a:gd name="connsiteX19" fmla="*/ 757934 w 3364557"/>
              <a:gd name="connsiteY19" fmla="*/ 507888 h 3550031"/>
              <a:gd name="connsiteX20" fmla="*/ 2290172 w 3364557"/>
              <a:gd name="connsiteY20" fmla="*/ 853878 h 3550031"/>
              <a:gd name="connsiteX21" fmla="*/ 3130431 w 3364557"/>
              <a:gd name="connsiteY21" fmla="*/ 2423186 h 3550031"/>
              <a:gd name="connsiteX22" fmla="*/ 2883296 w 3364557"/>
              <a:gd name="connsiteY22" fmla="*/ 3078094 h 3550031"/>
              <a:gd name="connsiteX23" fmla="*/ 1672334 w 3364557"/>
              <a:gd name="connsiteY23" fmla="*/ 3115164 h 3550031"/>
              <a:gd name="connsiteX24" fmla="*/ 584939 w 3364557"/>
              <a:gd name="connsiteY24" fmla="*/ 2225478 h 3550031"/>
              <a:gd name="connsiteX25" fmla="*/ 597296 w 3364557"/>
              <a:gd name="connsiteY25" fmla="*/ 717953 h 3550031"/>
              <a:gd name="connsiteX26" fmla="*/ 1820615 w 3364557"/>
              <a:gd name="connsiteY26" fmla="*/ 384321 h 3550031"/>
              <a:gd name="connsiteX27" fmla="*/ 2796799 w 3364557"/>
              <a:gd name="connsiteY27" fmla="*/ 1619997 h 3550031"/>
              <a:gd name="connsiteX28" fmla="*/ 2710301 w 3364557"/>
              <a:gd name="connsiteY28" fmla="*/ 2732105 h 3550031"/>
              <a:gd name="connsiteX29" fmla="*/ 1931826 w 3364557"/>
              <a:gd name="connsiteY29" fmla="*/ 3436440 h 3550031"/>
              <a:gd name="connsiteX30" fmla="*/ 745577 w 3364557"/>
              <a:gd name="connsiteY30" fmla="*/ 3288159 h 3550031"/>
              <a:gd name="connsiteX31" fmla="*/ 4172 w 3364557"/>
              <a:gd name="connsiteY31" fmla="*/ 989802 h 3550031"/>
              <a:gd name="connsiteX32" fmla="*/ 1066853 w 3364557"/>
              <a:gd name="connsiteY32" fmla="*/ 1261 h 3550031"/>
              <a:gd name="connsiteX33" fmla="*/ 2426096 w 3364557"/>
              <a:gd name="connsiteY33" fmla="*/ 1162797 h 3550031"/>
              <a:gd name="connsiteX34" fmla="*/ 2821512 w 3364557"/>
              <a:gd name="connsiteY34" fmla="*/ 2237834 h 3550031"/>
              <a:gd name="connsiteX35" fmla="*/ 2747372 w 3364557"/>
              <a:gd name="connsiteY35" fmla="*/ 3251088 h 3550031"/>
              <a:gd name="connsiteX36" fmla="*/ 1598193 w 3364557"/>
              <a:gd name="connsiteY36" fmla="*/ 3275802 h 3550031"/>
              <a:gd name="connsiteX37" fmla="*/ 696150 w 3364557"/>
              <a:gd name="connsiteY37" fmla="*/ 2546753 h 3550031"/>
              <a:gd name="connsiteX38" fmla="*/ 387231 w 3364557"/>
              <a:gd name="connsiteY38" fmla="*/ 396678 h 3550031"/>
              <a:gd name="connsiteX39" fmla="*/ 2018323 w 3364557"/>
              <a:gd name="connsiteY39" fmla="*/ 248397 h 3550031"/>
              <a:gd name="connsiteX40" fmla="*/ 3328139 w 3364557"/>
              <a:gd name="connsiteY40" fmla="*/ 2064840 h 3550031"/>
              <a:gd name="connsiteX41" fmla="*/ 2945080 w 3364557"/>
              <a:gd name="connsiteY41" fmla="*/ 3263445 h 3550031"/>
              <a:gd name="connsiteX42" fmla="*/ 2364312 w 3364557"/>
              <a:gd name="connsiteY42" fmla="*/ 3325229 h 3550031"/>
              <a:gd name="connsiteX43" fmla="*/ 1029782 w 3364557"/>
              <a:gd name="connsiteY43" fmla="*/ 3201661 h 3550031"/>
              <a:gd name="connsiteX44" fmla="*/ 622009 w 3364557"/>
              <a:gd name="connsiteY44" fmla="*/ 1101013 h 3550031"/>
              <a:gd name="connsiteX45" fmla="*/ 2018323 w 3364557"/>
              <a:gd name="connsiteY45" fmla="*/ 594386 h 3550031"/>
              <a:gd name="connsiteX46" fmla="*/ 2846226 w 3364557"/>
              <a:gd name="connsiteY46" fmla="*/ 1718851 h 3550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3364557" h="3550031">
                <a:moveTo>
                  <a:pt x="671436" y="928018"/>
                </a:moveTo>
                <a:cubicBezTo>
                  <a:pt x="928868" y="774588"/>
                  <a:pt x="1186301" y="621158"/>
                  <a:pt x="1548766" y="717953"/>
                </a:cubicBezTo>
                <a:cubicBezTo>
                  <a:pt x="1911231" y="814748"/>
                  <a:pt x="2720599" y="1047467"/>
                  <a:pt x="2846226" y="1508786"/>
                </a:cubicBezTo>
                <a:cubicBezTo>
                  <a:pt x="2971853" y="1970105"/>
                  <a:pt x="2664993" y="3277862"/>
                  <a:pt x="2302528" y="3485867"/>
                </a:cubicBezTo>
                <a:cubicBezTo>
                  <a:pt x="1940063" y="3693872"/>
                  <a:pt x="1000949" y="3143996"/>
                  <a:pt x="671436" y="2756818"/>
                </a:cubicBezTo>
                <a:cubicBezTo>
                  <a:pt x="341923" y="2369640"/>
                  <a:pt x="247187" y="1486132"/>
                  <a:pt x="325447" y="1162797"/>
                </a:cubicBezTo>
                <a:cubicBezTo>
                  <a:pt x="403706" y="839462"/>
                  <a:pt x="797063" y="779737"/>
                  <a:pt x="1140993" y="816807"/>
                </a:cubicBezTo>
                <a:cubicBezTo>
                  <a:pt x="1484923" y="853877"/>
                  <a:pt x="2055394" y="1105132"/>
                  <a:pt x="2389026" y="1385218"/>
                </a:cubicBezTo>
                <a:cubicBezTo>
                  <a:pt x="2722658" y="1665304"/>
                  <a:pt x="3103658" y="2178110"/>
                  <a:pt x="3142788" y="2497326"/>
                </a:cubicBezTo>
                <a:cubicBezTo>
                  <a:pt x="3181918" y="2816542"/>
                  <a:pt x="3002745" y="3162531"/>
                  <a:pt x="2623804" y="3300515"/>
                </a:cubicBezTo>
                <a:cubicBezTo>
                  <a:pt x="2244864" y="3438499"/>
                  <a:pt x="1272799" y="3539413"/>
                  <a:pt x="869145" y="3325229"/>
                </a:cubicBezTo>
                <a:cubicBezTo>
                  <a:pt x="465491" y="3111045"/>
                  <a:pt x="259545" y="2489089"/>
                  <a:pt x="201880" y="2015413"/>
                </a:cubicBezTo>
                <a:cubicBezTo>
                  <a:pt x="144215" y="1541737"/>
                  <a:pt x="234831" y="691180"/>
                  <a:pt x="523155" y="483175"/>
                </a:cubicBezTo>
                <a:cubicBezTo>
                  <a:pt x="811479" y="275170"/>
                  <a:pt x="1493161" y="497591"/>
                  <a:pt x="1931826" y="767380"/>
                </a:cubicBezTo>
                <a:cubicBezTo>
                  <a:pt x="2370491" y="1037169"/>
                  <a:pt x="2978032" y="1702375"/>
                  <a:pt x="3155145" y="2101910"/>
                </a:cubicBezTo>
                <a:cubicBezTo>
                  <a:pt x="3332258" y="2501445"/>
                  <a:pt x="3216929" y="2958645"/>
                  <a:pt x="2994507" y="3164591"/>
                </a:cubicBezTo>
                <a:cubicBezTo>
                  <a:pt x="2772085" y="3370537"/>
                  <a:pt x="2205734" y="3422024"/>
                  <a:pt x="1820615" y="3337586"/>
                </a:cubicBezTo>
                <a:cubicBezTo>
                  <a:pt x="1435496" y="3253148"/>
                  <a:pt x="926809" y="3008072"/>
                  <a:pt x="683793" y="2657964"/>
                </a:cubicBezTo>
                <a:cubicBezTo>
                  <a:pt x="440777" y="2307856"/>
                  <a:pt x="350161" y="1595283"/>
                  <a:pt x="362518" y="1236937"/>
                </a:cubicBezTo>
                <a:cubicBezTo>
                  <a:pt x="374875" y="878591"/>
                  <a:pt x="436658" y="571731"/>
                  <a:pt x="757934" y="507888"/>
                </a:cubicBezTo>
                <a:cubicBezTo>
                  <a:pt x="1079210" y="444045"/>
                  <a:pt x="1894756" y="534662"/>
                  <a:pt x="2290172" y="853878"/>
                </a:cubicBezTo>
                <a:cubicBezTo>
                  <a:pt x="2685588" y="1173094"/>
                  <a:pt x="3031577" y="2052483"/>
                  <a:pt x="3130431" y="2423186"/>
                </a:cubicBezTo>
                <a:cubicBezTo>
                  <a:pt x="3229285" y="2793889"/>
                  <a:pt x="3126312" y="2962764"/>
                  <a:pt x="2883296" y="3078094"/>
                </a:cubicBezTo>
                <a:cubicBezTo>
                  <a:pt x="2640280" y="3193424"/>
                  <a:pt x="2055393" y="3257267"/>
                  <a:pt x="1672334" y="3115164"/>
                </a:cubicBezTo>
                <a:cubicBezTo>
                  <a:pt x="1289275" y="2973061"/>
                  <a:pt x="764112" y="2625013"/>
                  <a:pt x="584939" y="2225478"/>
                </a:cubicBezTo>
                <a:cubicBezTo>
                  <a:pt x="405766" y="1825943"/>
                  <a:pt x="391350" y="1024813"/>
                  <a:pt x="597296" y="717953"/>
                </a:cubicBezTo>
                <a:cubicBezTo>
                  <a:pt x="803242" y="411093"/>
                  <a:pt x="1454031" y="233980"/>
                  <a:pt x="1820615" y="384321"/>
                </a:cubicBezTo>
                <a:cubicBezTo>
                  <a:pt x="2187199" y="534662"/>
                  <a:pt x="2648518" y="1228700"/>
                  <a:pt x="2796799" y="1619997"/>
                </a:cubicBezTo>
                <a:cubicBezTo>
                  <a:pt x="2945080" y="2011294"/>
                  <a:pt x="2854463" y="2429365"/>
                  <a:pt x="2710301" y="2732105"/>
                </a:cubicBezTo>
                <a:cubicBezTo>
                  <a:pt x="2566139" y="3034846"/>
                  <a:pt x="2259280" y="3343764"/>
                  <a:pt x="1931826" y="3436440"/>
                </a:cubicBezTo>
                <a:cubicBezTo>
                  <a:pt x="1604372" y="3529116"/>
                  <a:pt x="1066853" y="3695932"/>
                  <a:pt x="745577" y="3288159"/>
                </a:cubicBezTo>
                <a:cubicBezTo>
                  <a:pt x="424301" y="2880386"/>
                  <a:pt x="-49374" y="1537618"/>
                  <a:pt x="4172" y="989802"/>
                </a:cubicBezTo>
                <a:cubicBezTo>
                  <a:pt x="57718" y="441986"/>
                  <a:pt x="663199" y="-27572"/>
                  <a:pt x="1066853" y="1261"/>
                </a:cubicBezTo>
                <a:cubicBezTo>
                  <a:pt x="1470507" y="30093"/>
                  <a:pt x="2133653" y="790035"/>
                  <a:pt x="2426096" y="1162797"/>
                </a:cubicBezTo>
                <a:cubicBezTo>
                  <a:pt x="2718539" y="1535559"/>
                  <a:pt x="2767966" y="1889786"/>
                  <a:pt x="2821512" y="2237834"/>
                </a:cubicBezTo>
                <a:cubicBezTo>
                  <a:pt x="2875058" y="2585882"/>
                  <a:pt x="2951259" y="3078093"/>
                  <a:pt x="2747372" y="3251088"/>
                </a:cubicBezTo>
                <a:cubicBezTo>
                  <a:pt x="2543485" y="3424083"/>
                  <a:pt x="1940063" y="3393191"/>
                  <a:pt x="1598193" y="3275802"/>
                </a:cubicBezTo>
                <a:cubicBezTo>
                  <a:pt x="1256323" y="3158413"/>
                  <a:pt x="897977" y="3026607"/>
                  <a:pt x="696150" y="2546753"/>
                </a:cubicBezTo>
                <a:cubicBezTo>
                  <a:pt x="494323" y="2066899"/>
                  <a:pt x="166869" y="779737"/>
                  <a:pt x="387231" y="396678"/>
                </a:cubicBezTo>
                <a:cubicBezTo>
                  <a:pt x="607593" y="13619"/>
                  <a:pt x="1528172" y="-29630"/>
                  <a:pt x="2018323" y="248397"/>
                </a:cubicBezTo>
                <a:cubicBezTo>
                  <a:pt x="2508474" y="526424"/>
                  <a:pt x="3173680" y="1562332"/>
                  <a:pt x="3328139" y="2064840"/>
                </a:cubicBezTo>
                <a:cubicBezTo>
                  <a:pt x="3482598" y="2567348"/>
                  <a:pt x="3105718" y="3053380"/>
                  <a:pt x="2945080" y="3263445"/>
                </a:cubicBezTo>
                <a:cubicBezTo>
                  <a:pt x="2784442" y="3473510"/>
                  <a:pt x="2683528" y="3335526"/>
                  <a:pt x="2364312" y="3325229"/>
                </a:cubicBezTo>
                <a:cubicBezTo>
                  <a:pt x="2045096" y="3314932"/>
                  <a:pt x="1320166" y="3572364"/>
                  <a:pt x="1029782" y="3201661"/>
                </a:cubicBezTo>
                <a:cubicBezTo>
                  <a:pt x="739398" y="2830958"/>
                  <a:pt x="457252" y="1535559"/>
                  <a:pt x="622009" y="1101013"/>
                </a:cubicBezTo>
                <a:cubicBezTo>
                  <a:pt x="786766" y="666467"/>
                  <a:pt x="1647620" y="491413"/>
                  <a:pt x="2018323" y="594386"/>
                </a:cubicBezTo>
                <a:cubicBezTo>
                  <a:pt x="2389026" y="697359"/>
                  <a:pt x="2617626" y="1208105"/>
                  <a:pt x="2846226" y="1718851"/>
                </a:cubicBezTo>
              </a:path>
            </a:pathLst>
          </a:custGeom>
          <a:noFill/>
          <a:ln w="22225">
            <a:solidFill>
              <a:srgbClr val="FF00EB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6736044" y="4976226"/>
            <a:ext cx="498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5"/>
                </a:solidFill>
              </a:rPr>
              <a:t>-5</a:t>
            </a:r>
            <a:endParaRPr lang="en-US" dirty="0">
              <a:solidFill>
                <a:schemeClr val="accent5"/>
              </a:solidFill>
            </a:endParaRPr>
          </a:p>
        </p:txBody>
      </p:sp>
      <p:cxnSp>
        <p:nvCxnSpPr>
          <p:cNvPr id="21" name="Straight Arrow Connector 20"/>
          <p:cNvCxnSpPr>
            <a:stCxn id="14" idx="1"/>
          </p:cNvCxnSpPr>
          <p:nvPr/>
        </p:nvCxnSpPr>
        <p:spPr>
          <a:xfrm flipH="1" flipV="1">
            <a:off x="6255030" y="4408469"/>
            <a:ext cx="877016" cy="1516876"/>
          </a:xfrm>
          <a:prstGeom prst="straightConnector1">
            <a:avLst/>
          </a:prstGeom>
          <a:ln w="44450">
            <a:solidFill>
              <a:schemeClr val="accent4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125526" y="106255"/>
            <a:ext cx="1865870" cy="1186249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Shortest path with at most n-1 edges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68464" y="89844"/>
            <a:ext cx="1865870" cy="1186249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Shortest path with any number of edges</a:t>
            </a:r>
          </a:p>
        </p:txBody>
      </p:sp>
      <p:sp>
        <p:nvSpPr>
          <p:cNvPr id="25" name="Left-Right Arrow 24"/>
          <p:cNvSpPr/>
          <p:nvPr/>
        </p:nvSpPr>
        <p:spPr>
          <a:xfrm>
            <a:off x="6055953" y="478736"/>
            <a:ext cx="1047954" cy="388935"/>
          </a:xfrm>
          <a:prstGeom prst="leftRightArrow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6075360" y="1727967"/>
            <a:ext cx="215009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A negative cycle is a directed cycle with negative total cost</a:t>
            </a:r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7437" y="1593067"/>
            <a:ext cx="991152" cy="1421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751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9" grpId="0" animBg="1"/>
      <p:bldP spid="2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-43537"/>
            <a:ext cx="7886700" cy="1325563"/>
          </a:xfrm>
        </p:spPr>
        <p:txBody>
          <a:bodyPr/>
          <a:lstStyle/>
          <a:p>
            <a:r>
              <a:rPr lang="en-US" dirty="0"/>
              <a:t>But if there is no negative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78695"/>
            <a:ext cx="7886700" cy="4351338"/>
          </a:xfrm>
        </p:spPr>
        <p:txBody>
          <a:bodyPr/>
          <a:lstStyle/>
          <a:p>
            <a:r>
              <a:rPr lang="en-US" dirty="0"/>
              <a:t>Then not only are there shortest paths, but actually there’s always a </a:t>
            </a:r>
            <a:r>
              <a:rPr lang="en-US" dirty="0">
                <a:solidFill>
                  <a:schemeClr val="accent4"/>
                </a:solidFill>
              </a:rPr>
              <a:t>simple</a:t>
            </a:r>
            <a:r>
              <a:rPr lang="en-US" dirty="0"/>
              <a:t> shortest path.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 </a:t>
            </a:r>
            <a:r>
              <a:rPr lang="en-US" dirty="0">
                <a:solidFill>
                  <a:schemeClr val="accent4"/>
                </a:solidFill>
              </a:rPr>
              <a:t>simple path </a:t>
            </a:r>
            <a:r>
              <a:rPr lang="en-US" dirty="0"/>
              <a:t>in a graph with n vertices has at most n-1 edges in it.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205" y="5436973"/>
            <a:ext cx="991152" cy="14210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50283" y="5036274"/>
            <a:ext cx="18288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“Simple” means that the path has no cycles in it.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3473773" y="5830149"/>
            <a:ext cx="1434180" cy="515253"/>
          </a:xfrm>
          <a:prstGeom prst="straightConnector1">
            <a:avLst/>
          </a:prstGeom>
          <a:ln w="44450">
            <a:solidFill>
              <a:schemeClr val="accent4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4907952" y="6042661"/>
            <a:ext cx="605481" cy="60548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</a:t>
            </a:r>
          </a:p>
        </p:txBody>
      </p:sp>
      <p:cxnSp>
        <p:nvCxnSpPr>
          <p:cNvPr id="11" name="Straight Arrow Connector 10"/>
          <p:cNvCxnSpPr>
            <a:stCxn id="13" idx="6"/>
            <a:endCxn id="23" idx="2"/>
          </p:cNvCxnSpPr>
          <p:nvPr/>
        </p:nvCxnSpPr>
        <p:spPr>
          <a:xfrm>
            <a:off x="4412023" y="5195199"/>
            <a:ext cx="745441" cy="222206"/>
          </a:xfrm>
          <a:prstGeom prst="straightConnector1">
            <a:avLst/>
          </a:prstGeom>
          <a:ln w="44450">
            <a:solidFill>
              <a:schemeClr val="accent4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806542" y="4892458"/>
            <a:ext cx="605481" cy="60548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23" name="Oval 22"/>
          <p:cNvSpPr/>
          <p:nvPr/>
        </p:nvSpPr>
        <p:spPr>
          <a:xfrm>
            <a:off x="5157464" y="5114664"/>
            <a:ext cx="605481" cy="60548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u</a:t>
            </a:r>
          </a:p>
        </p:txBody>
      </p:sp>
      <p:cxnSp>
        <p:nvCxnSpPr>
          <p:cNvPr id="174" name="Straight Arrow Connector 173"/>
          <p:cNvCxnSpPr>
            <a:stCxn id="23" idx="4"/>
          </p:cNvCxnSpPr>
          <p:nvPr/>
        </p:nvCxnSpPr>
        <p:spPr>
          <a:xfrm flipH="1">
            <a:off x="5424762" y="5720145"/>
            <a:ext cx="35443" cy="411187"/>
          </a:xfrm>
          <a:prstGeom prst="straightConnector1">
            <a:avLst/>
          </a:prstGeom>
          <a:ln w="44450">
            <a:solidFill>
              <a:schemeClr val="accent4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4" name="Group 203"/>
          <p:cNvGrpSpPr/>
          <p:nvPr/>
        </p:nvGrpSpPr>
        <p:grpSpPr>
          <a:xfrm>
            <a:off x="2296872" y="2433637"/>
            <a:ext cx="3875094" cy="1686771"/>
            <a:chOff x="2296872" y="2433637"/>
            <a:chExt cx="3875094" cy="1686771"/>
          </a:xfrm>
        </p:grpSpPr>
        <p:sp>
          <p:nvSpPr>
            <p:cNvPr id="16" name="Oval 15"/>
            <p:cNvSpPr/>
            <p:nvPr/>
          </p:nvSpPr>
          <p:spPr>
            <a:xfrm>
              <a:off x="3338002" y="3300355"/>
              <a:ext cx="605481" cy="6054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x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5566485" y="2690398"/>
              <a:ext cx="605481" cy="6054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t</a:t>
              </a:r>
            </a:p>
          </p:txBody>
        </p:sp>
        <p:cxnSp>
          <p:nvCxnSpPr>
            <p:cNvPr id="19" name="Straight Arrow Connector 18"/>
            <p:cNvCxnSpPr/>
            <p:nvPr/>
          </p:nvCxnSpPr>
          <p:spPr>
            <a:xfrm flipV="1">
              <a:off x="2902353" y="2690398"/>
              <a:ext cx="1041130" cy="128243"/>
            </a:xfrm>
            <a:prstGeom prst="straightConnector1">
              <a:avLst/>
            </a:prstGeom>
            <a:ln w="44450">
              <a:solidFill>
                <a:schemeClr val="accent4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179" idx="6"/>
            </p:cNvCxnSpPr>
            <p:nvPr/>
          </p:nvCxnSpPr>
          <p:spPr>
            <a:xfrm>
              <a:off x="4525463" y="2754519"/>
              <a:ext cx="987970" cy="199057"/>
            </a:xfrm>
            <a:prstGeom prst="straightConnector1">
              <a:avLst/>
            </a:prstGeom>
            <a:ln w="44450">
              <a:solidFill>
                <a:schemeClr val="accent4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/>
            <p:cNvSpPr/>
            <p:nvPr/>
          </p:nvSpPr>
          <p:spPr>
            <a:xfrm>
              <a:off x="2296872" y="2515899"/>
              <a:ext cx="605481" cy="6054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179" name="Oval 178"/>
            <p:cNvSpPr/>
            <p:nvPr/>
          </p:nvSpPr>
          <p:spPr>
            <a:xfrm>
              <a:off x="3919982" y="2451778"/>
              <a:ext cx="605481" cy="6054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v</a:t>
              </a:r>
            </a:p>
          </p:txBody>
        </p:sp>
        <p:sp>
          <p:nvSpPr>
            <p:cNvPr id="181" name="Oval 180"/>
            <p:cNvSpPr/>
            <p:nvPr/>
          </p:nvSpPr>
          <p:spPr>
            <a:xfrm>
              <a:off x="4412023" y="3409536"/>
              <a:ext cx="605481" cy="60548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y</a:t>
              </a:r>
            </a:p>
          </p:txBody>
        </p:sp>
        <p:cxnSp>
          <p:nvCxnSpPr>
            <p:cNvPr id="182" name="Straight Arrow Connector 181"/>
            <p:cNvCxnSpPr>
              <a:stCxn id="179" idx="4"/>
              <a:endCxn id="16" idx="7"/>
            </p:cNvCxnSpPr>
            <p:nvPr/>
          </p:nvCxnSpPr>
          <p:spPr>
            <a:xfrm flipH="1">
              <a:off x="3854812" y="3057259"/>
              <a:ext cx="367911" cy="331767"/>
            </a:xfrm>
            <a:prstGeom prst="straightConnector1">
              <a:avLst/>
            </a:prstGeom>
            <a:ln w="44450">
              <a:solidFill>
                <a:schemeClr val="accent4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Arrow Connector 184"/>
            <p:cNvCxnSpPr>
              <a:stCxn id="16" idx="6"/>
              <a:endCxn id="181" idx="2"/>
            </p:cNvCxnSpPr>
            <p:nvPr/>
          </p:nvCxnSpPr>
          <p:spPr>
            <a:xfrm>
              <a:off x="3943483" y="3603096"/>
              <a:ext cx="468540" cy="109181"/>
            </a:xfrm>
            <a:prstGeom prst="straightConnector1">
              <a:avLst/>
            </a:prstGeom>
            <a:ln w="44450">
              <a:solidFill>
                <a:schemeClr val="accent4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Arrow Connector 187"/>
            <p:cNvCxnSpPr>
              <a:stCxn id="181" idx="0"/>
              <a:endCxn id="179" idx="5"/>
            </p:cNvCxnSpPr>
            <p:nvPr/>
          </p:nvCxnSpPr>
          <p:spPr>
            <a:xfrm flipH="1" flipV="1">
              <a:off x="4436792" y="2968588"/>
              <a:ext cx="277972" cy="440948"/>
            </a:xfrm>
            <a:prstGeom prst="straightConnector1">
              <a:avLst/>
            </a:prstGeom>
            <a:ln w="44450">
              <a:solidFill>
                <a:schemeClr val="accent4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1" name="TextBox 190"/>
            <p:cNvSpPr txBox="1"/>
            <p:nvPr/>
          </p:nvSpPr>
          <p:spPr>
            <a:xfrm>
              <a:off x="3118796" y="2433637"/>
              <a:ext cx="498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</a:rPr>
                <a:t>-2</a:t>
              </a:r>
            </a:p>
          </p:txBody>
        </p:sp>
        <p:sp>
          <p:nvSpPr>
            <p:cNvPr id="192" name="TextBox 191"/>
            <p:cNvSpPr txBox="1"/>
            <p:nvPr/>
          </p:nvSpPr>
          <p:spPr>
            <a:xfrm>
              <a:off x="3678755" y="2918757"/>
              <a:ext cx="498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solidFill>
                    <a:schemeClr val="accent5"/>
                  </a:solidFill>
                </a:rPr>
                <a:t>2</a:t>
              </a:r>
              <a:endParaRPr lang="en-US" dirty="0">
                <a:solidFill>
                  <a:schemeClr val="accent5"/>
                </a:solidFill>
              </a:endParaRPr>
            </a:p>
          </p:txBody>
        </p:sp>
        <p:sp>
          <p:nvSpPr>
            <p:cNvPr id="193" name="TextBox 192"/>
            <p:cNvSpPr txBox="1"/>
            <p:nvPr/>
          </p:nvSpPr>
          <p:spPr>
            <a:xfrm>
              <a:off x="3973499" y="3751076"/>
              <a:ext cx="498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</a:rPr>
                <a:t>3</a:t>
              </a:r>
            </a:p>
          </p:txBody>
        </p:sp>
        <p:sp>
          <p:nvSpPr>
            <p:cNvPr id="194" name="TextBox 193"/>
            <p:cNvSpPr txBox="1"/>
            <p:nvPr/>
          </p:nvSpPr>
          <p:spPr>
            <a:xfrm>
              <a:off x="4657817" y="3026308"/>
              <a:ext cx="498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</a:rPr>
                <a:t>-5</a:t>
              </a:r>
            </a:p>
          </p:txBody>
        </p:sp>
        <p:sp>
          <p:nvSpPr>
            <p:cNvPr id="195" name="TextBox 194"/>
            <p:cNvSpPr txBox="1"/>
            <p:nvPr/>
          </p:nvSpPr>
          <p:spPr>
            <a:xfrm>
              <a:off x="4819342" y="2449307"/>
              <a:ext cx="498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solidFill>
                    <a:schemeClr val="accent5"/>
                  </a:solidFill>
                </a:rPr>
                <a:t>10</a:t>
              </a:r>
              <a:endParaRPr lang="en-US" dirty="0">
                <a:solidFill>
                  <a:schemeClr val="accent5"/>
                </a:solidFill>
              </a:endParaRPr>
            </a:p>
          </p:txBody>
        </p:sp>
      </p:grpSp>
      <p:sp>
        <p:nvSpPr>
          <p:cNvPr id="199" name="Oval 198"/>
          <p:cNvSpPr/>
          <p:nvPr/>
        </p:nvSpPr>
        <p:spPr>
          <a:xfrm>
            <a:off x="2868292" y="5477351"/>
            <a:ext cx="605481" cy="60548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025611" y="6089891"/>
            <a:ext cx="26151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Can’t add another edge without making a cycle!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6408507" y="3288089"/>
            <a:ext cx="23664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This cycle isn’t helping.  Just get rid of it.</a:t>
            </a:r>
          </a:p>
        </p:txBody>
      </p:sp>
      <p:sp>
        <p:nvSpPr>
          <p:cNvPr id="203" name="Freeform 202"/>
          <p:cNvSpPr/>
          <p:nvPr/>
        </p:nvSpPr>
        <p:spPr>
          <a:xfrm>
            <a:off x="2197931" y="2987176"/>
            <a:ext cx="3286898" cy="1339563"/>
          </a:xfrm>
          <a:custGeom>
            <a:avLst/>
            <a:gdLst>
              <a:gd name="connsiteX0" fmla="*/ 3286898 w 3286898"/>
              <a:gd name="connsiteY0" fmla="*/ 968860 h 1339563"/>
              <a:gd name="connsiteX1" fmla="*/ 3064476 w 3286898"/>
              <a:gd name="connsiteY1" fmla="*/ 524017 h 1339563"/>
              <a:gd name="connsiteX2" fmla="*/ 2607276 w 3286898"/>
              <a:gd name="connsiteY2" fmla="*/ 116244 h 1339563"/>
              <a:gd name="connsiteX3" fmla="*/ 2088292 w 3286898"/>
              <a:gd name="connsiteY3" fmla="*/ 239812 h 1339563"/>
              <a:gd name="connsiteX4" fmla="*/ 1717589 w 3286898"/>
              <a:gd name="connsiteY4" fmla="*/ 66817 h 1339563"/>
              <a:gd name="connsiteX5" fmla="*/ 1297460 w 3286898"/>
              <a:gd name="connsiteY5" fmla="*/ 42104 h 1339563"/>
              <a:gd name="connsiteX6" fmla="*/ 580768 w 3286898"/>
              <a:gd name="connsiteY6" fmla="*/ 622871 h 1339563"/>
              <a:gd name="connsiteX7" fmla="*/ 0 w 3286898"/>
              <a:gd name="connsiteY7" fmla="*/ 1339563 h 133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86898" h="1339563">
                <a:moveTo>
                  <a:pt x="3286898" y="968860"/>
                </a:moveTo>
                <a:cubicBezTo>
                  <a:pt x="3232322" y="817490"/>
                  <a:pt x="3177746" y="666120"/>
                  <a:pt x="3064476" y="524017"/>
                </a:cubicBezTo>
                <a:cubicBezTo>
                  <a:pt x="2951206" y="381914"/>
                  <a:pt x="2769973" y="163611"/>
                  <a:pt x="2607276" y="116244"/>
                </a:cubicBezTo>
                <a:cubicBezTo>
                  <a:pt x="2444579" y="68877"/>
                  <a:pt x="2236573" y="248050"/>
                  <a:pt x="2088292" y="239812"/>
                </a:cubicBezTo>
                <a:cubicBezTo>
                  <a:pt x="1940011" y="231574"/>
                  <a:pt x="1849394" y="99768"/>
                  <a:pt x="1717589" y="66817"/>
                </a:cubicBezTo>
                <a:cubicBezTo>
                  <a:pt x="1585784" y="33866"/>
                  <a:pt x="1486930" y="-50572"/>
                  <a:pt x="1297460" y="42104"/>
                </a:cubicBezTo>
                <a:cubicBezTo>
                  <a:pt x="1107990" y="134780"/>
                  <a:pt x="797011" y="406628"/>
                  <a:pt x="580768" y="622871"/>
                </a:cubicBezTo>
                <a:cubicBezTo>
                  <a:pt x="364525" y="839114"/>
                  <a:pt x="0" y="1339563"/>
                  <a:pt x="0" y="1339563"/>
                </a:cubicBezTo>
              </a:path>
            </a:pathLst>
          </a:custGeom>
          <a:solidFill>
            <a:schemeClr val="bg1">
              <a:alpha val="68000"/>
            </a:schemeClr>
          </a:solidFill>
          <a:ln w="412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892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10" grpId="0" animBg="1"/>
      <p:bldP spid="13" grpId="0" animBg="1"/>
      <p:bldP spid="23" grpId="0" animBg="1"/>
      <p:bldP spid="199" grpId="0" animBg="1"/>
      <p:bldP spid="201" grpId="0"/>
      <p:bldP spid="202" grpId="0"/>
      <p:bldP spid="20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go after a new conclusion.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2725" y="1850338"/>
            <a:ext cx="8367069" cy="4351338"/>
          </a:xfrm>
        </p:spPr>
        <p:txBody>
          <a:bodyPr/>
          <a:lstStyle/>
          <a:p>
            <a:r>
              <a:rPr lang="en-US" dirty="0"/>
              <a:t>Theorem:  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The Bellman-Ford Algorithm* is correct </a:t>
            </a:r>
            <a:r>
              <a:rPr lang="en-US" dirty="0">
                <a:solidFill>
                  <a:srgbClr val="FF0000"/>
                </a:solidFill>
              </a:rPr>
              <a:t>as long as G has no negative cycles.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5751" y="6079524"/>
            <a:ext cx="56099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r"/>
            <a:r>
              <a:rPr lang="en-US" dirty="0"/>
              <a:t>*We will prove this for our version of Bellman-Ford.  See Notes 11.5 or CLRS for CLRS version.</a:t>
            </a:r>
          </a:p>
        </p:txBody>
      </p:sp>
    </p:spTree>
    <p:extLst>
      <p:ext uri="{BB962C8B-B14F-4D97-AF65-F5344CB8AC3E}">
        <p14:creationId xmlns:p14="http://schemas.microsoft.com/office/powerpoint/2010/main" val="21062233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9731" y="-151671"/>
            <a:ext cx="7886700" cy="1325563"/>
          </a:xfrm>
        </p:spPr>
        <p:txBody>
          <a:bodyPr/>
          <a:lstStyle/>
          <a:p>
            <a:r>
              <a:rPr lang="en-US" dirty="0"/>
              <a:t>Proof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49" y="1173892"/>
            <a:ext cx="8342355" cy="5511113"/>
          </a:xfrm>
        </p:spPr>
        <p:txBody>
          <a:bodyPr>
            <a:normAutofit/>
          </a:bodyPr>
          <a:lstStyle/>
          <a:p>
            <a:r>
              <a:rPr lang="en-US" dirty="0"/>
              <a:t>By induction,</a:t>
            </a:r>
          </a:p>
          <a:p>
            <a:endParaRPr lang="en-US" dirty="0"/>
          </a:p>
          <a:p>
            <a:r>
              <a:rPr lang="en-US" dirty="0"/>
              <a:t>If there are no negative cycles,  </a:t>
            </a:r>
          </a:p>
          <a:p>
            <a:pPr lvl="1"/>
            <a:endParaRPr lang="en-US" dirty="0">
              <a:solidFill>
                <a:schemeClr val="accent4"/>
              </a:solidFill>
            </a:endParaRPr>
          </a:p>
          <a:p>
            <a:pPr lvl="1"/>
            <a:endParaRPr lang="en-US" dirty="0">
              <a:solidFill>
                <a:schemeClr val="accent4"/>
              </a:solidFill>
            </a:endParaRPr>
          </a:p>
          <a:p>
            <a:pPr lvl="1"/>
            <a:endParaRPr lang="en-US" dirty="0">
              <a:solidFill>
                <a:schemeClr val="accent4"/>
              </a:solidFill>
            </a:endParaRPr>
          </a:p>
          <a:p>
            <a:pPr lvl="1"/>
            <a:endParaRPr lang="en-US" dirty="0">
              <a:solidFill>
                <a:schemeClr val="accent4"/>
              </a:solidFill>
            </a:endParaRPr>
          </a:p>
          <a:p>
            <a:pPr lvl="1"/>
            <a:r>
              <a:rPr lang="en-US" dirty="0">
                <a:solidFill>
                  <a:schemeClr val="accent4"/>
                </a:solidFill>
              </a:rPr>
              <a:t>The shortest path is WLOG simple, and all simple paths have at most n-1 edges.</a:t>
            </a:r>
          </a:p>
          <a:p>
            <a:pPr lvl="1"/>
            <a:endParaRPr lang="en-US" dirty="0">
              <a:solidFill>
                <a:schemeClr val="accent4"/>
              </a:solidFill>
            </a:endParaRPr>
          </a:p>
          <a:p>
            <a:r>
              <a:rPr lang="en-US" dirty="0"/>
              <a:t>So we conclude that our return value d</a:t>
            </a:r>
            <a:r>
              <a:rPr lang="en-US" baseline="30000" dirty="0"/>
              <a:t>(n-1)</a:t>
            </a:r>
            <a:r>
              <a:rPr lang="en-US" dirty="0"/>
              <a:t>[a] is 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d</a:t>
            </a:r>
            <a:r>
              <a:rPr lang="en-US" baseline="30000" dirty="0">
                <a:solidFill>
                  <a:srgbClr val="7030A0"/>
                </a:solidFill>
              </a:rPr>
              <a:t>(n-1)</a:t>
            </a:r>
            <a:r>
              <a:rPr lang="en-US" dirty="0">
                <a:solidFill>
                  <a:srgbClr val="7030A0"/>
                </a:solidFill>
              </a:rPr>
              <a:t>[a] = the cost of a shortest path from s to a.</a:t>
            </a:r>
            <a:endParaRPr lang="en-US" i="1" dirty="0">
              <a:solidFill>
                <a:srgbClr val="7030A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150973" y="1038077"/>
            <a:ext cx="5055458" cy="830997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5"/>
                </a:solidFill>
              </a:rPr>
              <a:t>d</a:t>
            </a:r>
            <a:r>
              <a:rPr lang="en-US" sz="2400" baseline="30000" dirty="0">
                <a:solidFill>
                  <a:schemeClr val="accent5"/>
                </a:solidFill>
              </a:rPr>
              <a:t>(n-1)</a:t>
            </a:r>
            <a:r>
              <a:rPr lang="en-US" sz="2400" dirty="0">
                <a:solidFill>
                  <a:schemeClr val="accent5"/>
                </a:solidFill>
              </a:rPr>
              <a:t>[a] is the cost of the shortest path from s to a with at most n-1 edges in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20295" y="2729136"/>
            <a:ext cx="1865870" cy="1186249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Shortest path with at most n-1 edges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63233" y="2712725"/>
            <a:ext cx="1865870" cy="1186249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Shortest path with any number of edges</a:t>
            </a:r>
          </a:p>
        </p:txBody>
      </p:sp>
      <p:sp>
        <p:nvSpPr>
          <p:cNvPr id="7" name="Left-Right Arrow 6"/>
          <p:cNvSpPr/>
          <p:nvPr/>
        </p:nvSpPr>
        <p:spPr>
          <a:xfrm>
            <a:off x="4350722" y="3101617"/>
            <a:ext cx="1047954" cy="388935"/>
          </a:xfrm>
          <a:prstGeom prst="leftRightArrow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346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  <p:bldP spid="4" grpId="0" animBg="1"/>
      <p:bldP spid="5" grpId="0" animBg="1"/>
      <p:bldP spid="6" grpId="0" animBg="1"/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that proves: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2725" y="1850338"/>
            <a:ext cx="8367069" cy="4351338"/>
          </a:xfrm>
        </p:spPr>
        <p:txBody>
          <a:bodyPr/>
          <a:lstStyle/>
          <a:p>
            <a:r>
              <a:rPr lang="en-US" dirty="0"/>
              <a:t>Theorem:  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The Bellman-Ford Algorithm* is correct </a:t>
            </a:r>
            <a:r>
              <a:rPr lang="en-US" dirty="0">
                <a:solidFill>
                  <a:srgbClr val="FF0000"/>
                </a:solidFill>
              </a:rPr>
              <a:t>as long as G has no negative cycles.</a:t>
            </a:r>
          </a:p>
          <a:p>
            <a:pPr lvl="1"/>
            <a:endParaRPr lang="en-US" dirty="0">
              <a:solidFill>
                <a:srgbClr val="FF0000"/>
              </a:solidFill>
            </a:endParaRPr>
          </a:p>
          <a:p>
            <a:pPr lvl="1"/>
            <a:r>
              <a:rPr lang="en-US" dirty="0">
                <a:solidFill>
                  <a:schemeClr val="accent1"/>
                </a:solidFill>
              </a:rPr>
              <a:t>Further, if G has a negative cycle, Bellman-Ford can detect that.</a:t>
            </a:r>
          </a:p>
          <a:p>
            <a:pPr lvl="2"/>
            <a:r>
              <a:rPr lang="en-US" dirty="0">
                <a:solidFill>
                  <a:schemeClr val="accent1"/>
                </a:solidFill>
              </a:rPr>
              <a:t>(See Notes 11.5)</a:t>
            </a:r>
          </a:p>
          <a:p>
            <a:pPr lvl="2"/>
            <a:endParaRPr lang="en-US" dirty="0">
              <a:solidFill>
                <a:schemeClr val="accent1"/>
              </a:solidFill>
            </a:endParaRPr>
          </a:p>
          <a:p>
            <a:pPr lvl="2"/>
            <a:endParaRPr lang="en-US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6258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3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have we learned?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Bellman-Ford algorithm is slower than Dijkstra: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O(</a:t>
            </a:r>
            <a:r>
              <a:rPr lang="en-US" dirty="0" err="1">
                <a:solidFill>
                  <a:srgbClr val="C00000"/>
                </a:solidFill>
              </a:rPr>
              <a:t>mn</a:t>
            </a:r>
            <a:r>
              <a:rPr lang="en-US" dirty="0">
                <a:solidFill>
                  <a:srgbClr val="C00000"/>
                </a:solidFill>
              </a:rPr>
              <a:t>) time</a:t>
            </a:r>
          </a:p>
          <a:p>
            <a:pPr lvl="1"/>
            <a:endParaRPr lang="en-US" dirty="0">
              <a:solidFill>
                <a:srgbClr val="C00000"/>
              </a:solidFill>
            </a:endParaRPr>
          </a:p>
          <a:p>
            <a:r>
              <a:rPr lang="en-US" dirty="0"/>
              <a:t>But it works with </a:t>
            </a:r>
            <a:r>
              <a:rPr lang="en-US" dirty="0">
                <a:solidFill>
                  <a:schemeClr val="accent4"/>
                </a:solidFill>
              </a:rPr>
              <a:t>negative edges weights.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You’ll see how Dijkstra does with negative edge weights in HW5.</a:t>
            </a:r>
          </a:p>
          <a:p>
            <a:pPr lvl="1"/>
            <a:endParaRPr lang="en-US" dirty="0"/>
          </a:p>
          <a:p>
            <a:r>
              <a:rPr lang="en-US" dirty="0"/>
              <a:t>It doesn’t work with negative cycles, but in that case shortest paths don’t even make sense.</a:t>
            </a:r>
          </a:p>
        </p:txBody>
      </p:sp>
    </p:spTree>
    <p:extLst>
      <p:ext uri="{BB962C8B-B14F-4D97-AF65-F5344CB8AC3E}">
        <p14:creationId xmlns:p14="http://schemas.microsoft.com/office/powerpoint/2010/main" val="317610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364" y="149505"/>
            <a:ext cx="8515350" cy="1325563"/>
          </a:xfrm>
        </p:spPr>
        <p:txBody>
          <a:bodyPr/>
          <a:lstStyle/>
          <a:p>
            <a:r>
              <a:rPr lang="en-US" dirty="0"/>
              <a:t>Bellman-Ford is also used in practice.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1235" y="1271392"/>
            <a:ext cx="8379500" cy="4351338"/>
          </a:xfrm>
        </p:spPr>
        <p:txBody>
          <a:bodyPr/>
          <a:lstStyle/>
          <a:p>
            <a:r>
              <a:rPr lang="en-US" dirty="0" err="1"/>
              <a:t>eg</a:t>
            </a:r>
            <a:r>
              <a:rPr lang="en-US" dirty="0"/>
              <a:t>, </a:t>
            </a:r>
            <a:r>
              <a:rPr lang="en-US" dirty="0">
                <a:solidFill>
                  <a:schemeClr val="accent1"/>
                </a:solidFill>
              </a:rPr>
              <a:t>Routing Information Protocol (RIP) </a:t>
            </a:r>
            <a:r>
              <a:rPr lang="en-US" dirty="0"/>
              <a:t>uses something like Bellman-Ford.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Older protocol, not used as much anymore.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7094" y="4557010"/>
            <a:ext cx="3056906" cy="2081909"/>
          </a:xfrm>
          <a:prstGeom prst="rect">
            <a:avLst/>
          </a:prstGeom>
          <a:ln w="57150">
            <a:noFill/>
          </a:ln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365385" y="2738202"/>
            <a:ext cx="4062335" cy="38832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Each router keeps a </a:t>
            </a:r>
            <a:r>
              <a:rPr lang="en-US" b="1" dirty="0">
                <a:solidFill>
                  <a:schemeClr val="accent1"/>
                </a:solidFill>
              </a:rPr>
              <a:t>table</a:t>
            </a:r>
            <a:r>
              <a:rPr lang="en-US" dirty="0">
                <a:solidFill>
                  <a:schemeClr val="accent1"/>
                </a:solidFill>
              </a:rPr>
              <a:t> of distances to every other router.</a:t>
            </a:r>
          </a:p>
          <a:p>
            <a:r>
              <a:rPr lang="en-US" dirty="0">
                <a:solidFill>
                  <a:schemeClr val="accent5"/>
                </a:solidFill>
              </a:rPr>
              <a:t>Periodically we do a Bellman-Ford update.</a:t>
            </a:r>
          </a:p>
          <a:p>
            <a:r>
              <a:rPr lang="en-US" dirty="0">
                <a:solidFill>
                  <a:schemeClr val="accent4"/>
                </a:solidFill>
              </a:rPr>
              <a:t>This also means that if there are changes in the network, this will propagate. </a:t>
            </a:r>
            <a:r>
              <a:rPr lang="en-US" sz="1800" dirty="0">
                <a:solidFill>
                  <a:schemeClr val="accent4">
                    <a:lumMod val="50000"/>
                  </a:schemeClr>
                </a:solidFill>
              </a:rPr>
              <a:t>(maybe slowly</a:t>
            </a:r>
            <a:r>
              <a:rPr lang="mr-IN" sz="1800" dirty="0">
                <a:solidFill>
                  <a:schemeClr val="accent4">
                    <a:lumMod val="50000"/>
                  </a:schemeClr>
                </a:solidFill>
              </a:rPr>
              <a:t>…</a:t>
            </a:r>
            <a:r>
              <a:rPr lang="en-US" sz="1800" dirty="0">
                <a:solidFill>
                  <a:schemeClr val="accent4">
                    <a:lumMod val="50000"/>
                  </a:schemeClr>
                </a:solidFill>
              </a:rPr>
              <a:t>)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690985" y="2576240"/>
          <a:ext cx="4317165" cy="20252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9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9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9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7965">
                <a:tc>
                  <a:txBody>
                    <a:bodyPr/>
                    <a:lstStyle/>
                    <a:p>
                      <a:r>
                        <a:rPr lang="en-US" dirty="0"/>
                        <a:t>Destination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Cost to get there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Send to whom?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099">
                <a:tc>
                  <a:txBody>
                    <a:bodyPr/>
                    <a:lstStyle/>
                    <a:p>
                      <a:r>
                        <a:rPr lang="en-US" dirty="0"/>
                        <a:t>172.16.1.0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172.16.1.1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099">
                <a:tc>
                  <a:txBody>
                    <a:bodyPr/>
                    <a:lstStyle/>
                    <a:p>
                      <a:r>
                        <a:rPr lang="en-US" dirty="0"/>
                        <a:t>10.20.40.1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192.168.1.2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099">
                <a:tc>
                  <a:txBody>
                    <a:bodyPr/>
                    <a:lstStyle/>
                    <a:p>
                      <a:r>
                        <a:rPr lang="en-US" dirty="0"/>
                        <a:t>10.155.120.1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10.13.50.0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val 6"/>
          <p:cNvSpPr/>
          <p:nvPr/>
        </p:nvSpPr>
        <p:spPr>
          <a:xfrm>
            <a:off x="5201663" y="4679816"/>
            <a:ext cx="374754" cy="34477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486552" y="5102903"/>
            <a:ext cx="232498" cy="2843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854900" y="5387236"/>
            <a:ext cx="232498" cy="1421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611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build="p" bldLvl="2"/>
      <p:bldP spid="7" grpId="0" animBg="1"/>
      <p:bldP spid="8" grpId="0" animBg="1"/>
      <p:bldP spid="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was an example of</a:t>
            </a:r>
            <a:r>
              <a:rPr lang="mr-IN" dirty="0"/>
              <a:t>…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 rot="657985">
            <a:off x="110970" y="1731369"/>
            <a:ext cx="8922058" cy="3631763"/>
          </a:xfrm>
          <a:prstGeom prst="rect">
            <a:avLst/>
          </a:prstGeom>
          <a:noFill/>
          <a:scene3d>
            <a:camera prst="isometricRightUp"/>
            <a:lightRig rig="threePt" dir="t"/>
          </a:scene3d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5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Dynamic </a:t>
            </a:r>
          </a:p>
          <a:p>
            <a:pPr algn="ctr"/>
            <a:r>
              <a:rPr lang="en-US" sz="115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Programming!</a:t>
            </a:r>
          </a:p>
        </p:txBody>
      </p:sp>
    </p:spTree>
    <p:extLst>
      <p:ext uri="{BB962C8B-B14F-4D97-AF65-F5344CB8AC3E}">
        <p14:creationId xmlns:p14="http://schemas.microsoft.com/office/powerpoint/2010/main" val="803409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>
                <a:solidFill>
                  <a:schemeClr val="accent5"/>
                </a:solidFill>
              </a:rPr>
              <a:t>dynamic programming</a:t>
            </a:r>
            <a:r>
              <a:rPr lang="en-US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an algorithm design paradigm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like divide-and-conquer is an algorithm design paradigm.</a:t>
            </a:r>
          </a:p>
          <a:p>
            <a:r>
              <a:rPr lang="en-US" dirty="0"/>
              <a:t>Usually it is for solving </a:t>
            </a:r>
            <a:r>
              <a:rPr lang="en-US" dirty="0">
                <a:solidFill>
                  <a:schemeClr val="accent4"/>
                </a:solidFill>
              </a:rPr>
              <a:t>optimization problems</a:t>
            </a:r>
          </a:p>
          <a:p>
            <a:pPr lvl="1"/>
            <a:r>
              <a:rPr lang="en-US" dirty="0" err="1">
                <a:solidFill>
                  <a:schemeClr val="accent1"/>
                </a:solidFill>
              </a:rPr>
              <a:t>eg</a:t>
            </a:r>
            <a:r>
              <a:rPr lang="en-US" dirty="0"/>
              <a:t>, </a:t>
            </a:r>
            <a:r>
              <a:rPr lang="en-US" b="1" i="1" dirty="0">
                <a:solidFill>
                  <a:schemeClr val="accent4"/>
                </a:solidFill>
              </a:rPr>
              <a:t>shortest </a:t>
            </a:r>
            <a:r>
              <a:rPr lang="en-US" dirty="0">
                <a:solidFill>
                  <a:schemeClr val="accent1"/>
                </a:solidFill>
              </a:rPr>
              <a:t>path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63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444" y="1"/>
            <a:ext cx="9071404" cy="889686"/>
          </a:xfrm>
        </p:spPr>
        <p:txBody>
          <a:bodyPr/>
          <a:lstStyle/>
          <a:p>
            <a:r>
              <a:rPr lang="en-US" dirty="0">
                <a:solidFill>
                  <a:schemeClr val="accent5"/>
                </a:solidFill>
              </a:rPr>
              <a:t>Elements of dynamic programming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80368" y="988542"/>
                <a:ext cx="8379425" cy="5708822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Big problems break up into little problems.</a:t>
                </a:r>
              </a:p>
              <a:p>
                <a:pPr lvl="1"/>
                <a:r>
                  <a:rPr lang="en-US" dirty="0" err="1">
                    <a:solidFill>
                      <a:schemeClr val="accent2"/>
                    </a:solidFill>
                  </a:rPr>
                  <a:t>eg</a:t>
                </a:r>
                <a:r>
                  <a:rPr lang="en-US" dirty="0">
                    <a:solidFill>
                      <a:schemeClr val="accent2"/>
                    </a:solidFill>
                  </a:rPr>
                  <a:t>, </a:t>
                </a:r>
                <a:r>
                  <a:rPr lang="en-US" dirty="0">
                    <a:solidFill>
                      <a:schemeClr val="accent4"/>
                    </a:solidFill>
                  </a:rPr>
                  <a:t>Shortest path with at most k edges.</a:t>
                </a:r>
                <a:endParaRPr lang="en-US" dirty="0"/>
              </a:p>
              <a:p>
                <a:r>
                  <a:rPr lang="en-US" dirty="0"/>
                  <a:t>The optimal solution of a problem of size k can be expressed in terms of optimal solutions of smaller sub-problems.</a:t>
                </a:r>
              </a:p>
              <a:p>
                <a:pPr marL="685800" lvl="3">
                  <a:spcBef>
                    <a:spcPts val="1000"/>
                  </a:spcBef>
                </a:pPr>
                <a:r>
                  <a:rPr lang="en-US" sz="2400" dirty="0" err="1">
                    <a:solidFill>
                      <a:schemeClr val="accent2"/>
                    </a:solidFill>
                  </a:rPr>
                  <a:t>eg</a:t>
                </a:r>
                <a:r>
                  <a:rPr lang="en-US" sz="2400" dirty="0">
                    <a:solidFill>
                      <a:schemeClr val="accent2"/>
                    </a:solidFill>
                  </a:rPr>
                  <a:t>, </a:t>
                </a:r>
                <a:r>
                  <a:rPr lang="en-US" sz="2400" dirty="0">
                    <a:solidFill>
                      <a:schemeClr val="accent4"/>
                    </a:solidFill>
                  </a:rPr>
                  <a:t>d</a:t>
                </a:r>
                <a:r>
                  <a:rPr lang="en-US" sz="2400" baseline="30000" dirty="0">
                    <a:solidFill>
                      <a:schemeClr val="accent4"/>
                    </a:solidFill>
                  </a:rPr>
                  <a:t>(k)</a:t>
                </a:r>
                <a:r>
                  <a:rPr lang="en-US" sz="2400" dirty="0">
                    <a:solidFill>
                      <a:schemeClr val="accent4"/>
                    </a:solidFill>
                  </a:rPr>
                  <a:t>[b]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4"/>
                        </a:solidFill>
                        <a:latin typeface="Cambria Math" charset="0"/>
                      </a:rPr>
                      <m:t>←</m:t>
                    </m:r>
                  </m:oMath>
                </a14:m>
                <a:r>
                  <a:rPr lang="en-US" sz="2400" dirty="0">
                    <a:solidFill>
                      <a:schemeClr val="accent4"/>
                    </a:solidFill>
                  </a:rPr>
                  <a:t> min{ 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d</a:t>
                </a:r>
                <a:r>
                  <a:rPr lang="en-US" sz="2400" baseline="30000" dirty="0">
                    <a:solidFill>
                      <a:schemeClr val="accent1"/>
                    </a:solidFill>
                  </a:rPr>
                  <a:t>(k-1)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[b],  </a:t>
                </a:r>
                <a:r>
                  <a:rPr lang="en-US" sz="2400" dirty="0">
                    <a:solidFill>
                      <a:schemeClr val="accent5"/>
                    </a:solidFill>
                  </a:rPr>
                  <a:t>min</a:t>
                </a:r>
                <a:r>
                  <a:rPr lang="en-US" sz="2400" baseline="-25000" dirty="0">
                    <a:solidFill>
                      <a:schemeClr val="accent5"/>
                    </a:solidFill>
                  </a:rPr>
                  <a:t>a</a:t>
                </a:r>
                <a:r>
                  <a:rPr lang="en-US" sz="2400" dirty="0">
                    <a:solidFill>
                      <a:schemeClr val="accent5"/>
                    </a:solidFill>
                  </a:rPr>
                  <a:t> {</a:t>
                </a:r>
                <a:r>
                  <a:rPr lang="en-US" sz="2400" dirty="0">
                    <a:solidFill>
                      <a:srgbClr val="7030A0"/>
                    </a:solidFill>
                  </a:rPr>
                  <a:t>d</a:t>
                </a:r>
                <a:r>
                  <a:rPr lang="en-US" sz="2400" baseline="30000" dirty="0">
                    <a:solidFill>
                      <a:srgbClr val="7030A0"/>
                    </a:solidFill>
                  </a:rPr>
                  <a:t>(k-1)</a:t>
                </a:r>
                <a:r>
                  <a:rPr lang="en-US" sz="2400" dirty="0">
                    <a:solidFill>
                      <a:srgbClr val="7030A0"/>
                    </a:solidFill>
                  </a:rPr>
                  <a:t>[a]  + weight(</a:t>
                </a:r>
                <a:r>
                  <a:rPr lang="en-US" sz="2400" dirty="0" err="1">
                    <a:solidFill>
                      <a:srgbClr val="7030A0"/>
                    </a:solidFill>
                  </a:rPr>
                  <a:t>a,b</a:t>
                </a:r>
                <a:r>
                  <a:rPr lang="en-US" sz="2400" dirty="0">
                    <a:solidFill>
                      <a:srgbClr val="7030A0"/>
                    </a:solidFill>
                  </a:rPr>
                  <a:t>)</a:t>
                </a:r>
                <a:r>
                  <a:rPr lang="en-US" sz="2400" dirty="0">
                    <a:solidFill>
                      <a:schemeClr val="accent5"/>
                    </a:solidFill>
                  </a:rPr>
                  <a:t>} </a:t>
                </a:r>
                <a:r>
                  <a:rPr lang="en-US" sz="2400" dirty="0">
                    <a:solidFill>
                      <a:schemeClr val="accent4"/>
                    </a:solidFill>
                  </a:rPr>
                  <a:t>}  </a:t>
                </a:r>
                <a:endParaRPr lang="en-US" dirty="0"/>
              </a:p>
              <a:p>
                <a:r>
                  <a:rPr lang="en-US" dirty="0"/>
                  <a:t>The sub-problems overlap a lot.</a:t>
                </a:r>
              </a:p>
              <a:p>
                <a:pPr lvl="1"/>
                <a:r>
                  <a:rPr lang="en-US" dirty="0" err="1">
                    <a:solidFill>
                      <a:schemeClr val="accent2"/>
                    </a:solidFill>
                  </a:rPr>
                  <a:t>eg</a:t>
                </a:r>
                <a:r>
                  <a:rPr lang="en-US" dirty="0">
                    <a:solidFill>
                      <a:schemeClr val="accent2"/>
                    </a:solidFill>
                  </a:rPr>
                  <a:t>, </a:t>
                </a:r>
                <a:r>
                  <a:rPr lang="en-US" dirty="0"/>
                  <a:t>Lots of different entries of d</a:t>
                </a:r>
                <a:r>
                  <a:rPr lang="en-US" baseline="30000" dirty="0"/>
                  <a:t>(k)</a:t>
                </a:r>
                <a:r>
                  <a:rPr lang="en-US" dirty="0"/>
                  <a:t> ask for </a:t>
                </a:r>
                <a:r>
                  <a:rPr lang="en-US" dirty="0">
                    <a:solidFill>
                      <a:srgbClr val="7030A0"/>
                    </a:solidFill>
                  </a:rPr>
                  <a:t>d</a:t>
                </a:r>
                <a:r>
                  <a:rPr lang="en-US" baseline="30000" dirty="0">
                    <a:solidFill>
                      <a:srgbClr val="7030A0"/>
                    </a:solidFill>
                  </a:rPr>
                  <a:t>(k-1)</a:t>
                </a:r>
                <a:r>
                  <a:rPr lang="en-US" dirty="0">
                    <a:solidFill>
                      <a:srgbClr val="7030A0"/>
                    </a:solidFill>
                  </a:rPr>
                  <a:t>[a].</a:t>
                </a:r>
              </a:p>
              <a:p>
                <a:r>
                  <a:rPr lang="en-US" dirty="0"/>
                  <a:t>We keep a </a:t>
                </a:r>
                <a:r>
                  <a:rPr lang="en-US" dirty="0">
                    <a:solidFill>
                      <a:schemeClr val="accent4"/>
                    </a:solidFill>
                  </a:rPr>
                  <a:t>table</a:t>
                </a:r>
                <a:r>
                  <a:rPr lang="en-US" dirty="0"/>
                  <a:t> of solutions to the smaller problems </a:t>
                </a:r>
                <a:r>
                  <a:rPr lang="en-US" dirty="0">
                    <a:solidFill>
                      <a:schemeClr val="accent5"/>
                    </a:solidFill>
                  </a:rPr>
                  <a:t>to help us answer bigger problems.</a:t>
                </a:r>
              </a:p>
              <a:p>
                <a:r>
                  <a:rPr lang="en-US" dirty="0"/>
                  <a:t>At the end we can use information we collected along the way to </a:t>
                </a:r>
                <a:r>
                  <a:rPr lang="en-US" dirty="0">
                    <a:solidFill>
                      <a:schemeClr val="accent4"/>
                    </a:solidFill>
                  </a:rPr>
                  <a:t>find the optimal solution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 err="1">
                    <a:solidFill>
                      <a:schemeClr val="accent2"/>
                    </a:solidFill>
                  </a:rPr>
                  <a:t>eg</a:t>
                </a:r>
                <a:r>
                  <a:rPr lang="en-US" dirty="0">
                    <a:solidFill>
                      <a:schemeClr val="accent2"/>
                    </a:solidFill>
                  </a:rPr>
                  <a:t>,</a:t>
                </a:r>
                <a:r>
                  <a:rPr lang="en-US" dirty="0">
                    <a:solidFill>
                      <a:schemeClr val="accent5"/>
                    </a:solidFill>
                  </a:rPr>
                  <a:t> </a:t>
                </a:r>
                <a:r>
                  <a:rPr lang="en-US" dirty="0">
                    <a:solidFill>
                      <a:schemeClr val="accent1"/>
                    </a:solidFill>
                  </a:rPr>
                  <a:t>recover the shortest path (not just its cost).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0368" y="988542"/>
                <a:ext cx="8379425" cy="5708822"/>
              </a:xfrm>
              <a:blipFill rotWithShape="0">
                <a:blip r:embed="rId2"/>
                <a:stretch>
                  <a:fillRect l="-1310" t="-1708" r="-582" b="-20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381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ways to </a:t>
            </a:r>
            <a:r>
              <a:rPr lang="en-US" dirty="0">
                <a:solidFill>
                  <a:schemeClr val="accent1"/>
                </a:solidFill>
              </a:rPr>
              <a:t>think about </a:t>
            </a:r>
            <a:r>
              <a:rPr lang="en-US" dirty="0"/>
              <a:t>and/or </a:t>
            </a:r>
            <a:r>
              <a:rPr lang="en-US" dirty="0">
                <a:solidFill>
                  <a:schemeClr val="accent1"/>
                </a:solidFill>
              </a:rPr>
              <a:t>implement</a:t>
            </a:r>
            <a:r>
              <a:rPr lang="en-US" dirty="0"/>
              <a:t> </a:t>
            </a:r>
            <a:r>
              <a:rPr lang="en-US" dirty="0">
                <a:solidFill>
                  <a:schemeClr val="accent4"/>
                </a:solidFill>
              </a:rPr>
              <a:t>DP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210100"/>
            <a:ext cx="7886700" cy="4351338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5"/>
                </a:solidFill>
              </a:rPr>
              <a:t>Top down</a:t>
            </a:r>
          </a:p>
          <a:p>
            <a:endParaRPr lang="en-US" sz="3600" dirty="0">
              <a:solidFill>
                <a:schemeClr val="accent5"/>
              </a:solidFill>
            </a:endParaRPr>
          </a:p>
          <a:p>
            <a:r>
              <a:rPr lang="en-US" sz="3600" dirty="0">
                <a:solidFill>
                  <a:schemeClr val="accent5"/>
                </a:solidFill>
              </a:rPr>
              <a:t>Bottom up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3524" y="2806300"/>
            <a:ext cx="5067815" cy="38658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36723" y="6376772"/>
            <a:ext cx="5251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ig Caslon Medium" charset="0"/>
                <a:ea typeface="Big Caslon Medium" charset="0"/>
                <a:cs typeface="Big Caslon Medium" charset="0"/>
              </a:rPr>
              <a:t>This picture isn’t </a:t>
            </a:r>
            <a:r>
              <a:rPr lang="en-US">
                <a:latin typeface="Big Caslon Medium" charset="0"/>
                <a:ea typeface="Big Caslon Medium" charset="0"/>
                <a:cs typeface="Big Caslon Medium" charset="0"/>
              </a:rPr>
              <a:t>hugely relevant but I like it.</a:t>
            </a:r>
          </a:p>
        </p:txBody>
      </p:sp>
    </p:spTree>
    <p:extLst>
      <p:ext uri="{BB962C8B-B14F-4D97-AF65-F5344CB8AC3E}">
        <p14:creationId xmlns:p14="http://schemas.microsoft.com/office/powerpoint/2010/main" val="20683404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Bottom up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87173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What we just saw.</a:t>
            </a:r>
          </a:p>
          <a:p>
            <a:r>
              <a:rPr lang="en-US" dirty="0"/>
              <a:t>Solve the small problems first</a:t>
            </a:r>
          </a:p>
          <a:p>
            <a:pPr lvl="1"/>
            <a:r>
              <a:rPr lang="en-US" dirty="0">
                <a:solidFill>
                  <a:schemeClr val="accent5"/>
                </a:solidFill>
              </a:rPr>
              <a:t>fill in d</a:t>
            </a:r>
            <a:r>
              <a:rPr lang="en-US" baseline="30000" dirty="0">
                <a:solidFill>
                  <a:schemeClr val="accent5"/>
                </a:solidFill>
              </a:rPr>
              <a:t>(0)</a:t>
            </a:r>
            <a:r>
              <a:rPr lang="en-US" dirty="0">
                <a:solidFill>
                  <a:schemeClr val="accent5"/>
                </a:solidFill>
              </a:rPr>
              <a:t> </a:t>
            </a:r>
          </a:p>
          <a:p>
            <a:r>
              <a:rPr lang="en-US" dirty="0"/>
              <a:t>Then bigger problems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fill in d</a:t>
            </a:r>
            <a:r>
              <a:rPr lang="en-US" baseline="30000" dirty="0">
                <a:solidFill>
                  <a:schemeClr val="accent6"/>
                </a:solidFill>
              </a:rPr>
              <a:t>(1)</a:t>
            </a:r>
            <a:r>
              <a:rPr lang="en-US" dirty="0">
                <a:solidFill>
                  <a:schemeClr val="accent6"/>
                </a:solidFill>
              </a:rPr>
              <a:t> </a:t>
            </a:r>
          </a:p>
          <a:p>
            <a:r>
              <a:rPr lang="mr-IN" dirty="0"/>
              <a:t>…</a:t>
            </a:r>
            <a:endParaRPr lang="en-US" dirty="0"/>
          </a:p>
          <a:p>
            <a:r>
              <a:rPr lang="en-US" dirty="0"/>
              <a:t>Then bigger problems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fill in d</a:t>
            </a:r>
            <a:r>
              <a:rPr lang="en-US" baseline="30000" dirty="0">
                <a:solidFill>
                  <a:schemeClr val="accent1"/>
                </a:solidFill>
              </a:rPr>
              <a:t>(n-2)</a:t>
            </a:r>
            <a:r>
              <a:rPr lang="en-US" dirty="0">
                <a:solidFill>
                  <a:schemeClr val="accent1"/>
                </a:solidFill>
              </a:rPr>
              <a:t> </a:t>
            </a:r>
          </a:p>
          <a:p>
            <a:r>
              <a:rPr lang="en-US" dirty="0"/>
              <a:t>Then finally solve the real problem.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fill in d</a:t>
            </a:r>
            <a:r>
              <a:rPr lang="en-US" baseline="30000" dirty="0">
                <a:solidFill>
                  <a:schemeClr val="accent4"/>
                </a:solidFill>
              </a:rPr>
              <a:t>(n-1)</a:t>
            </a:r>
            <a:r>
              <a:rPr lang="en-US" dirty="0">
                <a:solidFill>
                  <a:schemeClr val="accent4"/>
                </a:solidFill>
              </a:rPr>
              <a:t>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5910596">
            <a:off x="6269081" y="766105"/>
            <a:ext cx="2777899" cy="2119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090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down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6019285" cy="4351338"/>
          </a:xfrm>
        </p:spPr>
        <p:txBody>
          <a:bodyPr/>
          <a:lstStyle/>
          <a:p>
            <a:r>
              <a:rPr lang="en-US" dirty="0"/>
              <a:t>Think of it like a recursive algorithm.</a:t>
            </a:r>
          </a:p>
          <a:p>
            <a:r>
              <a:rPr lang="en-US" dirty="0">
                <a:solidFill>
                  <a:srgbClr val="7030A0"/>
                </a:solidFill>
              </a:rPr>
              <a:t>To solve the big problem:</a:t>
            </a:r>
          </a:p>
          <a:p>
            <a:pPr lvl="1"/>
            <a:r>
              <a:rPr lang="en-US" dirty="0" err="1">
                <a:solidFill>
                  <a:srgbClr val="7030A0"/>
                </a:solidFill>
              </a:rPr>
              <a:t>Recurse</a:t>
            </a:r>
            <a:r>
              <a:rPr lang="en-US" dirty="0">
                <a:solidFill>
                  <a:srgbClr val="7030A0"/>
                </a:solidFill>
              </a:rPr>
              <a:t> to solve smaller problems</a:t>
            </a:r>
          </a:p>
          <a:p>
            <a:pPr lvl="1"/>
            <a:endParaRPr lang="en-US" dirty="0">
              <a:solidFill>
                <a:srgbClr val="7030A0"/>
              </a:solidFill>
            </a:endParaRPr>
          </a:p>
          <a:p>
            <a:r>
              <a:rPr lang="en-US" dirty="0"/>
              <a:t>The difference from divide and conquer: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Memo-</a:t>
            </a:r>
            <a:r>
              <a:rPr lang="en-US" dirty="0" err="1">
                <a:solidFill>
                  <a:schemeClr val="accent1"/>
                </a:solidFill>
              </a:rPr>
              <a:t>ization</a:t>
            </a:r>
            <a:endParaRPr lang="en-US" dirty="0">
              <a:solidFill>
                <a:schemeClr val="accent1"/>
              </a:solidFill>
            </a:endParaRPr>
          </a:p>
          <a:p>
            <a:pPr lvl="1"/>
            <a:r>
              <a:rPr lang="en-US" dirty="0">
                <a:solidFill>
                  <a:schemeClr val="accent4"/>
                </a:solidFill>
              </a:rPr>
              <a:t>Keep track of what small problems you’ve already solved to prevent re-solving the same problem twice.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910" y="4275437"/>
            <a:ext cx="2062187" cy="20759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066882" y="534595"/>
            <a:ext cx="2777899" cy="2119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795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325" y="269626"/>
            <a:ext cx="8515350" cy="63628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4"/>
                </a:solidFill>
              </a:rPr>
              <a:t>Example</a:t>
            </a:r>
            <a:r>
              <a:rPr lang="en-US" dirty="0"/>
              <a:t>: top-down** version of BF*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351338"/>
          </a:xfrm>
        </p:spPr>
        <p:txBody>
          <a:bodyPr>
            <a:normAutofit/>
          </a:bodyPr>
          <a:lstStyle/>
          <a:p>
            <a:r>
              <a:rPr lang="en-US" dirty="0"/>
              <a:t>Bellman-Ford*(G,s):</a:t>
            </a:r>
          </a:p>
          <a:p>
            <a:pPr lvl="1"/>
            <a:r>
              <a:rPr lang="en-US" sz="2000" dirty="0">
                <a:solidFill>
                  <a:schemeClr val="accent1"/>
                </a:solidFill>
              </a:rPr>
              <a:t>Initialize a bunch of empty tables d</a:t>
            </a:r>
            <a:r>
              <a:rPr lang="en-US" sz="2000" baseline="30000" dirty="0">
                <a:solidFill>
                  <a:schemeClr val="accent1"/>
                </a:solidFill>
              </a:rPr>
              <a:t>(k)</a:t>
            </a:r>
            <a:r>
              <a:rPr lang="en-US" sz="2000" dirty="0">
                <a:solidFill>
                  <a:schemeClr val="accent1"/>
                </a:solidFill>
              </a:rPr>
              <a:t> for k=0,</a:t>
            </a:r>
            <a:r>
              <a:rPr lang="mr-IN" sz="2000" dirty="0">
                <a:solidFill>
                  <a:schemeClr val="accent1"/>
                </a:solidFill>
              </a:rPr>
              <a:t>…</a:t>
            </a:r>
            <a:r>
              <a:rPr lang="en-US" sz="2000" dirty="0">
                <a:solidFill>
                  <a:schemeClr val="accent1"/>
                </a:solidFill>
              </a:rPr>
              <a:t>,n-1,</a:t>
            </a:r>
          </a:p>
          <a:p>
            <a:pPr lvl="1"/>
            <a:r>
              <a:rPr lang="en-US" sz="2000" dirty="0">
                <a:solidFill>
                  <a:schemeClr val="accent1"/>
                </a:solidFill>
              </a:rPr>
              <a:t>Fill in d</a:t>
            </a:r>
            <a:r>
              <a:rPr lang="en-US" sz="2000" baseline="30000" dirty="0">
                <a:solidFill>
                  <a:schemeClr val="accent1"/>
                </a:solidFill>
              </a:rPr>
              <a:t>(0)</a:t>
            </a:r>
          </a:p>
          <a:p>
            <a:pPr lvl="1"/>
            <a:r>
              <a:rPr lang="en-US" sz="2000" b="1" dirty="0"/>
              <a:t>for</a:t>
            </a:r>
            <a:r>
              <a:rPr lang="en-US" sz="2000" dirty="0"/>
              <a:t> b in V:</a:t>
            </a:r>
          </a:p>
          <a:p>
            <a:pPr lvl="2"/>
            <a:r>
              <a:rPr lang="en-US" dirty="0">
                <a:solidFill>
                  <a:schemeClr val="accent4"/>
                </a:solidFill>
              </a:rPr>
              <a:t>BF*_helper(G, s, b, n-1)</a:t>
            </a:r>
          </a:p>
          <a:p>
            <a:pPr lvl="1"/>
            <a:endParaRPr lang="en-US" dirty="0"/>
          </a:p>
          <a:p>
            <a:r>
              <a:rPr lang="en-US" dirty="0">
                <a:solidFill>
                  <a:schemeClr val="accent4"/>
                </a:solidFill>
              </a:rPr>
              <a:t>BF*_helper(G, s, b, k):</a:t>
            </a:r>
          </a:p>
          <a:p>
            <a:pPr lvl="1"/>
            <a:r>
              <a:rPr lang="en-US" sz="2000" b="1" dirty="0"/>
              <a:t>For each </a:t>
            </a:r>
            <a:r>
              <a:rPr lang="en-US" sz="2000" dirty="0"/>
              <a:t>a so that (</a:t>
            </a:r>
            <a:r>
              <a:rPr lang="en-US" sz="2000" dirty="0" err="1"/>
              <a:t>a,b</a:t>
            </a:r>
            <a:r>
              <a:rPr lang="en-US" sz="2000" dirty="0"/>
              <a:t>) in E, and also for b:</a:t>
            </a:r>
          </a:p>
          <a:p>
            <a:pPr lvl="2"/>
            <a:r>
              <a:rPr lang="en-US" b="1" dirty="0"/>
              <a:t>If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d</a:t>
            </a:r>
            <a:r>
              <a:rPr lang="en-US" baseline="30000" dirty="0">
                <a:solidFill>
                  <a:schemeClr val="accent1"/>
                </a:solidFill>
              </a:rPr>
              <a:t>(k-1)</a:t>
            </a:r>
            <a:r>
              <a:rPr lang="en-US" dirty="0">
                <a:solidFill>
                  <a:schemeClr val="accent1"/>
                </a:solidFill>
              </a:rPr>
              <a:t>[a] is not already in the table:</a:t>
            </a:r>
          </a:p>
          <a:p>
            <a:pPr lvl="3"/>
            <a:r>
              <a:rPr lang="en-US" dirty="0">
                <a:solidFill>
                  <a:schemeClr val="accent1"/>
                </a:solidFill>
              </a:rPr>
              <a:t>d</a:t>
            </a:r>
            <a:r>
              <a:rPr lang="en-US" baseline="30000" dirty="0">
                <a:solidFill>
                  <a:schemeClr val="accent1"/>
                </a:solidFill>
              </a:rPr>
              <a:t>(k-1)</a:t>
            </a:r>
            <a:r>
              <a:rPr lang="en-US" dirty="0">
                <a:solidFill>
                  <a:schemeClr val="accent1"/>
                </a:solidFill>
              </a:rPr>
              <a:t>[a] = BF*_helper( G, s, a, k-1 )</a:t>
            </a:r>
          </a:p>
          <a:p>
            <a:pPr lvl="1"/>
            <a:r>
              <a:rPr lang="en-US" b="1" dirty="0">
                <a:solidFill>
                  <a:schemeClr val="accent4"/>
                </a:solidFill>
              </a:rPr>
              <a:t>return</a:t>
            </a:r>
            <a:r>
              <a:rPr lang="en-US" dirty="0">
                <a:solidFill>
                  <a:schemeClr val="accent4"/>
                </a:solidFill>
              </a:rPr>
              <a:t> min{ </a:t>
            </a:r>
            <a:r>
              <a:rPr lang="en-US" dirty="0">
                <a:solidFill>
                  <a:schemeClr val="accent1"/>
                </a:solidFill>
              </a:rPr>
              <a:t>d</a:t>
            </a:r>
            <a:r>
              <a:rPr lang="en-US" baseline="30000" dirty="0">
                <a:solidFill>
                  <a:schemeClr val="accent1"/>
                </a:solidFill>
              </a:rPr>
              <a:t>(k-1)</a:t>
            </a:r>
            <a:r>
              <a:rPr lang="en-US" dirty="0">
                <a:solidFill>
                  <a:schemeClr val="accent1"/>
                </a:solidFill>
              </a:rPr>
              <a:t>[b],  </a:t>
            </a:r>
            <a:r>
              <a:rPr lang="en-US" dirty="0">
                <a:solidFill>
                  <a:schemeClr val="accent5"/>
                </a:solidFill>
              </a:rPr>
              <a:t>min</a:t>
            </a:r>
            <a:r>
              <a:rPr lang="en-US" baseline="-25000" dirty="0">
                <a:solidFill>
                  <a:schemeClr val="accent5"/>
                </a:solidFill>
              </a:rPr>
              <a:t>a</a:t>
            </a:r>
            <a:r>
              <a:rPr lang="en-US" dirty="0">
                <a:solidFill>
                  <a:schemeClr val="accent5"/>
                </a:solidFill>
              </a:rPr>
              <a:t> {</a:t>
            </a:r>
            <a:r>
              <a:rPr lang="en-US" dirty="0">
                <a:solidFill>
                  <a:srgbClr val="7030A0"/>
                </a:solidFill>
              </a:rPr>
              <a:t>d</a:t>
            </a:r>
            <a:r>
              <a:rPr lang="en-US" baseline="30000" dirty="0">
                <a:solidFill>
                  <a:srgbClr val="7030A0"/>
                </a:solidFill>
              </a:rPr>
              <a:t>(k-1)</a:t>
            </a:r>
            <a:r>
              <a:rPr lang="en-US" dirty="0">
                <a:solidFill>
                  <a:srgbClr val="7030A0"/>
                </a:solidFill>
              </a:rPr>
              <a:t>[a]  + weight(</a:t>
            </a:r>
            <a:r>
              <a:rPr lang="en-US" dirty="0" err="1">
                <a:solidFill>
                  <a:srgbClr val="7030A0"/>
                </a:solidFill>
              </a:rPr>
              <a:t>a,b</a:t>
            </a:r>
            <a:r>
              <a:rPr lang="en-US" dirty="0">
                <a:solidFill>
                  <a:srgbClr val="7030A0"/>
                </a:solidFill>
              </a:rPr>
              <a:t>)</a:t>
            </a:r>
            <a:r>
              <a:rPr lang="en-US" dirty="0">
                <a:solidFill>
                  <a:schemeClr val="accent5"/>
                </a:solidFill>
              </a:rPr>
              <a:t>} </a:t>
            </a:r>
            <a:r>
              <a:rPr lang="en-US" dirty="0">
                <a:solidFill>
                  <a:schemeClr val="accent4"/>
                </a:solidFill>
              </a:rPr>
              <a:t>}</a:t>
            </a:r>
            <a:endParaRPr lang="en-US" dirty="0"/>
          </a:p>
          <a:p>
            <a:pPr lvl="2"/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3248" y="6211669"/>
            <a:ext cx="9057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*Not the actual Bellman-Ford algorithm; we don’t want to keep all these tables around</a:t>
            </a:r>
          </a:p>
          <a:p>
            <a:r>
              <a:rPr lang="en-US" dirty="0"/>
              <a:t>**Probably not the best way to think about Bellman-Ford: this is for DP pedagogy only!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7901" y="2475471"/>
            <a:ext cx="2781774" cy="278177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 rot="21436367">
            <a:off x="6346071" y="3026266"/>
            <a:ext cx="2286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halkboard" charset="0"/>
                <a:ea typeface="Chalkboard" charset="0"/>
                <a:cs typeface="Chalkboard" charset="0"/>
              </a:rPr>
              <a:t>If we don’t already have d</a:t>
            </a:r>
            <a:r>
              <a:rPr lang="en-US" baseline="30000" dirty="0">
                <a:latin typeface="Chalkboard" charset="0"/>
                <a:ea typeface="Chalkboard" charset="0"/>
                <a:cs typeface="Chalkboard" charset="0"/>
              </a:rPr>
              <a:t>(k-1)</a:t>
            </a:r>
            <a:r>
              <a:rPr lang="en-US" dirty="0">
                <a:latin typeface="Chalkboard" charset="0"/>
                <a:ea typeface="Chalkboard" charset="0"/>
                <a:cs typeface="Chalkboard" charset="0"/>
              </a:rPr>
              <a:t>[a] stored, </a:t>
            </a:r>
            <a:r>
              <a:rPr lang="en-US" b="1" dirty="0">
                <a:latin typeface="Chalkboard" charset="0"/>
                <a:ea typeface="Chalkboard" charset="0"/>
                <a:cs typeface="Chalkboard" charset="0"/>
              </a:rPr>
              <a:t>compute it</a:t>
            </a:r>
            <a:r>
              <a:rPr lang="en-US" dirty="0">
                <a:latin typeface="Chalkboard" charset="0"/>
                <a:ea typeface="Chalkboard" charset="0"/>
                <a:cs typeface="Chalkboard" charset="0"/>
              </a:rPr>
              <a:t>.  </a:t>
            </a:r>
          </a:p>
          <a:p>
            <a:pPr algn="ctr"/>
            <a:r>
              <a:rPr lang="en-US" dirty="0">
                <a:latin typeface="Chalkboard" charset="0"/>
                <a:ea typeface="Chalkboard" charset="0"/>
                <a:cs typeface="Chalkboard" charset="0"/>
              </a:rPr>
              <a:t>But store it so that we never have to do that again!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47901" y="921454"/>
            <a:ext cx="31702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The actual pseudocode here isn’t important, I just want to talk about the structure of it.</a:t>
            </a:r>
          </a:p>
        </p:txBody>
      </p:sp>
    </p:spTree>
    <p:extLst>
      <p:ext uri="{BB962C8B-B14F-4D97-AF65-F5344CB8AC3E}">
        <p14:creationId xmlns:p14="http://schemas.microsoft.com/office/powerpoint/2010/main" val="2065766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783" y="169603"/>
            <a:ext cx="7886700" cy="1325563"/>
          </a:xfrm>
        </p:spPr>
        <p:txBody>
          <a:bodyPr/>
          <a:lstStyle/>
          <a:p>
            <a:r>
              <a:rPr lang="en-US" dirty="0"/>
              <a:t>Visualization </a:t>
            </a:r>
            <a:br>
              <a:rPr lang="en-US" dirty="0"/>
            </a:br>
            <a:r>
              <a:rPr lang="en-US" sz="3600" dirty="0">
                <a:solidFill>
                  <a:schemeClr val="accent1"/>
                </a:solidFill>
              </a:rPr>
              <a:t>top-down approach</a:t>
            </a:r>
          </a:p>
        </p:txBody>
      </p:sp>
      <p:sp>
        <p:nvSpPr>
          <p:cNvPr id="4" name="Oval 3"/>
          <p:cNvSpPr/>
          <p:nvPr/>
        </p:nvSpPr>
        <p:spPr>
          <a:xfrm>
            <a:off x="1678973" y="1977080"/>
            <a:ext cx="2483708" cy="6919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d</a:t>
            </a:r>
            <a:r>
              <a:rPr lang="en-US" sz="2800" baseline="30000" dirty="0"/>
              <a:t>(n-1)</a:t>
            </a:r>
            <a:r>
              <a:rPr lang="en-US" sz="2800" dirty="0"/>
              <a:t>[u]</a:t>
            </a:r>
          </a:p>
        </p:txBody>
      </p:sp>
      <p:cxnSp>
        <p:nvCxnSpPr>
          <p:cNvPr id="6" name="Straight Connector 5"/>
          <p:cNvCxnSpPr>
            <a:stCxn id="4" idx="4"/>
          </p:cNvCxnSpPr>
          <p:nvPr/>
        </p:nvCxnSpPr>
        <p:spPr>
          <a:xfrm>
            <a:off x="2920827" y="2669058"/>
            <a:ext cx="1402493" cy="117389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stCxn id="4" idx="4"/>
            <a:endCxn id="26" idx="0"/>
          </p:cNvCxnSpPr>
          <p:nvPr/>
        </p:nvCxnSpPr>
        <p:spPr>
          <a:xfrm flipH="1">
            <a:off x="2516916" y="2669058"/>
            <a:ext cx="403911" cy="110593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4" idx="4"/>
          </p:cNvCxnSpPr>
          <p:nvPr/>
        </p:nvCxnSpPr>
        <p:spPr>
          <a:xfrm flipH="1">
            <a:off x="962284" y="2669058"/>
            <a:ext cx="1958543" cy="103796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6031642" y="1977080"/>
            <a:ext cx="2483708" cy="6919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/>
              <a:t>d</a:t>
            </a:r>
            <a:r>
              <a:rPr lang="en-US" sz="2800" baseline="30000"/>
              <a:t>(n-1)</a:t>
            </a:r>
            <a:r>
              <a:rPr lang="en-US" sz="2800"/>
              <a:t>[v]</a:t>
            </a:r>
            <a:endParaRPr lang="en-US" sz="2800" dirty="0"/>
          </a:p>
        </p:txBody>
      </p:sp>
      <p:cxnSp>
        <p:nvCxnSpPr>
          <p:cNvPr id="20" name="Straight Connector 19"/>
          <p:cNvCxnSpPr>
            <a:endCxn id="30" idx="0"/>
          </p:cNvCxnSpPr>
          <p:nvPr/>
        </p:nvCxnSpPr>
        <p:spPr>
          <a:xfrm>
            <a:off x="7273496" y="2669058"/>
            <a:ext cx="1104385" cy="109357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7273497" y="2669058"/>
            <a:ext cx="2007972" cy="69197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5966769" y="3842950"/>
            <a:ext cx="1532238" cy="69197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d</a:t>
            </a:r>
            <a:r>
              <a:rPr lang="en-US" sz="2400" baseline="30000" dirty="0">
                <a:solidFill>
                  <a:schemeClr val="bg1"/>
                </a:solidFill>
              </a:rPr>
              <a:t>(n-2)</a:t>
            </a:r>
            <a:r>
              <a:rPr lang="en-US" sz="2400" dirty="0">
                <a:solidFill>
                  <a:schemeClr val="bg1"/>
                </a:solidFill>
              </a:rPr>
              <a:t>[a]</a:t>
            </a:r>
          </a:p>
        </p:txBody>
      </p:sp>
      <p:sp>
        <p:nvSpPr>
          <p:cNvPr id="25" name="Oval 24"/>
          <p:cNvSpPr/>
          <p:nvPr/>
        </p:nvSpPr>
        <p:spPr>
          <a:xfrm>
            <a:off x="3399654" y="3707027"/>
            <a:ext cx="1532238" cy="69197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d</a:t>
            </a:r>
            <a:r>
              <a:rPr lang="en-US" sz="2400" baseline="30000" dirty="0">
                <a:solidFill>
                  <a:schemeClr val="bg1"/>
                </a:solidFill>
              </a:rPr>
              <a:t>(n-2)</a:t>
            </a:r>
            <a:r>
              <a:rPr lang="en-US" sz="2400" dirty="0">
                <a:solidFill>
                  <a:schemeClr val="bg1"/>
                </a:solidFill>
              </a:rPr>
              <a:t>[a]</a:t>
            </a:r>
          </a:p>
        </p:txBody>
      </p:sp>
      <p:sp>
        <p:nvSpPr>
          <p:cNvPr id="26" name="Oval 25"/>
          <p:cNvSpPr/>
          <p:nvPr/>
        </p:nvSpPr>
        <p:spPr>
          <a:xfrm>
            <a:off x="1750797" y="3774989"/>
            <a:ext cx="1532238" cy="69197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d</a:t>
            </a:r>
            <a:r>
              <a:rPr lang="en-US" sz="2400" baseline="30000" dirty="0">
                <a:solidFill>
                  <a:schemeClr val="bg1"/>
                </a:solidFill>
              </a:rPr>
              <a:t>(n-2)</a:t>
            </a:r>
            <a:r>
              <a:rPr lang="en-US" sz="2400" dirty="0">
                <a:solidFill>
                  <a:schemeClr val="bg1"/>
                </a:solidFill>
              </a:rPr>
              <a:t>[y]</a:t>
            </a:r>
          </a:p>
        </p:txBody>
      </p:sp>
      <p:sp>
        <p:nvSpPr>
          <p:cNvPr id="27" name="Oval 26"/>
          <p:cNvSpPr/>
          <p:nvPr/>
        </p:nvSpPr>
        <p:spPr>
          <a:xfrm>
            <a:off x="128200" y="3707027"/>
            <a:ext cx="1532238" cy="69197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d</a:t>
            </a:r>
            <a:r>
              <a:rPr lang="en-US" sz="2400" baseline="30000" dirty="0">
                <a:solidFill>
                  <a:schemeClr val="bg1"/>
                </a:solidFill>
              </a:rPr>
              <a:t>(n-2)</a:t>
            </a:r>
            <a:r>
              <a:rPr lang="en-US" sz="2400" dirty="0">
                <a:solidFill>
                  <a:schemeClr val="bg1"/>
                </a:solidFill>
              </a:rPr>
              <a:t>[x]</a:t>
            </a:r>
          </a:p>
        </p:txBody>
      </p:sp>
      <p:sp>
        <p:nvSpPr>
          <p:cNvPr id="30" name="Oval 29"/>
          <p:cNvSpPr/>
          <p:nvPr/>
        </p:nvSpPr>
        <p:spPr>
          <a:xfrm>
            <a:off x="7611762" y="3762631"/>
            <a:ext cx="1532238" cy="69197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d</a:t>
            </a:r>
            <a:r>
              <a:rPr lang="en-US" sz="2400" baseline="30000" dirty="0">
                <a:solidFill>
                  <a:schemeClr val="bg1"/>
                </a:solidFill>
              </a:rPr>
              <a:t>(n-2)</a:t>
            </a:r>
            <a:r>
              <a:rPr lang="en-US" sz="2400" dirty="0">
                <a:solidFill>
                  <a:schemeClr val="bg1"/>
                </a:solidFill>
              </a:rPr>
              <a:t>[x]</a:t>
            </a:r>
          </a:p>
        </p:txBody>
      </p:sp>
      <p:cxnSp>
        <p:nvCxnSpPr>
          <p:cNvPr id="131" name="Straight Connector 130"/>
          <p:cNvCxnSpPr>
            <a:endCxn id="24" idx="0"/>
          </p:cNvCxnSpPr>
          <p:nvPr/>
        </p:nvCxnSpPr>
        <p:spPr>
          <a:xfrm flipH="1">
            <a:off x="6732888" y="2669058"/>
            <a:ext cx="540609" cy="117389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/>
          <p:cNvCxnSpPr>
            <a:stCxn id="4" idx="4"/>
          </p:cNvCxnSpPr>
          <p:nvPr/>
        </p:nvCxnSpPr>
        <p:spPr>
          <a:xfrm flipH="1">
            <a:off x="-334787" y="2669058"/>
            <a:ext cx="3255614" cy="87733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/>
          <p:cNvCxnSpPr>
            <a:stCxn id="25" idx="4"/>
          </p:cNvCxnSpPr>
          <p:nvPr/>
        </p:nvCxnSpPr>
        <p:spPr>
          <a:xfrm>
            <a:off x="4165773" y="4399005"/>
            <a:ext cx="1104384" cy="146028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/>
          <p:cNvCxnSpPr>
            <a:stCxn id="25" idx="4"/>
          </p:cNvCxnSpPr>
          <p:nvPr/>
        </p:nvCxnSpPr>
        <p:spPr>
          <a:xfrm>
            <a:off x="4165773" y="4399005"/>
            <a:ext cx="152139" cy="146028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/>
          <p:cNvCxnSpPr>
            <a:stCxn id="25" idx="4"/>
            <a:endCxn id="149" idx="0"/>
          </p:cNvCxnSpPr>
          <p:nvPr/>
        </p:nvCxnSpPr>
        <p:spPr>
          <a:xfrm flipH="1">
            <a:off x="2798035" y="4399005"/>
            <a:ext cx="1367738" cy="129745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Oval 146"/>
          <p:cNvSpPr/>
          <p:nvPr/>
        </p:nvSpPr>
        <p:spPr>
          <a:xfrm>
            <a:off x="4763531" y="5708820"/>
            <a:ext cx="1203238" cy="69197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d</a:t>
            </a:r>
            <a:r>
              <a:rPr lang="en-US" baseline="30000">
                <a:solidFill>
                  <a:schemeClr val="bg1"/>
                </a:solidFill>
              </a:rPr>
              <a:t>(n-3)</a:t>
            </a:r>
            <a:r>
              <a:rPr lang="en-US">
                <a:solidFill>
                  <a:schemeClr val="bg1"/>
                </a:solidFill>
              </a:rPr>
              <a:t>[v]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8" name="Oval 147"/>
          <p:cNvSpPr/>
          <p:nvPr/>
        </p:nvSpPr>
        <p:spPr>
          <a:xfrm>
            <a:off x="3546392" y="5784054"/>
            <a:ext cx="1203238" cy="69197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  <a:r>
              <a:rPr lang="en-US" baseline="30000" dirty="0">
                <a:solidFill>
                  <a:schemeClr val="bg1"/>
                </a:solidFill>
              </a:rPr>
              <a:t>(n-3)</a:t>
            </a:r>
            <a:r>
              <a:rPr lang="en-US" dirty="0">
                <a:solidFill>
                  <a:schemeClr val="bg1"/>
                </a:solidFill>
              </a:rPr>
              <a:t>[t]</a:t>
            </a:r>
          </a:p>
        </p:txBody>
      </p:sp>
      <p:sp>
        <p:nvSpPr>
          <p:cNvPr id="149" name="Oval 148"/>
          <p:cNvSpPr/>
          <p:nvPr/>
        </p:nvSpPr>
        <p:spPr>
          <a:xfrm>
            <a:off x="2196416" y="5696461"/>
            <a:ext cx="1203238" cy="69197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  <a:r>
              <a:rPr lang="en-US" baseline="30000" dirty="0">
                <a:solidFill>
                  <a:schemeClr val="bg1"/>
                </a:solidFill>
              </a:rPr>
              <a:t>(n-3)</a:t>
            </a:r>
            <a:r>
              <a:rPr lang="en-US" dirty="0">
                <a:solidFill>
                  <a:schemeClr val="bg1"/>
                </a:solidFill>
              </a:rPr>
              <a:t>[z]</a:t>
            </a:r>
          </a:p>
        </p:txBody>
      </p:sp>
      <p:cxnSp>
        <p:nvCxnSpPr>
          <p:cNvPr id="151" name="Straight Connector 150"/>
          <p:cNvCxnSpPr/>
          <p:nvPr/>
        </p:nvCxnSpPr>
        <p:spPr>
          <a:xfrm>
            <a:off x="6924415" y="4504037"/>
            <a:ext cx="1104384" cy="146028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/>
          <p:cNvCxnSpPr>
            <a:endCxn id="154" idx="0"/>
          </p:cNvCxnSpPr>
          <p:nvPr/>
        </p:nvCxnSpPr>
        <p:spPr>
          <a:xfrm flipH="1">
            <a:off x="6906653" y="4504037"/>
            <a:ext cx="17762" cy="138504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Oval 152"/>
          <p:cNvSpPr/>
          <p:nvPr/>
        </p:nvSpPr>
        <p:spPr>
          <a:xfrm>
            <a:off x="7522173" y="5813852"/>
            <a:ext cx="1203238" cy="69197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d</a:t>
            </a:r>
            <a:r>
              <a:rPr lang="en-US" baseline="30000">
                <a:solidFill>
                  <a:schemeClr val="bg1"/>
                </a:solidFill>
              </a:rPr>
              <a:t>(n-3)</a:t>
            </a:r>
            <a:r>
              <a:rPr lang="en-US">
                <a:solidFill>
                  <a:schemeClr val="bg1"/>
                </a:solidFill>
              </a:rPr>
              <a:t>[v]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4" name="Oval 153"/>
          <p:cNvSpPr/>
          <p:nvPr/>
        </p:nvSpPr>
        <p:spPr>
          <a:xfrm>
            <a:off x="6305034" y="5889086"/>
            <a:ext cx="1203238" cy="69197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  <a:r>
              <a:rPr lang="en-US" baseline="30000" dirty="0">
                <a:solidFill>
                  <a:schemeClr val="bg1"/>
                </a:solidFill>
              </a:rPr>
              <a:t>(n-3)</a:t>
            </a:r>
            <a:r>
              <a:rPr lang="en-US" dirty="0">
                <a:solidFill>
                  <a:schemeClr val="bg1"/>
                </a:solidFill>
              </a:rPr>
              <a:t>[x]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9931" y="4775883"/>
            <a:ext cx="24752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This is a really big recursion tree!  Naively, n layers, so at least 2</a:t>
            </a:r>
            <a:r>
              <a:rPr lang="en-US" baseline="30000" dirty="0">
                <a:solidFill>
                  <a:schemeClr val="accent5"/>
                </a:solidFill>
              </a:rPr>
              <a:t>n</a:t>
            </a:r>
            <a:r>
              <a:rPr lang="en-US" dirty="0">
                <a:solidFill>
                  <a:schemeClr val="accent5"/>
                </a:solidFill>
              </a:rPr>
              <a:t> time!</a:t>
            </a:r>
          </a:p>
        </p:txBody>
      </p:sp>
      <p:pic>
        <p:nvPicPr>
          <p:cNvPr id="157" name="Picture 1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7965" y="282657"/>
            <a:ext cx="1758522" cy="1758522"/>
          </a:xfrm>
          <a:prstGeom prst="rect">
            <a:avLst/>
          </a:prstGeom>
        </p:spPr>
      </p:pic>
      <p:sp>
        <p:nvSpPr>
          <p:cNvPr id="158" name="TextBox 157"/>
          <p:cNvSpPr txBox="1"/>
          <p:nvPr/>
        </p:nvSpPr>
        <p:spPr>
          <a:xfrm rot="21436367">
            <a:off x="4780196" y="603138"/>
            <a:ext cx="16233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halkboard" charset="0"/>
                <a:ea typeface="Chalkboard" charset="0"/>
                <a:cs typeface="Chalkboard" charset="0"/>
              </a:rPr>
              <a:t>Identify repeated nodes and don’t do the same work twice!</a:t>
            </a:r>
          </a:p>
        </p:txBody>
      </p:sp>
      <p:sp>
        <p:nvSpPr>
          <p:cNvPr id="159" name="Freeform 158"/>
          <p:cNvSpPr/>
          <p:nvPr/>
        </p:nvSpPr>
        <p:spPr>
          <a:xfrm>
            <a:off x="3263467" y="3275252"/>
            <a:ext cx="4415333" cy="1522041"/>
          </a:xfrm>
          <a:custGeom>
            <a:avLst/>
            <a:gdLst>
              <a:gd name="connsiteX0" fmla="*/ 2470068 w 4415333"/>
              <a:gd name="connsiteY0" fmla="*/ 938402 h 1522041"/>
              <a:gd name="connsiteX1" fmla="*/ 2754274 w 4415333"/>
              <a:gd name="connsiteY1" fmla="*/ 1333818 h 1522041"/>
              <a:gd name="connsiteX2" fmla="*/ 3433895 w 4415333"/>
              <a:gd name="connsiteY2" fmla="*/ 1519170 h 1522041"/>
              <a:gd name="connsiteX3" fmla="*/ 4274155 w 4415333"/>
              <a:gd name="connsiteY3" fmla="*/ 1383245 h 1522041"/>
              <a:gd name="connsiteX4" fmla="*/ 4237084 w 4415333"/>
              <a:gd name="connsiteY4" fmla="*/ 654197 h 1522041"/>
              <a:gd name="connsiteX5" fmla="*/ 2544209 w 4415333"/>
              <a:gd name="connsiteY5" fmla="*/ 11645 h 1522041"/>
              <a:gd name="connsiteX6" fmla="*/ 431203 w 4415333"/>
              <a:gd name="connsiteY6" fmla="*/ 283494 h 1522041"/>
              <a:gd name="connsiteX7" fmla="*/ 11074 w 4415333"/>
              <a:gd name="connsiteY7" fmla="*/ 827191 h 1522041"/>
              <a:gd name="connsiteX8" fmla="*/ 208782 w 4415333"/>
              <a:gd name="connsiteY8" fmla="*/ 1259678 h 1522041"/>
              <a:gd name="connsiteX9" fmla="*/ 1098468 w 4415333"/>
              <a:gd name="connsiteY9" fmla="*/ 1383245 h 1522041"/>
              <a:gd name="connsiteX10" fmla="*/ 1926371 w 4415333"/>
              <a:gd name="connsiteY10" fmla="*/ 802478 h 1522041"/>
              <a:gd name="connsiteX11" fmla="*/ 2334144 w 4415333"/>
              <a:gd name="connsiteY11" fmla="*/ 604770 h 1522041"/>
              <a:gd name="connsiteX12" fmla="*/ 2470068 w 4415333"/>
              <a:gd name="connsiteY12" fmla="*/ 938402 h 1522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415333" h="1522041">
                <a:moveTo>
                  <a:pt x="2470068" y="938402"/>
                </a:moveTo>
                <a:cubicBezTo>
                  <a:pt x="2540090" y="1059910"/>
                  <a:pt x="2593636" y="1237023"/>
                  <a:pt x="2754274" y="1333818"/>
                </a:cubicBezTo>
                <a:cubicBezTo>
                  <a:pt x="2914912" y="1430613"/>
                  <a:pt x="3180582" y="1510932"/>
                  <a:pt x="3433895" y="1519170"/>
                </a:cubicBezTo>
                <a:cubicBezTo>
                  <a:pt x="3687208" y="1527408"/>
                  <a:pt x="4140290" y="1527407"/>
                  <a:pt x="4274155" y="1383245"/>
                </a:cubicBezTo>
                <a:cubicBezTo>
                  <a:pt x="4408020" y="1239083"/>
                  <a:pt x="4525408" y="882797"/>
                  <a:pt x="4237084" y="654197"/>
                </a:cubicBezTo>
                <a:cubicBezTo>
                  <a:pt x="3948760" y="425597"/>
                  <a:pt x="3178522" y="73429"/>
                  <a:pt x="2544209" y="11645"/>
                </a:cubicBezTo>
                <a:cubicBezTo>
                  <a:pt x="1909896" y="-50139"/>
                  <a:pt x="853392" y="147570"/>
                  <a:pt x="431203" y="283494"/>
                </a:cubicBezTo>
                <a:cubicBezTo>
                  <a:pt x="9014" y="419418"/>
                  <a:pt x="48144" y="664494"/>
                  <a:pt x="11074" y="827191"/>
                </a:cubicBezTo>
                <a:cubicBezTo>
                  <a:pt x="-25996" y="989888"/>
                  <a:pt x="27550" y="1167002"/>
                  <a:pt x="208782" y="1259678"/>
                </a:cubicBezTo>
                <a:cubicBezTo>
                  <a:pt x="390014" y="1352354"/>
                  <a:pt x="812203" y="1459445"/>
                  <a:pt x="1098468" y="1383245"/>
                </a:cubicBezTo>
                <a:cubicBezTo>
                  <a:pt x="1384733" y="1307045"/>
                  <a:pt x="1720425" y="932224"/>
                  <a:pt x="1926371" y="802478"/>
                </a:cubicBezTo>
                <a:cubicBezTo>
                  <a:pt x="2132317" y="672732"/>
                  <a:pt x="2245587" y="584175"/>
                  <a:pt x="2334144" y="604770"/>
                </a:cubicBezTo>
                <a:cubicBezTo>
                  <a:pt x="2422701" y="625364"/>
                  <a:pt x="2400046" y="816894"/>
                  <a:pt x="2470068" y="938402"/>
                </a:cubicBezTo>
                <a:close/>
              </a:path>
            </a:pathLst>
          </a:custGeom>
          <a:noFill/>
          <a:ln w="47625">
            <a:solidFill>
              <a:srgbClr val="FF00EB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Freeform 159"/>
          <p:cNvSpPr/>
          <p:nvPr/>
        </p:nvSpPr>
        <p:spPr>
          <a:xfrm>
            <a:off x="-93279" y="3441269"/>
            <a:ext cx="9362075" cy="2011088"/>
          </a:xfrm>
          <a:custGeom>
            <a:avLst/>
            <a:gdLst>
              <a:gd name="connsiteX0" fmla="*/ 8780079 w 9362075"/>
              <a:gd name="connsiteY0" fmla="*/ 154547 h 2011088"/>
              <a:gd name="connsiteX1" fmla="*/ 7964533 w 9362075"/>
              <a:gd name="connsiteY1" fmla="*/ 191617 h 2011088"/>
              <a:gd name="connsiteX2" fmla="*/ 7618544 w 9362075"/>
              <a:gd name="connsiteY2" fmla="*/ 549963 h 2011088"/>
              <a:gd name="connsiteX3" fmla="*/ 7383765 w 9362075"/>
              <a:gd name="connsiteY3" fmla="*/ 1241942 h 2011088"/>
              <a:gd name="connsiteX4" fmla="*/ 4554068 w 9362075"/>
              <a:gd name="connsiteY4" fmla="*/ 1699142 h 2011088"/>
              <a:gd name="connsiteX5" fmla="*/ 2206284 w 9362075"/>
              <a:gd name="connsiteY5" fmla="*/ 1340796 h 2011088"/>
              <a:gd name="connsiteX6" fmla="*/ 1736728 w 9362075"/>
              <a:gd name="connsiteY6" fmla="*/ 698245 h 2011088"/>
              <a:gd name="connsiteX7" fmla="*/ 933538 w 9362075"/>
              <a:gd name="connsiteY7" fmla="*/ 6266 h 2011088"/>
              <a:gd name="connsiteX8" fmla="*/ 68565 w 9362075"/>
              <a:gd name="connsiteY8" fmla="*/ 401682 h 2011088"/>
              <a:gd name="connsiteX9" fmla="*/ 216847 w 9362075"/>
              <a:gd name="connsiteY9" fmla="*/ 1155445 h 2011088"/>
              <a:gd name="connsiteX10" fmla="*/ 1501949 w 9362075"/>
              <a:gd name="connsiteY10" fmla="*/ 1254299 h 2011088"/>
              <a:gd name="connsiteX11" fmla="*/ 2638771 w 9362075"/>
              <a:gd name="connsiteY11" fmla="*/ 1662072 h 2011088"/>
              <a:gd name="connsiteX12" fmla="*/ 4356360 w 9362075"/>
              <a:gd name="connsiteY12" fmla="*/ 1995704 h 2011088"/>
              <a:gd name="connsiteX13" fmla="*/ 8149884 w 9362075"/>
              <a:gd name="connsiteY13" fmla="*/ 1835066 h 2011088"/>
              <a:gd name="connsiteX14" fmla="*/ 9348490 w 9362075"/>
              <a:gd name="connsiteY14" fmla="*/ 809455 h 2011088"/>
              <a:gd name="connsiteX15" fmla="*/ 8829506 w 9362075"/>
              <a:gd name="connsiteY15" fmla="*/ 142190 h 2011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9362075" h="2011088">
                <a:moveTo>
                  <a:pt x="8780079" y="154547"/>
                </a:moveTo>
                <a:lnTo>
                  <a:pt x="7964533" y="191617"/>
                </a:lnTo>
                <a:cubicBezTo>
                  <a:pt x="7770944" y="257520"/>
                  <a:pt x="7715339" y="374909"/>
                  <a:pt x="7618544" y="549963"/>
                </a:cubicBezTo>
                <a:cubicBezTo>
                  <a:pt x="7521749" y="725017"/>
                  <a:pt x="7894511" y="1050412"/>
                  <a:pt x="7383765" y="1241942"/>
                </a:cubicBezTo>
                <a:cubicBezTo>
                  <a:pt x="6873019" y="1433472"/>
                  <a:pt x="5416981" y="1682666"/>
                  <a:pt x="4554068" y="1699142"/>
                </a:cubicBezTo>
                <a:cubicBezTo>
                  <a:pt x="3691155" y="1715618"/>
                  <a:pt x="2675841" y="1507612"/>
                  <a:pt x="2206284" y="1340796"/>
                </a:cubicBezTo>
                <a:cubicBezTo>
                  <a:pt x="1736727" y="1173980"/>
                  <a:pt x="1948852" y="920667"/>
                  <a:pt x="1736728" y="698245"/>
                </a:cubicBezTo>
                <a:cubicBezTo>
                  <a:pt x="1524604" y="475823"/>
                  <a:pt x="1211565" y="55693"/>
                  <a:pt x="933538" y="6266"/>
                </a:cubicBezTo>
                <a:cubicBezTo>
                  <a:pt x="655511" y="-43161"/>
                  <a:pt x="188013" y="210152"/>
                  <a:pt x="68565" y="401682"/>
                </a:cubicBezTo>
                <a:cubicBezTo>
                  <a:pt x="-50883" y="593212"/>
                  <a:pt x="-22050" y="1013342"/>
                  <a:pt x="216847" y="1155445"/>
                </a:cubicBezTo>
                <a:cubicBezTo>
                  <a:pt x="455744" y="1297548"/>
                  <a:pt x="1098295" y="1169861"/>
                  <a:pt x="1501949" y="1254299"/>
                </a:cubicBezTo>
                <a:cubicBezTo>
                  <a:pt x="1905603" y="1338737"/>
                  <a:pt x="2163036" y="1538505"/>
                  <a:pt x="2638771" y="1662072"/>
                </a:cubicBezTo>
                <a:cubicBezTo>
                  <a:pt x="3114506" y="1785640"/>
                  <a:pt x="3437841" y="1966872"/>
                  <a:pt x="4356360" y="1995704"/>
                </a:cubicBezTo>
                <a:cubicBezTo>
                  <a:pt x="5274879" y="2024536"/>
                  <a:pt x="7317862" y="2032774"/>
                  <a:pt x="8149884" y="1835066"/>
                </a:cubicBezTo>
                <a:cubicBezTo>
                  <a:pt x="8981906" y="1637358"/>
                  <a:pt x="9235220" y="1091601"/>
                  <a:pt x="9348490" y="809455"/>
                </a:cubicBezTo>
                <a:cubicBezTo>
                  <a:pt x="9461760" y="527309"/>
                  <a:pt x="8829506" y="142190"/>
                  <a:pt x="8829506" y="142190"/>
                </a:cubicBezTo>
              </a:path>
            </a:pathLst>
          </a:custGeom>
          <a:noFill/>
          <a:ln w="412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Freeform 161"/>
          <p:cNvSpPr/>
          <p:nvPr/>
        </p:nvSpPr>
        <p:spPr>
          <a:xfrm>
            <a:off x="4614292" y="5552243"/>
            <a:ext cx="4400413" cy="1255014"/>
          </a:xfrm>
          <a:custGeom>
            <a:avLst/>
            <a:gdLst>
              <a:gd name="connsiteX0" fmla="*/ 4319643 w 4400413"/>
              <a:gd name="connsiteY0" fmla="*/ 490211 h 1255014"/>
              <a:gd name="connsiteX1" fmla="*/ 3936584 w 4400413"/>
              <a:gd name="connsiteY1" fmla="*/ 70081 h 1255014"/>
              <a:gd name="connsiteX2" fmla="*/ 2972757 w 4400413"/>
              <a:gd name="connsiteY2" fmla="*/ 94795 h 1255014"/>
              <a:gd name="connsiteX3" fmla="*/ 2873903 w 4400413"/>
              <a:gd name="connsiteY3" fmla="*/ 984481 h 1255014"/>
              <a:gd name="connsiteX4" fmla="*/ 1774151 w 4400413"/>
              <a:gd name="connsiteY4" fmla="*/ 1070979 h 1255014"/>
              <a:gd name="connsiteX5" fmla="*/ 1378735 w 4400413"/>
              <a:gd name="connsiteY5" fmla="*/ 502568 h 1255014"/>
              <a:gd name="connsiteX6" fmla="*/ 884465 w 4400413"/>
              <a:gd name="connsiteY6" fmla="*/ 20654 h 1255014"/>
              <a:gd name="connsiteX7" fmla="*/ 130703 w 4400413"/>
              <a:gd name="connsiteY7" fmla="*/ 230719 h 1255014"/>
              <a:gd name="connsiteX8" fmla="*/ 118346 w 4400413"/>
              <a:gd name="connsiteY8" fmla="*/ 897984 h 1255014"/>
              <a:gd name="connsiteX9" fmla="*/ 1316951 w 4400413"/>
              <a:gd name="connsiteY9" fmla="*/ 1219260 h 1255014"/>
              <a:gd name="connsiteX10" fmla="*/ 3256962 w 4400413"/>
              <a:gd name="connsiteY10" fmla="*/ 1206903 h 1255014"/>
              <a:gd name="connsiteX11" fmla="*/ 4294930 w 4400413"/>
              <a:gd name="connsiteY11" fmla="*/ 860914 h 1255014"/>
              <a:gd name="connsiteX12" fmla="*/ 4319643 w 4400413"/>
              <a:gd name="connsiteY12" fmla="*/ 490211 h 1255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400413" h="1255014">
                <a:moveTo>
                  <a:pt x="4319643" y="490211"/>
                </a:moveTo>
                <a:cubicBezTo>
                  <a:pt x="4259919" y="358405"/>
                  <a:pt x="4161065" y="135984"/>
                  <a:pt x="3936584" y="70081"/>
                </a:cubicBezTo>
                <a:cubicBezTo>
                  <a:pt x="3712103" y="4178"/>
                  <a:pt x="3149870" y="-57605"/>
                  <a:pt x="2972757" y="94795"/>
                </a:cubicBezTo>
                <a:cubicBezTo>
                  <a:pt x="2795643" y="247195"/>
                  <a:pt x="3073671" y="821784"/>
                  <a:pt x="2873903" y="984481"/>
                </a:cubicBezTo>
                <a:cubicBezTo>
                  <a:pt x="2674135" y="1147178"/>
                  <a:pt x="2023346" y="1151298"/>
                  <a:pt x="1774151" y="1070979"/>
                </a:cubicBezTo>
                <a:cubicBezTo>
                  <a:pt x="1524956" y="990660"/>
                  <a:pt x="1527016" y="677622"/>
                  <a:pt x="1378735" y="502568"/>
                </a:cubicBezTo>
                <a:cubicBezTo>
                  <a:pt x="1230454" y="327514"/>
                  <a:pt x="1092470" y="65962"/>
                  <a:pt x="884465" y="20654"/>
                </a:cubicBezTo>
                <a:cubicBezTo>
                  <a:pt x="676460" y="-24654"/>
                  <a:pt x="258390" y="84497"/>
                  <a:pt x="130703" y="230719"/>
                </a:cubicBezTo>
                <a:cubicBezTo>
                  <a:pt x="3016" y="376941"/>
                  <a:pt x="-79362" y="733227"/>
                  <a:pt x="118346" y="897984"/>
                </a:cubicBezTo>
                <a:cubicBezTo>
                  <a:pt x="316054" y="1062741"/>
                  <a:pt x="793848" y="1167774"/>
                  <a:pt x="1316951" y="1219260"/>
                </a:cubicBezTo>
                <a:cubicBezTo>
                  <a:pt x="1840054" y="1270746"/>
                  <a:pt x="2760632" y="1266627"/>
                  <a:pt x="3256962" y="1206903"/>
                </a:cubicBezTo>
                <a:cubicBezTo>
                  <a:pt x="3753292" y="1147179"/>
                  <a:pt x="4111638" y="976244"/>
                  <a:pt x="4294930" y="860914"/>
                </a:cubicBezTo>
                <a:cubicBezTo>
                  <a:pt x="4478222" y="745584"/>
                  <a:pt x="4379367" y="622017"/>
                  <a:pt x="4319643" y="490211"/>
                </a:cubicBezTo>
                <a:close/>
              </a:path>
            </a:pathLst>
          </a:custGeom>
          <a:noFill/>
          <a:ln w="539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116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0"/>
      <p:bldP spid="158" grpId="0"/>
      <p:bldP spid="159" grpId="0" animBg="1"/>
      <p:bldP spid="160" grpId="0" animBg="1"/>
      <p:bldP spid="16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783" y="169603"/>
            <a:ext cx="7886700" cy="1325563"/>
          </a:xfrm>
        </p:spPr>
        <p:txBody>
          <a:bodyPr/>
          <a:lstStyle/>
          <a:p>
            <a:r>
              <a:rPr lang="en-US" dirty="0"/>
              <a:t>Visualization </a:t>
            </a:r>
            <a:br>
              <a:rPr lang="en-US" dirty="0"/>
            </a:br>
            <a:r>
              <a:rPr lang="en-US" sz="3600" dirty="0">
                <a:solidFill>
                  <a:schemeClr val="accent1"/>
                </a:solidFill>
              </a:rPr>
              <a:t>top-down approach</a:t>
            </a:r>
          </a:p>
        </p:txBody>
      </p:sp>
      <p:sp>
        <p:nvSpPr>
          <p:cNvPr id="4" name="Oval 3"/>
          <p:cNvSpPr/>
          <p:nvPr/>
        </p:nvSpPr>
        <p:spPr>
          <a:xfrm>
            <a:off x="1678973" y="1977080"/>
            <a:ext cx="2483708" cy="6919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d</a:t>
            </a:r>
            <a:r>
              <a:rPr lang="en-US" sz="2800" baseline="30000" dirty="0"/>
              <a:t>(n-1)</a:t>
            </a:r>
            <a:r>
              <a:rPr lang="en-US" sz="2800" dirty="0"/>
              <a:t>[u]</a:t>
            </a:r>
          </a:p>
        </p:txBody>
      </p:sp>
      <p:cxnSp>
        <p:nvCxnSpPr>
          <p:cNvPr id="6" name="Straight Connector 5"/>
          <p:cNvCxnSpPr>
            <a:stCxn id="4" idx="4"/>
          </p:cNvCxnSpPr>
          <p:nvPr/>
        </p:nvCxnSpPr>
        <p:spPr>
          <a:xfrm>
            <a:off x="2920827" y="2669058"/>
            <a:ext cx="1402493" cy="117389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stCxn id="4" idx="4"/>
            <a:endCxn id="26" idx="0"/>
          </p:cNvCxnSpPr>
          <p:nvPr/>
        </p:nvCxnSpPr>
        <p:spPr>
          <a:xfrm flipH="1">
            <a:off x="2516916" y="2669058"/>
            <a:ext cx="403911" cy="110593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4" idx="4"/>
          </p:cNvCxnSpPr>
          <p:nvPr/>
        </p:nvCxnSpPr>
        <p:spPr>
          <a:xfrm flipH="1">
            <a:off x="962284" y="2669058"/>
            <a:ext cx="1958543" cy="103796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6031642" y="1977080"/>
            <a:ext cx="2483708" cy="6919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/>
              <a:t>d</a:t>
            </a:r>
            <a:r>
              <a:rPr lang="en-US" sz="2800" baseline="30000"/>
              <a:t>(n-1)</a:t>
            </a:r>
            <a:r>
              <a:rPr lang="en-US" sz="2800"/>
              <a:t>[v]</a:t>
            </a:r>
            <a:endParaRPr lang="en-US" sz="2800" dirty="0"/>
          </a:p>
        </p:txBody>
      </p:sp>
      <p:cxnSp>
        <p:nvCxnSpPr>
          <p:cNvPr id="20" name="Straight Connector 19"/>
          <p:cNvCxnSpPr>
            <a:endCxn id="27" idx="0"/>
          </p:cNvCxnSpPr>
          <p:nvPr/>
        </p:nvCxnSpPr>
        <p:spPr>
          <a:xfrm flipH="1">
            <a:off x="894319" y="2669058"/>
            <a:ext cx="6379177" cy="103796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7273497" y="2669058"/>
            <a:ext cx="234775" cy="96273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3399654" y="3707027"/>
            <a:ext cx="1532238" cy="69197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d</a:t>
            </a:r>
            <a:r>
              <a:rPr lang="en-US" sz="2400" baseline="30000" dirty="0">
                <a:solidFill>
                  <a:schemeClr val="bg1"/>
                </a:solidFill>
              </a:rPr>
              <a:t>(n-2)</a:t>
            </a:r>
            <a:r>
              <a:rPr lang="en-US" sz="2400" dirty="0">
                <a:solidFill>
                  <a:schemeClr val="bg1"/>
                </a:solidFill>
              </a:rPr>
              <a:t>[a]</a:t>
            </a:r>
          </a:p>
        </p:txBody>
      </p:sp>
      <p:sp>
        <p:nvSpPr>
          <p:cNvPr id="26" name="Oval 25"/>
          <p:cNvSpPr/>
          <p:nvPr/>
        </p:nvSpPr>
        <p:spPr>
          <a:xfrm>
            <a:off x="1750797" y="3774989"/>
            <a:ext cx="1532238" cy="69197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d</a:t>
            </a:r>
            <a:r>
              <a:rPr lang="en-US" sz="2400" baseline="30000" dirty="0">
                <a:solidFill>
                  <a:schemeClr val="bg1"/>
                </a:solidFill>
              </a:rPr>
              <a:t>(n-2)</a:t>
            </a:r>
            <a:r>
              <a:rPr lang="en-US" sz="2400" dirty="0">
                <a:solidFill>
                  <a:schemeClr val="bg1"/>
                </a:solidFill>
              </a:rPr>
              <a:t>[y]</a:t>
            </a:r>
          </a:p>
        </p:txBody>
      </p:sp>
      <p:sp>
        <p:nvSpPr>
          <p:cNvPr id="27" name="Oval 26"/>
          <p:cNvSpPr/>
          <p:nvPr/>
        </p:nvSpPr>
        <p:spPr>
          <a:xfrm>
            <a:off x="128200" y="3707027"/>
            <a:ext cx="1532238" cy="69197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d</a:t>
            </a:r>
            <a:r>
              <a:rPr lang="en-US" sz="2400" baseline="30000" dirty="0">
                <a:solidFill>
                  <a:schemeClr val="bg1"/>
                </a:solidFill>
              </a:rPr>
              <a:t>(n-2)</a:t>
            </a:r>
            <a:r>
              <a:rPr lang="en-US" sz="2400" dirty="0">
                <a:solidFill>
                  <a:schemeClr val="bg1"/>
                </a:solidFill>
              </a:rPr>
              <a:t>[x]</a:t>
            </a:r>
          </a:p>
        </p:txBody>
      </p:sp>
      <p:cxnSp>
        <p:nvCxnSpPr>
          <p:cNvPr id="131" name="Straight Connector 130"/>
          <p:cNvCxnSpPr>
            <a:endCxn id="25" idx="0"/>
          </p:cNvCxnSpPr>
          <p:nvPr/>
        </p:nvCxnSpPr>
        <p:spPr>
          <a:xfrm flipH="1">
            <a:off x="4165773" y="2669058"/>
            <a:ext cx="3107725" cy="103796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/>
          <p:cNvCxnSpPr>
            <a:stCxn id="4" idx="4"/>
          </p:cNvCxnSpPr>
          <p:nvPr/>
        </p:nvCxnSpPr>
        <p:spPr>
          <a:xfrm>
            <a:off x="2920827" y="2669058"/>
            <a:ext cx="4233735" cy="95037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/>
          <p:cNvCxnSpPr>
            <a:stCxn id="25" idx="4"/>
          </p:cNvCxnSpPr>
          <p:nvPr/>
        </p:nvCxnSpPr>
        <p:spPr>
          <a:xfrm>
            <a:off x="4165773" y="4399005"/>
            <a:ext cx="1104384" cy="146028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/>
          <p:cNvCxnSpPr>
            <a:stCxn id="25" idx="4"/>
          </p:cNvCxnSpPr>
          <p:nvPr/>
        </p:nvCxnSpPr>
        <p:spPr>
          <a:xfrm>
            <a:off x="4165773" y="4399005"/>
            <a:ext cx="152139" cy="146028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/>
          <p:cNvCxnSpPr>
            <a:stCxn id="25" idx="4"/>
            <a:endCxn id="149" idx="0"/>
          </p:cNvCxnSpPr>
          <p:nvPr/>
        </p:nvCxnSpPr>
        <p:spPr>
          <a:xfrm flipH="1">
            <a:off x="2798035" y="4399005"/>
            <a:ext cx="1367738" cy="129745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Oval 146"/>
          <p:cNvSpPr/>
          <p:nvPr/>
        </p:nvSpPr>
        <p:spPr>
          <a:xfrm>
            <a:off x="4763531" y="5708820"/>
            <a:ext cx="1203238" cy="69197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d</a:t>
            </a:r>
            <a:r>
              <a:rPr lang="en-US" baseline="30000">
                <a:solidFill>
                  <a:schemeClr val="bg1"/>
                </a:solidFill>
              </a:rPr>
              <a:t>(n-3)</a:t>
            </a:r>
            <a:r>
              <a:rPr lang="en-US">
                <a:solidFill>
                  <a:schemeClr val="bg1"/>
                </a:solidFill>
              </a:rPr>
              <a:t>[v]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8" name="Oval 147"/>
          <p:cNvSpPr/>
          <p:nvPr/>
        </p:nvSpPr>
        <p:spPr>
          <a:xfrm>
            <a:off x="3546392" y="5784054"/>
            <a:ext cx="1203238" cy="69197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  <a:r>
              <a:rPr lang="en-US" baseline="30000" dirty="0">
                <a:solidFill>
                  <a:schemeClr val="bg1"/>
                </a:solidFill>
              </a:rPr>
              <a:t>(n-3)</a:t>
            </a:r>
            <a:r>
              <a:rPr lang="en-US" dirty="0">
                <a:solidFill>
                  <a:schemeClr val="bg1"/>
                </a:solidFill>
              </a:rPr>
              <a:t>[t]</a:t>
            </a:r>
          </a:p>
        </p:txBody>
      </p:sp>
      <p:sp>
        <p:nvSpPr>
          <p:cNvPr id="149" name="Oval 148"/>
          <p:cNvSpPr/>
          <p:nvPr/>
        </p:nvSpPr>
        <p:spPr>
          <a:xfrm>
            <a:off x="2196416" y="5696461"/>
            <a:ext cx="1203238" cy="69197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  <a:r>
              <a:rPr lang="en-US" baseline="30000" dirty="0">
                <a:solidFill>
                  <a:schemeClr val="bg1"/>
                </a:solidFill>
              </a:rPr>
              <a:t>(n-3)</a:t>
            </a:r>
            <a:r>
              <a:rPr lang="en-US" dirty="0">
                <a:solidFill>
                  <a:schemeClr val="bg1"/>
                </a:solidFill>
              </a:rPr>
              <a:t>[z]</a:t>
            </a:r>
          </a:p>
        </p:txBody>
      </p:sp>
      <p:cxnSp>
        <p:nvCxnSpPr>
          <p:cNvPr id="151" name="Straight Connector 150"/>
          <p:cNvCxnSpPr>
            <a:stCxn id="37" idx="4"/>
            <a:endCxn id="147" idx="0"/>
          </p:cNvCxnSpPr>
          <p:nvPr/>
        </p:nvCxnSpPr>
        <p:spPr>
          <a:xfrm flipH="1">
            <a:off x="5365150" y="4286698"/>
            <a:ext cx="1958545" cy="142212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/>
          <p:cNvCxnSpPr>
            <a:stCxn id="26" idx="4"/>
            <a:endCxn id="154" idx="0"/>
          </p:cNvCxnSpPr>
          <p:nvPr/>
        </p:nvCxnSpPr>
        <p:spPr>
          <a:xfrm>
            <a:off x="2516916" y="4466967"/>
            <a:ext cx="4389737" cy="142211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Oval 153"/>
          <p:cNvSpPr/>
          <p:nvPr/>
        </p:nvSpPr>
        <p:spPr>
          <a:xfrm>
            <a:off x="6305034" y="5889086"/>
            <a:ext cx="1203238" cy="69197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  <a:r>
              <a:rPr lang="en-US" baseline="30000" dirty="0">
                <a:solidFill>
                  <a:schemeClr val="bg1"/>
                </a:solidFill>
              </a:rPr>
              <a:t>(n-3)</a:t>
            </a:r>
            <a:r>
              <a:rPr lang="en-US" dirty="0">
                <a:solidFill>
                  <a:schemeClr val="bg1"/>
                </a:solidFill>
              </a:rPr>
              <a:t>[x]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-53292" y="4694937"/>
            <a:ext cx="24752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5"/>
                </a:solidFill>
              </a:rPr>
              <a:t>Now it’s a much smaller </a:t>
            </a:r>
          </a:p>
          <a:p>
            <a:pPr algn="ctr"/>
            <a:r>
              <a:rPr lang="en-US" sz="2400" dirty="0">
                <a:solidFill>
                  <a:schemeClr val="accent5"/>
                </a:solidFill>
              </a:rPr>
              <a:t>“</a:t>
            </a:r>
            <a:r>
              <a:rPr lang="en-US" sz="2400" b="1" dirty="0">
                <a:solidFill>
                  <a:schemeClr val="accent5"/>
                </a:solidFill>
              </a:rPr>
              <a:t>recursion DAG!”</a:t>
            </a:r>
          </a:p>
        </p:txBody>
      </p:sp>
      <p:pic>
        <p:nvPicPr>
          <p:cNvPr id="157" name="Picture 1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7965" y="282657"/>
            <a:ext cx="1758522" cy="1758522"/>
          </a:xfrm>
          <a:prstGeom prst="rect">
            <a:avLst/>
          </a:prstGeom>
        </p:spPr>
      </p:pic>
      <p:sp>
        <p:nvSpPr>
          <p:cNvPr id="158" name="TextBox 157"/>
          <p:cNvSpPr txBox="1"/>
          <p:nvPr/>
        </p:nvSpPr>
        <p:spPr>
          <a:xfrm rot="21436367">
            <a:off x="4780196" y="603138"/>
            <a:ext cx="16233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halkboard" charset="0"/>
                <a:ea typeface="Chalkboard" charset="0"/>
                <a:cs typeface="Chalkboard" charset="0"/>
              </a:rPr>
              <a:t>Identify repeated nodes and don’t do the same work twice!</a:t>
            </a:r>
          </a:p>
        </p:txBody>
      </p:sp>
      <p:sp>
        <p:nvSpPr>
          <p:cNvPr id="37" name="Oval 36"/>
          <p:cNvSpPr/>
          <p:nvPr/>
        </p:nvSpPr>
        <p:spPr>
          <a:xfrm>
            <a:off x="6557576" y="3594720"/>
            <a:ext cx="1532238" cy="69197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d</a:t>
            </a:r>
            <a:r>
              <a:rPr lang="en-US" sz="2400" baseline="30000" dirty="0">
                <a:solidFill>
                  <a:schemeClr val="bg1"/>
                </a:solidFill>
              </a:rPr>
              <a:t>(n-2)</a:t>
            </a:r>
            <a:r>
              <a:rPr lang="en-US" sz="2400" dirty="0">
                <a:solidFill>
                  <a:schemeClr val="bg1"/>
                </a:solidFill>
              </a:rPr>
              <a:t>[z]</a:t>
            </a:r>
          </a:p>
        </p:txBody>
      </p:sp>
      <p:cxnSp>
        <p:nvCxnSpPr>
          <p:cNvPr id="41" name="Straight Connector 40"/>
          <p:cNvCxnSpPr>
            <a:stCxn id="37" idx="4"/>
            <a:endCxn id="154" idx="0"/>
          </p:cNvCxnSpPr>
          <p:nvPr/>
        </p:nvCxnSpPr>
        <p:spPr>
          <a:xfrm flipH="1">
            <a:off x="6906653" y="4286698"/>
            <a:ext cx="417042" cy="160238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7404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have we learned?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b="1" i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Dynamic programming:</a:t>
            </a:r>
          </a:p>
          <a:p>
            <a:pPr lvl="1"/>
            <a:r>
              <a:rPr lang="en-US" dirty="0"/>
              <a:t>Paradigm in algorithm design.</a:t>
            </a:r>
          </a:p>
          <a:p>
            <a:pPr lvl="1"/>
            <a:r>
              <a:rPr lang="en-US" dirty="0"/>
              <a:t>Useful when there’s </a:t>
            </a:r>
            <a:r>
              <a:rPr lang="en-US" b="1" dirty="0">
                <a:solidFill>
                  <a:schemeClr val="accent4"/>
                </a:solidFill>
              </a:rPr>
              <a:t>optimal substructure:</a:t>
            </a:r>
          </a:p>
          <a:p>
            <a:pPr lvl="2"/>
            <a:r>
              <a:rPr lang="en-US" dirty="0">
                <a:solidFill>
                  <a:schemeClr val="accent1"/>
                </a:solidFill>
              </a:rPr>
              <a:t>optimal solutions to a big problem break up in to optimal sub-solutions of </a:t>
            </a:r>
            <a:r>
              <a:rPr lang="en-US" dirty="0" err="1">
                <a:solidFill>
                  <a:schemeClr val="accent1"/>
                </a:solidFill>
              </a:rPr>
              <a:t>subproblems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  <a:p>
            <a:pPr lvl="1"/>
            <a:r>
              <a:rPr lang="en-US" dirty="0"/>
              <a:t>Useful when these </a:t>
            </a:r>
            <a:r>
              <a:rPr lang="en-US" dirty="0" err="1"/>
              <a:t>subproblems</a:t>
            </a:r>
            <a:r>
              <a:rPr lang="en-US" dirty="0"/>
              <a:t> </a:t>
            </a:r>
            <a:r>
              <a:rPr lang="en-US" b="1" dirty="0">
                <a:solidFill>
                  <a:schemeClr val="accent4"/>
                </a:solidFill>
              </a:rPr>
              <a:t>overlap a lot</a:t>
            </a:r>
            <a:r>
              <a:rPr lang="en-US" dirty="0"/>
              <a:t>:</a:t>
            </a:r>
          </a:p>
          <a:p>
            <a:pPr lvl="2"/>
            <a:r>
              <a:rPr lang="en-US" dirty="0">
                <a:solidFill>
                  <a:schemeClr val="accent1"/>
                </a:solidFill>
              </a:rPr>
              <a:t>Use memo-</a:t>
            </a:r>
            <a:r>
              <a:rPr lang="en-US" dirty="0" err="1">
                <a:solidFill>
                  <a:schemeClr val="accent1"/>
                </a:solidFill>
              </a:rPr>
              <a:t>ization</a:t>
            </a:r>
            <a:r>
              <a:rPr lang="en-US" dirty="0">
                <a:solidFill>
                  <a:schemeClr val="accent1"/>
                </a:solidFill>
              </a:rPr>
              <a:t> (aka, put it in a table) to prevent repeated work.</a:t>
            </a:r>
          </a:p>
          <a:p>
            <a:pPr lvl="1"/>
            <a:r>
              <a:rPr lang="en-US" dirty="0"/>
              <a:t>Can be implemented </a:t>
            </a:r>
            <a:r>
              <a:rPr lang="en-US" b="1" dirty="0">
                <a:solidFill>
                  <a:srgbClr val="7030A0"/>
                </a:solidFill>
              </a:rPr>
              <a:t>bottom-up</a:t>
            </a:r>
            <a:r>
              <a:rPr lang="en-US" dirty="0"/>
              <a:t> or </a:t>
            </a:r>
            <a:r>
              <a:rPr lang="en-US" b="1" dirty="0">
                <a:solidFill>
                  <a:srgbClr val="7030A0"/>
                </a:solidFill>
              </a:rPr>
              <a:t>top-down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It’s a fancy name for a pretty common-sense idea:</a:t>
            </a:r>
          </a:p>
          <a:p>
            <a:pPr lvl="2"/>
            <a:r>
              <a:rPr lang="en-US" b="1" dirty="0">
                <a:solidFill>
                  <a:srgbClr val="C00000"/>
                </a:solidFill>
              </a:rPr>
              <a:t>Don’t duplicate work if you don’t have to!</a:t>
            </a:r>
          </a:p>
        </p:txBody>
      </p:sp>
    </p:spTree>
    <p:extLst>
      <p:ext uri="{BB962C8B-B14F-4D97-AF65-F5344CB8AC3E}">
        <p14:creationId xmlns:p14="http://schemas.microsoft.com/office/powerpoint/2010/main" val="278985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“</a:t>
            </a:r>
            <a:r>
              <a:rPr lang="en-US" dirty="0">
                <a:solidFill>
                  <a:schemeClr val="accent5"/>
                </a:solidFill>
              </a:rPr>
              <a:t>dynamic programming</a:t>
            </a:r>
            <a:r>
              <a:rPr lang="en-US" dirty="0"/>
              <a:t>”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354712" cy="4351338"/>
          </a:xfrm>
        </p:spPr>
        <p:txBody>
          <a:bodyPr/>
          <a:lstStyle/>
          <a:p>
            <a:r>
              <a:rPr lang="en-US" dirty="0">
                <a:solidFill>
                  <a:schemeClr val="accent4"/>
                </a:solidFill>
              </a:rPr>
              <a:t>Programming</a:t>
            </a:r>
            <a:r>
              <a:rPr lang="en-US" dirty="0"/>
              <a:t> refers to finding the optimal “program.” </a:t>
            </a:r>
          </a:p>
          <a:p>
            <a:pPr lvl="1"/>
            <a:r>
              <a:rPr lang="en-US" dirty="0"/>
              <a:t>as in, a shortest route is a </a:t>
            </a:r>
            <a:r>
              <a:rPr lang="en-US" i="1" dirty="0"/>
              <a:t>plan</a:t>
            </a:r>
            <a:r>
              <a:rPr lang="en-US" dirty="0"/>
              <a:t> aka a </a:t>
            </a:r>
            <a:r>
              <a:rPr lang="en-US" i="1" dirty="0"/>
              <a:t>program</a:t>
            </a:r>
            <a:r>
              <a:rPr lang="en-US" dirty="0"/>
              <a:t>.</a:t>
            </a:r>
          </a:p>
          <a:p>
            <a:r>
              <a:rPr lang="en-US" dirty="0">
                <a:solidFill>
                  <a:schemeClr val="accent4"/>
                </a:solidFill>
              </a:rPr>
              <a:t>Dynamic</a:t>
            </a:r>
            <a:r>
              <a:rPr lang="en-US" dirty="0"/>
              <a:t> refers to the fact that it’s multi-stage.</a:t>
            </a:r>
          </a:p>
          <a:p>
            <a:r>
              <a:rPr lang="en-US" dirty="0">
                <a:solidFill>
                  <a:srgbClr val="7030A0"/>
                </a:solidFill>
              </a:rPr>
              <a:t>But also it’s just a fancy-sounding name.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59490">
            <a:off x="123314" y="4220513"/>
            <a:ext cx="3569473" cy="215895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76785">
            <a:off x="6214300" y="4098151"/>
            <a:ext cx="2844683" cy="192208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390" y="4210866"/>
            <a:ext cx="2983232" cy="19888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02443" y="6355511"/>
            <a:ext cx="5350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Manipulating computer code in an action movie?</a:t>
            </a:r>
          </a:p>
        </p:txBody>
      </p:sp>
    </p:spTree>
    <p:extLst>
      <p:ext uri="{BB962C8B-B14F-4D97-AF65-F5344CB8AC3E}">
        <p14:creationId xmlns:p14="http://schemas.microsoft.com/office/powerpoint/2010/main" val="1165464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“</a:t>
            </a:r>
            <a:r>
              <a:rPr lang="en-US" dirty="0">
                <a:solidFill>
                  <a:schemeClr val="accent5"/>
                </a:solidFill>
              </a:rPr>
              <a:t>dynamic programming</a:t>
            </a:r>
            <a:r>
              <a:rPr lang="en-US" dirty="0"/>
              <a:t>”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772883"/>
          </a:xfrm>
        </p:spPr>
        <p:txBody>
          <a:bodyPr>
            <a:normAutofit/>
          </a:bodyPr>
          <a:lstStyle/>
          <a:p>
            <a:r>
              <a:rPr lang="en-US" dirty="0"/>
              <a:t>Richard Bellman invented the name in the 1950’s.</a:t>
            </a:r>
          </a:p>
          <a:p>
            <a:r>
              <a:rPr lang="en-US" dirty="0">
                <a:solidFill>
                  <a:schemeClr val="accent1"/>
                </a:solidFill>
              </a:rPr>
              <a:t>At the time, he was working for the RAND Corporation, which was basically working for the Air Force, and government projects needed flashy names to get funded.</a:t>
            </a:r>
          </a:p>
          <a:p>
            <a:r>
              <a:rPr lang="en-US" dirty="0"/>
              <a:t>From Bellman’s autobiography:</a:t>
            </a:r>
          </a:p>
          <a:p>
            <a:pPr lvl="1"/>
            <a:r>
              <a:rPr lang="en-US" dirty="0">
                <a:solidFill>
                  <a:schemeClr val="accent4"/>
                </a:solidFill>
                <a:latin typeface="Bell MT" charset="0"/>
                <a:ea typeface="Bell MT" charset="0"/>
                <a:cs typeface="Bell MT" charset="0"/>
              </a:rPr>
              <a:t>“It’s impossible to use the word, dynamic, in the pejorative sense</a:t>
            </a:r>
            <a:r>
              <a:rPr lang="mr-IN" dirty="0">
                <a:solidFill>
                  <a:schemeClr val="accent4"/>
                </a:solidFill>
                <a:latin typeface="Bell MT" charset="0"/>
                <a:ea typeface="Bell MT" charset="0"/>
                <a:cs typeface="Bell MT" charset="0"/>
              </a:rPr>
              <a:t>…</a:t>
            </a:r>
            <a:r>
              <a:rPr lang="en-US" dirty="0">
                <a:solidFill>
                  <a:schemeClr val="accent4"/>
                </a:solidFill>
                <a:latin typeface="Bell MT" charset="0"/>
                <a:ea typeface="Bell MT" charset="0"/>
                <a:cs typeface="Bell MT" charset="0"/>
              </a:rPr>
              <a:t>I thought dynamic programming was a good name.  It was something not even a Congressman could object to.”</a:t>
            </a:r>
          </a:p>
          <a:p>
            <a:endParaRPr lang="en-US" dirty="0">
              <a:solidFill>
                <a:schemeClr val="accent4"/>
              </a:solidFill>
              <a:ea typeface="Bell MT" charset="0"/>
              <a:cs typeface="Bell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3563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8292928" cy="4351338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>
                    <a:solidFill>
                      <a:schemeClr val="accent1"/>
                    </a:solidFill>
                  </a:rPr>
                  <a:t>Floyd-</a:t>
                </a:r>
                <a:r>
                  <a:rPr lang="en-US" b="1" dirty="0" err="1">
                    <a:solidFill>
                      <a:schemeClr val="accent1"/>
                    </a:solidFill>
                  </a:rPr>
                  <a:t>Warshall</a:t>
                </a:r>
                <a:r>
                  <a:rPr lang="en-US" b="1" dirty="0">
                    <a:solidFill>
                      <a:schemeClr val="accent1"/>
                    </a:solidFill>
                  </a:rPr>
                  <a:t> Algorithm</a:t>
                </a:r>
              </a:p>
              <a:p>
                <a:r>
                  <a:rPr lang="en-US" dirty="0"/>
                  <a:t>This is an algorithm for </a:t>
                </a:r>
                <a:r>
                  <a:rPr lang="en-US" dirty="0">
                    <a:solidFill>
                      <a:schemeClr val="accent1"/>
                    </a:solidFill>
                  </a:rPr>
                  <a:t>All-Pairs Shortest Paths </a:t>
                </a:r>
                <a:r>
                  <a:rPr lang="en-US" dirty="0"/>
                  <a:t>(APSP)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That is, I want to know the shortest path from u to v for </a:t>
                </a:r>
                <a:r>
                  <a:rPr lang="en-US" b="1" dirty="0">
                    <a:solidFill>
                      <a:srgbClr val="7030A0"/>
                    </a:solidFill>
                  </a:rPr>
                  <a:t>ALL pairs </a:t>
                </a:r>
                <a:r>
                  <a:rPr lang="en-US" dirty="0" err="1">
                    <a:solidFill>
                      <a:srgbClr val="7030A0"/>
                    </a:solidFill>
                  </a:rPr>
                  <a:t>u,v</a:t>
                </a:r>
                <a:r>
                  <a:rPr lang="en-US" dirty="0">
                    <a:solidFill>
                      <a:srgbClr val="7030A0"/>
                    </a:solidFill>
                  </a:rPr>
                  <a:t> of vertices in the graph.</a:t>
                </a:r>
              </a:p>
              <a:p>
                <a:pPr lvl="1"/>
                <a:r>
                  <a:rPr lang="en-US" dirty="0">
                    <a:solidFill>
                      <a:schemeClr val="accent5"/>
                    </a:solidFill>
                  </a:rPr>
                  <a:t>Not just from a special single source s.</a:t>
                </a:r>
              </a:p>
              <a:p>
                <a:r>
                  <a:rPr lang="en-US" dirty="0"/>
                  <a:t>Naïve solution </a:t>
                </a:r>
                <a:r>
                  <a:rPr lang="en-US" sz="2400" dirty="0">
                    <a:solidFill>
                      <a:schemeClr val="bg2">
                        <a:lumMod val="50000"/>
                      </a:schemeClr>
                    </a:solidFill>
                  </a:rPr>
                  <a:t>(if we want to handle negative edge weights):</a:t>
                </a:r>
              </a:p>
              <a:p>
                <a:pPr lvl="1"/>
                <a:r>
                  <a:rPr lang="en-US" dirty="0">
                    <a:solidFill>
                      <a:schemeClr val="accent4"/>
                    </a:solidFill>
                  </a:rPr>
                  <a:t>For all s in G:</a:t>
                </a:r>
              </a:p>
              <a:p>
                <a:pPr lvl="2"/>
                <a:r>
                  <a:rPr lang="en-US" dirty="0">
                    <a:solidFill>
                      <a:schemeClr val="accent4"/>
                    </a:solidFill>
                  </a:rPr>
                  <a:t>Run Bellman-Ford on G starting at s.</a:t>
                </a: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Time O(n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charset="0"/>
                      </a:rPr>
                      <m:t>⋅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nm) = O(n</a:t>
                </a:r>
                <a:r>
                  <a:rPr lang="en-US" baseline="30000" dirty="0">
                    <a:solidFill>
                      <a:schemeClr val="accent1"/>
                    </a:solidFill>
                  </a:rPr>
                  <a:t>2</a:t>
                </a:r>
                <a:r>
                  <a:rPr lang="en-US" dirty="0">
                    <a:solidFill>
                      <a:schemeClr val="accent1"/>
                    </a:solidFill>
                  </a:rPr>
                  <a:t>m), </a:t>
                </a:r>
              </a:p>
              <a:p>
                <a:pPr lvl="2"/>
                <a:r>
                  <a:rPr lang="en-US" dirty="0">
                    <a:solidFill>
                      <a:schemeClr val="accent1"/>
                    </a:solidFill>
                  </a:rPr>
                  <a:t>may be as bad as n</a:t>
                </a:r>
                <a:r>
                  <a:rPr lang="en-US" baseline="30000" dirty="0">
                    <a:solidFill>
                      <a:schemeClr val="accent1"/>
                    </a:solidFill>
                  </a:rPr>
                  <a:t>4</a:t>
                </a:r>
                <a:r>
                  <a:rPr lang="en-US" dirty="0">
                    <a:solidFill>
                      <a:schemeClr val="accent1"/>
                    </a:solidFill>
                  </a:rPr>
                  <a:t> if m=n</a:t>
                </a:r>
                <a:r>
                  <a:rPr lang="en-US" baseline="30000" dirty="0">
                    <a:solidFill>
                      <a:schemeClr val="accent1"/>
                    </a:solidFill>
                  </a:rPr>
                  <a:t>2</a:t>
                </a:r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8292928" cy="4351338"/>
              </a:xfrm>
              <a:blipFill rotWithShape="0">
                <a:blip r:embed="rId2"/>
                <a:stretch>
                  <a:fillRect l="-1323" t="-2241" r="-11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 rot="21020892">
            <a:off x="5263979" y="5586947"/>
            <a:ext cx="42893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5"/>
                </a:solidFill>
              </a:rPr>
              <a:t>Can we do better?</a:t>
            </a:r>
          </a:p>
        </p:txBody>
      </p:sp>
    </p:spTree>
    <p:extLst>
      <p:ext uri="{BB962C8B-B14F-4D97-AF65-F5344CB8AC3E}">
        <p14:creationId xmlns:p14="http://schemas.microsoft.com/office/powerpoint/2010/main" val="359282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850" y="89068"/>
            <a:ext cx="7886700" cy="1254727"/>
          </a:xfrm>
        </p:spPr>
        <p:txBody>
          <a:bodyPr>
            <a:normAutofit/>
          </a:bodyPr>
          <a:lstStyle/>
          <a:p>
            <a:r>
              <a:rPr lang="en-US" dirty="0"/>
              <a:t>Optimal substructure</a:t>
            </a:r>
          </a:p>
        </p:txBody>
      </p:sp>
      <p:sp>
        <p:nvSpPr>
          <p:cNvPr id="4" name="Oval 3"/>
          <p:cNvSpPr/>
          <p:nvPr/>
        </p:nvSpPr>
        <p:spPr>
          <a:xfrm>
            <a:off x="2236573" y="3212757"/>
            <a:ext cx="4411362" cy="308919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349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5453449" y="4979773"/>
            <a:ext cx="700216" cy="7146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49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k-1</a:t>
            </a:r>
          </a:p>
        </p:txBody>
      </p:sp>
      <p:sp>
        <p:nvSpPr>
          <p:cNvPr id="14" name="Oval 13"/>
          <p:cNvSpPr/>
          <p:nvPr/>
        </p:nvSpPr>
        <p:spPr>
          <a:xfrm>
            <a:off x="4897395" y="3778851"/>
            <a:ext cx="700216" cy="7146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49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3836773" y="4938580"/>
            <a:ext cx="700216" cy="7146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49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mr-IN" dirty="0">
                <a:solidFill>
                  <a:schemeClr val="tx1"/>
                </a:solidFill>
              </a:rPr>
              <a:t>…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3566984" y="3718352"/>
            <a:ext cx="700216" cy="7146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49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2426044" y="4400035"/>
            <a:ext cx="700216" cy="7146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49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8" name="Oval 17"/>
          <p:cNvSpPr/>
          <p:nvPr/>
        </p:nvSpPr>
        <p:spPr>
          <a:xfrm>
            <a:off x="3836773" y="2224603"/>
            <a:ext cx="700216" cy="7146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49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19" name="Oval 18"/>
          <p:cNvSpPr/>
          <p:nvPr/>
        </p:nvSpPr>
        <p:spPr>
          <a:xfrm>
            <a:off x="7080421" y="2515374"/>
            <a:ext cx="778475" cy="69738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49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k+1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Oval 19"/>
          <p:cNvSpPr/>
          <p:nvPr/>
        </p:nvSpPr>
        <p:spPr>
          <a:xfrm>
            <a:off x="762001" y="3718352"/>
            <a:ext cx="778475" cy="69738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49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</a:t>
            </a:r>
          </a:p>
        </p:txBody>
      </p:sp>
      <p:sp>
        <p:nvSpPr>
          <p:cNvPr id="21" name="Oval 20"/>
          <p:cNvSpPr/>
          <p:nvPr/>
        </p:nvSpPr>
        <p:spPr>
          <a:xfrm>
            <a:off x="7589108" y="4037443"/>
            <a:ext cx="778475" cy="69738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49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v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Oval 21"/>
          <p:cNvSpPr/>
          <p:nvPr/>
        </p:nvSpPr>
        <p:spPr>
          <a:xfrm>
            <a:off x="1023551" y="5413419"/>
            <a:ext cx="778475" cy="69738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49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0140" y="186394"/>
            <a:ext cx="28379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Label the vertices 1,2,</a:t>
            </a:r>
            <a:r>
              <a:rPr lang="mr-IN" dirty="0"/>
              <a:t>…</a:t>
            </a:r>
            <a:r>
              <a:rPr lang="en-US" dirty="0"/>
              <a:t>,n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(We omit edges in the picture below).</a:t>
            </a:r>
          </a:p>
        </p:txBody>
      </p:sp>
      <p:cxnSp>
        <p:nvCxnSpPr>
          <p:cNvPr id="27" name="Straight Arrow Connector 26"/>
          <p:cNvCxnSpPr>
            <a:stCxn id="20" idx="5"/>
            <a:endCxn id="17" idx="2"/>
          </p:cNvCxnSpPr>
          <p:nvPr/>
        </p:nvCxnSpPr>
        <p:spPr>
          <a:xfrm>
            <a:off x="1426471" y="4313606"/>
            <a:ext cx="999573" cy="443746"/>
          </a:xfrm>
          <a:prstGeom prst="straightConnector1">
            <a:avLst/>
          </a:prstGeom>
          <a:ln w="31750">
            <a:solidFill>
              <a:schemeClr val="accent5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7" idx="6"/>
            <a:endCxn id="16" idx="3"/>
          </p:cNvCxnSpPr>
          <p:nvPr/>
        </p:nvCxnSpPr>
        <p:spPr>
          <a:xfrm flipV="1">
            <a:off x="3126260" y="4328329"/>
            <a:ext cx="543268" cy="429023"/>
          </a:xfrm>
          <a:prstGeom prst="straightConnector1">
            <a:avLst/>
          </a:prstGeom>
          <a:ln w="31750">
            <a:solidFill>
              <a:schemeClr val="accent5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6" idx="5"/>
            <a:endCxn id="5" idx="1"/>
          </p:cNvCxnSpPr>
          <p:nvPr/>
        </p:nvCxnSpPr>
        <p:spPr>
          <a:xfrm>
            <a:off x="4164656" y="4328329"/>
            <a:ext cx="1391337" cy="756100"/>
          </a:xfrm>
          <a:prstGeom prst="straightConnector1">
            <a:avLst/>
          </a:prstGeom>
          <a:ln w="31750">
            <a:solidFill>
              <a:schemeClr val="accent5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5" idx="7"/>
            <a:endCxn id="21" idx="2"/>
          </p:cNvCxnSpPr>
          <p:nvPr/>
        </p:nvCxnSpPr>
        <p:spPr>
          <a:xfrm flipV="1">
            <a:off x="6051121" y="4386135"/>
            <a:ext cx="1537987" cy="698294"/>
          </a:xfrm>
          <a:prstGeom prst="straightConnector1">
            <a:avLst/>
          </a:prstGeom>
          <a:ln w="31750">
            <a:solidFill>
              <a:schemeClr val="accent5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44842" y="2295953"/>
            <a:ext cx="2990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Let D</a:t>
            </a:r>
            <a:r>
              <a:rPr lang="en-US" baseline="30000" dirty="0"/>
              <a:t>(k-1)</a:t>
            </a:r>
            <a:r>
              <a:rPr lang="en-US" dirty="0"/>
              <a:t>[</a:t>
            </a:r>
            <a:r>
              <a:rPr lang="en-US" dirty="0" err="1"/>
              <a:t>u,v</a:t>
            </a:r>
            <a:r>
              <a:rPr lang="en-US" dirty="0"/>
              <a:t>] be the solution to this sub-problem. </a:t>
            </a:r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395" y="958364"/>
            <a:ext cx="2073749" cy="207374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 rot="21436367">
            <a:off x="4969323" y="1333494"/>
            <a:ext cx="1951016" cy="159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halkboard" charset="0"/>
                <a:ea typeface="Chalkboard" charset="0"/>
                <a:cs typeface="Chalkboard" charset="0"/>
              </a:rPr>
              <a:t>Our DP algorithm will fill in the </a:t>
            </a:r>
          </a:p>
          <a:p>
            <a:pPr algn="ctr"/>
            <a:r>
              <a:rPr lang="en-US" sz="1600" dirty="0">
                <a:latin typeface="Chalkboard" charset="0"/>
                <a:ea typeface="Chalkboard" charset="0"/>
                <a:cs typeface="Chalkboard" charset="0"/>
              </a:rPr>
              <a:t>n-by-n arrays </a:t>
            </a:r>
          </a:p>
          <a:p>
            <a:pPr algn="ctr"/>
            <a:r>
              <a:rPr lang="en-US" sz="1600" dirty="0">
                <a:latin typeface="Chalkboard" charset="0"/>
                <a:ea typeface="Chalkboard" charset="0"/>
                <a:cs typeface="Chalkboard" charset="0"/>
              </a:rPr>
              <a:t>D</a:t>
            </a:r>
            <a:r>
              <a:rPr lang="en-US" sz="1600" baseline="30000" dirty="0">
                <a:latin typeface="Chalkboard" charset="0"/>
                <a:ea typeface="Chalkboard" charset="0"/>
                <a:cs typeface="Chalkboard" charset="0"/>
              </a:rPr>
              <a:t>(0)</a:t>
            </a:r>
            <a:r>
              <a:rPr lang="en-US" sz="1600" dirty="0">
                <a:latin typeface="Chalkboard" charset="0"/>
                <a:ea typeface="Chalkboard" charset="0"/>
                <a:cs typeface="Chalkboard" charset="0"/>
              </a:rPr>
              <a:t>, D</a:t>
            </a:r>
            <a:r>
              <a:rPr lang="en-US" sz="1600" baseline="30000" dirty="0">
                <a:latin typeface="Chalkboard" charset="0"/>
                <a:ea typeface="Chalkboard" charset="0"/>
                <a:cs typeface="Chalkboard" charset="0"/>
              </a:rPr>
              <a:t>(1)</a:t>
            </a:r>
            <a:r>
              <a:rPr lang="en-US" sz="1600" dirty="0">
                <a:latin typeface="Chalkboard" charset="0"/>
                <a:ea typeface="Chalkboard" charset="0"/>
                <a:cs typeface="Chalkboard" charset="0"/>
              </a:rPr>
              <a:t>, </a:t>
            </a:r>
            <a:r>
              <a:rPr lang="mr-IN" sz="1600" dirty="0">
                <a:latin typeface="Chalkboard" charset="0"/>
                <a:ea typeface="Chalkboard" charset="0"/>
                <a:cs typeface="Chalkboard" charset="0"/>
              </a:rPr>
              <a:t>…</a:t>
            </a:r>
            <a:r>
              <a:rPr lang="en-US" sz="1600" dirty="0">
                <a:latin typeface="Chalkboard" charset="0"/>
                <a:ea typeface="Chalkboard" charset="0"/>
                <a:cs typeface="Chalkboard" charset="0"/>
              </a:rPr>
              <a:t>, D</a:t>
            </a:r>
            <a:r>
              <a:rPr lang="en-US" sz="1600" baseline="30000" dirty="0">
                <a:latin typeface="Chalkboard" charset="0"/>
                <a:ea typeface="Chalkboard" charset="0"/>
                <a:cs typeface="Chalkboard" charset="0"/>
              </a:rPr>
              <a:t>(n-1)</a:t>
            </a:r>
            <a:r>
              <a:rPr lang="en-US" sz="1600" dirty="0">
                <a:latin typeface="Chalkboard" charset="0"/>
                <a:ea typeface="Chalkboard" charset="0"/>
                <a:cs typeface="Chalkboard" charset="0"/>
              </a:rPr>
              <a:t> iteratively and then we’ll be done.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30713" y="4961123"/>
            <a:ext cx="206357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accent5"/>
                </a:solidFill>
              </a:rPr>
              <a:t>This is the shortest path from u to v through the blue set.  It has length D</a:t>
            </a:r>
            <a:r>
              <a:rPr lang="en-US" baseline="30000" dirty="0">
                <a:solidFill>
                  <a:schemeClr val="accent5"/>
                </a:solidFill>
              </a:rPr>
              <a:t>(k-1)</a:t>
            </a:r>
            <a:r>
              <a:rPr lang="en-US" dirty="0">
                <a:solidFill>
                  <a:schemeClr val="accent5"/>
                </a:solidFill>
              </a:rPr>
              <a:t>[</a:t>
            </a:r>
            <a:r>
              <a:rPr lang="en-US" dirty="0" err="1">
                <a:solidFill>
                  <a:schemeClr val="accent5"/>
                </a:solidFill>
              </a:rPr>
              <a:t>u,v</a:t>
            </a:r>
            <a:r>
              <a:rPr lang="en-US" dirty="0">
                <a:solidFill>
                  <a:schemeClr val="accent5"/>
                </a:solidFill>
              </a:rPr>
              <a:t>]</a:t>
            </a:r>
          </a:p>
        </p:txBody>
      </p:sp>
      <p:sp>
        <p:nvSpPr>
          <p:cNvPr id="42" name="TextBox 41"/>
          <p:cNvSpPr txBox="1"/>
          <p:nvPr/>
        </p:nvSpPr>
        <p:spPr>
          <a:xfrm rot="593209">
            <a:off x="2899504" y="5796910"/>
            <a:ext cx="3274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Vertices 1, </a:t>
            </a:r>
            <a:r>
              <a:rPr lang="mr-IN" dirty="0">
                <a:solidFill>
                  <a:schemeClr val="accent4"/>
                </a:solidFill>
              </a:rPr>
              <a:t>…</a:t>
            </a:r>
            <a:r>
              <a:rPr lang="en-US" dirty="0">
                <a:solidFill>
                  <a:schemeClr val="accent4"/>
                </a:solidFill>
              </a:rPr>
              <a:t>, k-1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198" y="1152177"/>
            <a:ext cx="44752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Sub-problem</a:t>
            </a:r>
            <a:r>
              <a:rPr lang="en-US" dirty="0">
                <a:solidFill>
                  <a:schemeClr val="accent4"/>
                </a:solidFill>
              </a:rPr>
              <a:t>: For all pairs, </a:t>
            </a:r>
            <a:r>
              <a:rPr lang="en-US" dirty="0" err="1">
                <a:solidFill>
                  <a:schemeClr val="accent4"/>
                </a:solidFill>
              </a:rPr>
              <a:t>u,v</a:t>
            </a:r>
            <a:r>
              <a:rPr lang="en-US" dirty="0">
                <a:solidFill>
                  <a:schemeClr val="accent4"/>
                </a:solidFill>
              </a:rPr>
              <a:t>, find the cost of the  shortest path from u to v, so that all the internal vertices on that path are in {1,</a:t>
            </a:r>
            <a:r>
              <a:rPr lang="mr-IN" dirty="0">
                <a:solidFill>
                  <a:schemeClr val="accent4"/>
                </a:solidFill>
              </a:rPr>
              <a:t>…</a:t>
            </a:r>
            <a:r>
              <a:rPr lang="en-US" dirty="0">
                <a:solidFill>
                  <a:schemeClr val="accent4"/>
                </a:solidFill>
              </a:rPr>
              <a:t>,k-1}. </a:t>
            </a:r>
          </a:p>
        </p:txBody>
      </p:sp>
    </p:spTree>
    <p:extLst>
      <p:ext uri="{BB962C8B-B14F-4D97-AF65-F5344CB8AC3E}">
        <p14:creationId xmlns:p14="http://schemas.microsoft.com/office/powerpoint/2010/main" val="1867391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7" grpId="0"/>
      <p:bldP spid="40" grpId="0"/>
      <p:bldP spid="41" grpId="0"/>
      <p:bldP spid="42" grpId="0"/>
      <p:bldP spid="4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850" y="89068"/>
            <a:ext cx="7886700" cy="1254727"/>
          </a:xfrm>
        </p:spPr>
        <p:txBody>
          <a:bodyPr>
            <a:normAutofit/>
          </a:bodyPr>
          <a:lstStyle/>
          <a:p>
            <a:r>
              <a:rPr lang="en-US" dirty="0"/>
              <a:t>Optimal substructure</a:t>
            </a:r>
          </a:p>
        </p:txBody>
      </p:sp>
      <p:sp>
        <p:nvSpPr>
          <p:cNvPr id="4" name="Oval 3"/>
          <p:cNvSpPr/>
          <p:nvPr/>
        </p:nvSpPr>
        <p:spPr>
          <a:xfrm>
            <a:off x="2236573" y="3212757"/>
            <a:ext cx="4411362" cy="308919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349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5453449" y="4979773"/>
            <a:ext cx="700216" cy="7146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49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k-1</a:t>
            </a:r>
          </a:p>
        </p:txBody>
      </p:sp>
      <p:sp>
        <p:nvSpPr>
          <p:cNvPr id="14" name="Oval 13"/>
          <p:cNvSpPr/>
          <p:nvPr/>
        </p:nvSpPr>
        <p:spPr>
          <a:xfrm>
            <a:off x="4897395" y="3778851"/>
            <a:ext cx="700216" cy="7146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49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3836773" y="4938580"/>
            <a:ext cx="700216" cy="7146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49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mr-IN" dirty="0">
                <a:solidFill>
                  <a:schemeClr val="tx1"/>
                </a:solidFill>
              </a:rPr>
              <a:t>…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3566984" y="3718352"/>
            <a:ext cx="700216" cy="7146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49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2426044" y="4400035"/>
            <a:ext cx="700216" cy="7146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49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8" name="Oval 17"/>
          <p:cNvSpPr/>
          <p:nvPr/>
        </p:nvSpPr>
        <p:spPr>
          <a:xfrm>
            <a:off x="3836773" y="2224603"/>
            <a:ext cx="700216" cy="7146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49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19" name="Oval 18"/>
          <p:cNvSpPr/>
          <p:nvPr/>
        </p:nvSpPr>
        <p:spPr>
          <a:xfrm>
            <a:off x="7080421" y="2515374"/>
            <a:ext cx="778475" cy="69738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49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k+1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Oval 19"/>
          <p:cNvSpPr/>
          <p:nvPr/>
        </p:nvSpPr>
        <p:spPr>
          <a:xfrm>
            <a:off x="762001" y="3718352"/>
            <a:ext cx="778475" cy="69738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49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</a:t>
            </a:r>
          </a:p>
        </p:txBody>
      </p:sp>
      <p:sp>
        <p:nvSpPr>
          <p:cNvPr id="21" name="Oval 20"/>
          <p:cNvSpPr/>
          <p:nvPr/>
        </p:nvSpPr>
        <p:spPr>
          <a:xfrm>
            <a:off x="7589108" y="4037443"/>
            <a:ext cx="778475" cy="69738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49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v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Oval 21"/>
          <p:cNvSpPr/>
          <p:nvPr/>
        </p:nvSpPr>
        <p:spPr>
          <a:xfrm>
            <a:off x="1023551" y="5413419"/>
            <a:ext cx="778475" cy="69738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49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8" y="1152177"/>
            <a:ext cx="44752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Sub-problem</a:t>
            </a:r>
            <a:r>
              <a:rPr lang="en-US" dirty="0">
                <a:solidFill>
                  <a:schemeClr val="accent4"/>
                </a:solidFill>
              </a:rPr>
              <a:t>: For all pairs, </a:t>
            </a:r>
            <a:r>
              <a:rPr lang="en-US" dirty="0" err="1">
                <a:solidFill>
                  <a:schemeClr val="accent4"/>
                </a:solidFill>
              </a:rPr>
              <a:t>u,v</a:t>
            </a:r>
            <a:r>
              <a:rPr lang="en-US" dirty="0">
                <a:solidFill>
                  <a:schemeClr val="accent4"/>
                </a:solidFill>
              </a:rPr>
              <a:t>, find the cost of the  shortest path from u to v, so that all the internal vertices on that path are in {1,</a:t>
            </a:r>
            <a:r>
              <a:rPr lang="mr-IN" dirty="0">
                <a:solidFill>
                  <a:schemeClr val="accent4"/>
                </a:solidFill>
              </a:rPr>
              <a:t>…</a:t>
            </a:r>
            <a:r>
              <a:rPr lang="en-US" dirty="0">
                <a:solidFill>
                  <a:schemeClr val="accent4"/>
                </a:solidFill>
              </a:rPr>
              <a:t>,k-1}.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0140" y="186394"/>
            <a:ext cx="28379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Label the vertices 1,2,</a:t>
            </a:r>
            <a:r>
              <a:rPr lang="mr-IN" dirty="0"/>
              <a:t>…</a:t>
            </a:r>
            <a:r>
              <a:rPr lang="en-US" dirty="0"/>
              <a:t>,n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(We omit edges in the picture below).</a:t>
            </a:r>
          </a:p>
        </p:txBody>
      </p:sp>
      <p:cxnSp>
        <p:nvCxnSpPr>
          <p:cNvPr id="27" name="Straight Arrow Connector 26"/>
          <p:cNvCxnSpPr>
            <a:stCxn id="20" idx="5"/>
            <a:endCxn id="17" idx="2"/>
          </p:cNvCxnSpPr>
          <p:nvPr/>
        </p:nvCxnSpPr>
        <p:spPr>
          <a:xfrm>
            <a:off x="1426471" y="4313606"/>
            <a:ext cx="999573" cy="443746"/>
          </a:xfrm>
          <a:prstGeom prst="straightConnector1">
            <a:avLst/>
          </a:prstGeom>
          <a:ln w="31750">
            <a:solidFill>
              <a:schemeClr val="accent5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7" idx="6"/>
            <a:endCxn id="16" idx="3"/>
          </p:cNvCxnSpPr>
          <p:nvPr/>
        </p:nvCxnSpPr>
        <p:spPr>
          <a:xfrm flipV="1">
            <a:off x="3126260" y="4328329"/>
            <a:ext cx="543268" cy="429023"/>
          </a:xfrm>
          <a:prstGeom prst="straightConnector1">
            <a:avLst/>
          </a:prstGeom>
          <a:ln w="31750">
            <a:solidFill>
              <a:schemeClr val="accent5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6" idx="5"/>
            <a:endCxn id="5" idx="1"/>
          </p:cNvCxnSpPr>
          <p:nvPr/>
        </p:nvCxnSpPr>
        <p:spPr>
          <a:xfrm>
            <a:off x="4164656" y="4328329"/>
            <a:ext cx="1391337" cy="756100"/>
          </a:xfrm>
          <a:prstGeom prst="straightConnector1">
            <a:avLst/>
          </a:prstGeom>
          <a:ln w="31750">
            <a:solidFill>
              <a:schemeClr val="accent5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5" idx="7"/>
            <a:endCxn id="21" idx="2"/>
          </p:cNvCxnSpPr>
          <p:nvPr/>
        </p:nvCxnSpPr>
        <p:spPr>
          <a:xfrm flipV="1">
            <a:off x="6051121" y="4386135"/>
            <a:ext cx="1537987" cy="698294"/>
          </a:xfrm>
          <a:prstGeom prst="straightConnector1">
            <a:avLst/>
          </a:prstGeom>
          <a:ln w="31750">
            <a:solidFill>
              <a:schemeClr val="accent5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44842" y="2295953"/>
            <a:ext cx="2990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Let D</a:t>
            </a:r>
            <a:r>
              <a:rPr lang="en-US" baseline="30000" dirty="0"/>
              <a:t>(k-1)</a:t>
            </a:r>
            <a:r>
              <a:rPr lang="en-US" dirty="0"/>
              <a:t>[</a:t>
            </a:r>
            <a:r>
              <a:rPr lang="en-US" dirty="0" err="1"/>
              <a:t>u,v</a:t>
            </a:r>
            <a:r>
              <a:rPr lang="en-US" dirty="0"/>
              <a:t>] be the solution to this sub-problem. </a:t>
            </a:r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395" y="958364"/>
            <a:ext cx="2073749" cy="207374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 rot="21436367">
            <a:off x="4969323" y="1333494"/>
            <a:ext cx="1951016" cy="159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halkboard" charset="0"/>
                <a:ea typeface="Chalkboard" charset="0"/>
                <a:cs typeface="Chalkboard" charset="0"/>
              </a:rPr>
              <a:t>Our DP algorithm will fill in the </a:t>
            </a:r>
          </a:p>
          <a:p>
            <a:pPr algn="ctr"/>
            <a:r>
              <a:rPr lang="en-US" sz="1600" dirty="0">
                <a:latin typeface="Chalkboard" charset="0"/>
                <a:ea typeface="Chalkboard" charset="0"/>
                <a:cs typeface="Chalkboard" charset="0"/>
              </a:rPr>
              <a:t>n-by-n arrays </a:t>
            </a:r>
          </a:p>
          <a:p>
            <a:pPr algn="ctr"/>
            <a:r>
              <a:rPr lang="en-US" sz="1600" dirty="0">
                <a:latin typeface="Chalkboard" charset="0"/>
                <a:ea typeface="Chalkboard" charset="0"/>
                <a:cs typeface="Chalkboard" charset="0"/>
              </a:rPr>
              <a:t>D</a:t>
            </a:r>
            <a:r>
              <a:rPr lang="en-US" sz="1600" baseline="30000" dirty="0">
                <a:latin typeface="Chalkboard" charset="0"/>
                <a:ea typeface="Chalkboard" charset="0"/>
                <a:cs typeface="Chalkboard" charset="0"/>
              </a:rPr>
              <a:t>(0)</a:t>
            </a:r>
            <a:r>
              <a:rPr lang="en-US" sz="1600" dirty="0">
                <a:latin typeface="Chalkboard" charset="0"/>
                <a:ea typeface="Chalkboard" charset="0"/>
                <a:cs typeface="Chalkboard" charset="0"/>
              </a:rPr>
              <a:t>, D</a:t>
            </a:r>
            <a:r>
              <a:rPr lang="en-US" sz="1600" baseline="30000" dirty="0">
                <a:latin typeface="Chalkboard" charset="0"/>
                <a:ea typeface="Chalkboard" charset="0"/>
                <a:cs typeface="Chalkboard" charset="0"/>
              </a:rPr>
              <a:t>(1)</a:t>
            </a:r>
            <a:r>
              <a:rPr lang="en-US" sz="1600" dirty="0">
                <a:latin typeface="Chalkboard" charset="0"/>
                <a:ea typeface="Chalkboard" charset="0"/>
                <a:cs typeface="Chalkboard" charset="0"/>
              </a:rPr>
              <a:t>, </a:t>
            </a:r>
            <a:r>
              <a:rPr lang="mr-IN" sz="1600" dirty="0">
                <a:latin typeface="Chalkboard" charset="0"/>
                <a:ea typeface="Chalkboard" charset="0"/>
                <a:cs typeface="Chalkboard" charset="0"/>
              </a:rPr>
              <a:t>…</a:t>
            </a:r>
            <a:r>
              <a:rPr lang="en-US" sz="1600" dirty="0">
                <a:latin typeface="Chalkboard" charset="0"/>
                <a:ea typeface="Chalkboard" charset="0"/>
                <a:cs typeface="Chalkboard" charset="0"/>
              </a:rPr>
              <a:t>, D</a:t>
            </a:r>
            <a:r>
              <a:rPr lang="en-US" sz="1600" baseline="30000" dirty="0">
                <a:latin typeface="Chalkboard" charset="0"/>
                <a:ea typeface="Chalkboard" charset="0"/>
                <a:cs typeface="Chalkboard" charset="0"/>
              </a:rPr>
              <a:t>(n-1)</a:t>
            </a:r>
            <a:r>
              <a:rPr lang="en-US" sz="1600" dirty="0">
                <a:latin typeface="Chalkboard" charset="0"/>
                <a:ea typeface="Chalkboard" charset="0"/>
                <a:cs typeface="Chalkboard" charset="0"/>
              </a:rPr>
              <a:t> iteratively and then we’ll be done.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30713" y="4961123"/>
            <a:ext cx="206357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accent5"/>
                </a:solidFill>
              </a:rPr>
              <a:t>This is the shortest path from u to v through the blue set.  It has length D</a:t>
            </a:r>
            <a:r>
              <a:rPr lang="en-US" baseline="30000" dirty="0">
                <a:solidFill>
                  <a:schemeClr val="accent5"/>
                </a:solidFill>
              </a:rPr>
              <a:t>(k-1)</a:t>
            </a:r>
            <a:r>
              <a:rPr lang="en-US" dirty="0">
                <a:solidFill>
                  <a:schemeClr val="accent5"/>
                </a:solidFill>
              </a:rPr>
              <a:t>[</a:t>
            </a:r>
            <a:r>
              <a:rPr lang="en-US" dirty="0" err="1">
                <a:solidFill>
                  <a:schemeClr val="accent5"/>
                </a:solidFill>
              </a:rPr>
              <a:t>u,v</a:t>
            </a:r>
            <a:r>
              <a:rPr lang="en-US" dirty="0">
                <a:solidFill>
                  <a:schemeClr val="accent5"/>
                </a:solidFill>
              </a:rPr>
              <a:t>]</a:t>
            </a:r>
          </a:p>
        </p:txBody>
      </p:sp>
      <p:sp>
        <p:nvSpPr>
          <p:cNvPr id="42" name="TextBox 41"/>
          <p:cNvSpPr txBox="1"/>
          <p:nvPr/>
        </p:nvSpPr>
        <p:spPr>
          <a:xfrm rot="593209">
            <a:off x="2899504" y="5796910"/>
            <a:ext cx="3274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Vertices 1, </a:t>
            </a:r>
            <a:r>
              <a:rPr lang="mr-IN" dirty="0">
                <a:solidFill>
                  <a:schemeClr val="accent4"/>
                </a:solidFill>
              </a:rPr>
              <a:t>…</a:t>
            </a:r>
            <a:r>
              <a:rPr lang="en-US" dirty="0">
                <a:solidFill>
                  <a:schemeClr val="accent4"/>
                </a:solidFill>
              </a:rPr>
              <a:t>, k-1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3551" y="3207208"/>
            <a:ext cx="7481504" cy="523220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5"/>
                </a:solidFill>
              </a:rPr>
              <a:t>Question: How can we find D</a:t>
            </a:r>
            <a:r>
              <a:rPr lang="en-US" sz="2800" b="1" baseline="30000" dirty="0">
                <a:solidFill>
                  <a:schemeClr val="accent5"/>
                </a:solidFill>
              </a:rPr>
              <a:t>(k)</a:t>
            </a:r>
            <a:r>
              <a:rPr lang="en-US" sz="2800" b="1" dirty="0">
                <a:solidFill>
                  <a:schemeClr val="accent5"/>
                </a:solidFill>
              </a:rPr>
              <a:t>[</a:t>
            </a:r>
            <a:r>
              <a:rPr lang="en-US" sz="2800" b="1" dirty="0" err="1">
                <a:solidFill>
                  <a:schemeClr val="accent5"/>
                </a:solidFill>
              </a:rPr>
              <a:t>u,v</a:t>
            </a:r>
            <a:r>
              <a:rPr lang="en-US" sz="2800" b="1" dirty="0">
                <a:solidFill>
                  <a:schemeClr val="accent5"/>
                </a:solidFill>
              </a:rPr>
              <a:t>] using D</a:t>
            </a:r>
            <a:r>
              <a:rPr lang="en-US" sz="2800" b="1" baseline="30000" dirty="0">
                <a:solidFill>
                  <a:schemeClr val="accent5"/>
                </a:solidFill>
              </a:rPr>
              <a:t>(k-1)</a:t>
            </a:r>
            <a:r>
              <a:rPr lang="en-US" sz="2800" b="1" dirty="0">
                <a:solidFill>
                  <a:schemeClr val="accent5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291884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 24"/>
          <p:cNvSpPr/>
          <p:nvPr/>
        </p:nvSpPr>
        <p:spPr>
          <a:xfrm>
            <a:off x="1901579" y="1927507"/>
            <a:ext cx="4988547" cy="4769869"/>
          </a:xfrm>
          <a:custGeom>
            <a:avLst/>
            <a:gdLst>
              <a:gd name="connsiteX0" fmla="*/ 4956421 w 4988547"/>
              <a:gd name="connsiteY0" fmla="*/ 2088439 h 4769869"/>
              <a:gd name="connsiteX1" fmla="*/ 4845210 w 4988547"/>
              <a:gd name="connsiteY1" fmla="*/ 3410612 h 4769869"/>
              <a:gd name="connsiteX2" fmla="*/ 3807243 w 4988547"/>
              <a:gd name="connsiteY2" fmla="*/ 4572147 h 4769869"/>
              <a:gd name="connsiteX3" fmla="*/ 1261751 w 4988547"/>
              <a:gd name="connsiteY3" fmla="*/ 4633931 h 4769869"/>
              <a:gd name="connsiteX4" fmla="*/ 50789 w 4988547"/>
              <a:gd name="connsiteY4" fmla="*/ 3200547 h 4769869"/>
              <a:gd name="connsiteX5" fmla="*/ 384421 w 4988547"/>
              <a:gd name="connsiteY5" fmla="*/ 1507671 h 4769869"/>
              <a:gd name="connsiteX6" fmla="*/ 1805448 w 4988547"/>
              <a:gd name="connsiteY6" fmla="*/ 136071 h 4769869"/>
              <a:gd name="connsiteX7" fmla="*/ 3004053 w 4988547"/>
              <a:gd name="connsiteY7" fmla="*/ 197855 h 4769869"/>
              <a:gd name="connsiteX8" fmla="*/ 4622789 w 4988547"/>
              <a:gd name="connsiteY8" fmla="*/ 1445888 h 4769869"/>
              <a:gd name="connsiteX9" fmla="*/ 4956421 w 4988547"/>
              <a:gd name="connsiteY9" fmla="*/ 2088439 h 4769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988547" h="4769869">
                <a:moveTo>
                  <a:pt x="4956421" y="2088439"/>
                </a:moveTo>
                <a:cubicBezTo>
                  <a:pt x="4993491" y="2415893"/>
                  <a:pt x="5036740" y="2996661"/>
                  <a:pt x="4845210" y="3410612"/>
                </a:cubicBezTo>
                <a:cubicBezTo>
                  <a:pt x="4653680" y="3824563"/>
                  <a:pt x="4404486" y="4368261"/>
                  <a:pt x="3807243" y="4572147"/>
                </a:cubicBezTo>
                <a:cubicBezTo>
                  <a:pt x="3210000" y="4776033"/>
                  <a:pt x="1887827" y="4862531"/>
                  <a:pt x="1261751" y="4633931"/>
                </a:cubicBezTo>
                <a:cubicBezTo>
                  <a:pt x="635675" y="4405331"/>
                  <a:pt x="197011" y="3721590"/>
                  <a:pt x="50789" y="3200547"/>
                </a:cubicBezTo>
                <a:cubicBezTo>
                  <a:pt x="-95433" y="2679504"/>
                  <a:pt x="91978" y="2018417"/>
                  <a:pt x="384421" y="1507671"/>
                </a:cubicBezTo>
                <a:cubicBezTo>
                  <a:pt x="676864" y="996925"/>
                  <a:pt x="1368843" y="354374"/>
                  <a:pt x="1805448" y="136071"/>
                </a:cubicBezTo>
                <a:cubicBezTo>
                  <a:pt x="2242053" y="-82232"/>
                  <a:pt x="2534496" y="-20448"/>
                  <a:pt x="3004053" y="197855"/>
                </a:cubicBezTo>
                <a:cubicBezTo>
                  <a:pt x="3473610" y="416158"/>
                  <a:pt x="4297394" y="1136969"/>
                  <a:pt x="4622789" y="1445888"/>
                </a:cubicBezTo>
                <a:cubicBezTo>
                  <a:pt x="4948184" y="1754807"/>
                  <a:pt x="4919351" y="1760985"/>
                  <a:pt x="4956421" y="2088439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 rot="1992514">
            <a:off x="4480429" y="3155705"/>
            <a:ext cx="3274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Vertices 1, </a:t>
            </a:r>
            <a:r>
              <a:rPr lang="mr-IN" dirty="0"/>
              <a:t>…</a:t>
            </a:r>
            <a:r>
              <a:rPr lang="en-US" dirty="0"/>
              <a:t>, 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850" y="89068"/>
            <a:ext cx="7886700" cy="1254727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5"/>
                </a:solidFill>
              </a:rPr>
              <a:t>How can we find D</a:t>
            </a:r>
            <a:r>
              <a:rPr lang="en-US" baseline="30000" dirty="0">
                <a:solidFill>
                  <a:schemeClr val="accent5"/>
                </a:solidFill>
              </a:rPr>
              <a:t>(k)</a:t>
            </a:r>
            <a:r>
              <a:rPr lang="en-US" dirty="0">
                <a:solidFill>
                  <a:schemeClr val="accent5"/>
                </a:solidFill>
              </a:rPr>
              <a:t>[</a:t>
            </a:r>
            <a:r>
              <a:rPr lang="en-US" dirty="0" err="1">
                <a:solidFill>
                  <a:schemeClr val="accent5"/>
                </a:solidFill>
              </a:rPr>
              <a:t>u,v</a:t>
            </a:r>
            <a:r>
              <a:rPr lang="en-US" dirty="0">
                <a:solidFill>
                  <a:schemeClr val="accent5"/>
                </a:solidFill>
              </a:rPr>
              <a:t>] using D</a:t>
            </a:r>
            <a:r>
              <a:rPr lang="en-US" baseline="30000" dirty="0">
                <a:solidFill>
                  <a:schemeClr val="accent5"/>
                </a:solidFill>
              </a:rPr>
              <a:t>(k)</a:t>
            </a:r>
            <a:r>
              <a:rPr lang="en-US" dirty="0">
                <a:solidFill>
                  <a:schemeClr val="accent5"/>
                </a:solidFill>
              </a:rPr>
              <a:t>?</a:t>
            </a:r>
          </a:p>
        </p:txBody>
      </p:sp>
      <p:sp>
        <p:nvSpPr>
          <p:cNvPr id="4" name="Oval 3"/>
          <p:cNvSpPr/>
          <p:nvPr/>
        </p:nvSpPr>
        <p:spPr>
          <a:xfrm>
            <a:off x="2236573" y="3212757"/>
            <a:ext cx="4411362" cy="308919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349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5453449" y="4979773"/>
            <a:ext cx="700216" cy="7146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49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k-1</a:t>
            </a:r>
          </a:p>
        </p:txBody>
      </p:sp>
      <p:sp>
        <p:nvSpPr>
          <p:cNvPr id="14" name="Oval 13"/>
          <p:cNvSpPr/>
          <p:nvPr/>
        </p:nvSpPr>
        <p:spPr>
          <a:xfrm>
            <a:off x="4897395" y="3778851"/>
            <a:ext cx="700216" cy="7146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49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3836773" y="4938580"/>
            <a:ext cx="700216" cy="7146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49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mr-IN" dirty="0">
                <a:solidFill>
                  <a:schemeClr val="tx1"/>
                </a:solidFill>
              </a:rPr>
              <a:t>…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3566984" y="3718352"/>
            <a:ext cx="700216" cy="7146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49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2426044" y="4400035"/>
            <a:ext cx="700216" cy="7146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49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8" name="Oval 17"/>
          <p:cNvSpPr/>
          <p:nvPr/>
        </p:nvSpPr>
        <p:spPr>
          <a:xfrm>
            <a:off x="3836773" y="2224603"/>
            <a:ext cx="700216" cy="7146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49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19" name="Oval 18"/>
          <p:cNvSpPr/>
          <p:nvPr/>
        </p:nvSpPr>
        <p:spPr>
          <a:xfrm>
            <a:off x="7080421" y="2515374"/>
            <a:ext cx="778475" cy="69738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49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k+1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Oval 19"/>
          <p:cNvSpPr/>
          <p:nvPr/>
        </p:nvSpPr>
        <p:spPr>
          <a:xfrm>
            <a:off x="762001" y="3718352"/>
            <a:ext cx="778475" cy="69738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49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</a:t>
            </a:r>
          </a:p>
        </p:txBody>
      </p:sp>
      <p:sp>
        <p:nvSpPr>
          <p:cNvPr id="21" name="Oval 20"/>
          <p:cNvSpPr/>
          <p:nvPr/>
        </p:nvSpPr>
        <p:spPr>
          <a:xfrm>
            <a:off x="7589108" y="4037443"/>
            <a:ext cx="778475" cy="69738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49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v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Oval 21"/>
          <p:cNvSpPr/>
          <p:nvPr/>
        </p:nvSpPr>
        <p:spPr>
          <a:xfrm>
            <a:off x="1023551" y="5413419"/>
            <a:ext cx="778475" cy="69738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49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0166" y="1134750"/>
            <a:ext cx="59070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D</a:t>
            </a:r>
            <a:r>
              <a:rPr lang="en-US" sz="2000" baseline="30000"/>
              <a:t>(k</a:t>
            </a:r>
            <a:r>
              <a:rPr lang="en-US" sz="2000" baseline="30000" dirty="0"/>
              <a:t>)</a:t>
            </a:r>
            <a:r>
              <a:rPr lang="en-US" sz="2000" dirty="0"/>
              <a:t>[</a:t>
            </a:r>
            <a:r>
              <a:rPr lang="en-US" sz="2000" dirty="0" err="1"/>
              <a:t>u,v</a:t>
            </a:r>
            <a:r>
              <a:rPr lang="en-US" sz="2000" dirty="0"/>
              <a:t>] is the cost of the shortest path from u to v so that all internal vertices on that path are in {1, </a:t>
            </a:r>
            <a:r>
              <a:rPr lang="mr-IN" sz="2000" dirty="0"/>
              <a:t>…</a:t>
            </a:r>
            <a:r>
              <a:rPr lang="en-US" sz="2000" dirty="0"/>
              <a:t>, k}.</a:t>
            </a:r>
          </a:p>
        </p:txBody>
      </p:sp>
      <p:sp>
        <p:nvSpPr>
          <p:cNvPr id="42" name="TextBox 41"/>
          <p:cNvSpPr txBox="1"/>
          <p:nvPr/>
        </p:nvSpPr>
        <p:spPr>
          <a:xfrm rot="593209">
            <a:off x="2899504" y="5796910"/>
            <a:ext cx="3274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Vertices 1, </a:t>
            </a:r>
            <a:r>
              <a:rPr lang="mr-IN" dirty="0">
                <a:solidFill>
                  <a:schemeClr val="accent4"/>
                </a:solidFill>
              </a:rPr>
              <a:t>…</a:t>
            </a:r>
            <a:r>
              <a:rPr lang="en-US" dirty="0">
                <a:solidFill>
                  <a:schemeClr val="accent4"/>
                </a:solidFill>
              </a:rPr>
              <a:t>, k-1</a:t>
            </a:r>
          </a:p>
        </p:txBody>
      </p:sp>
    </p:spTree>
    <p:extLst>
      <p:ext uri="{BB962C8B-B14F-4D97-AF65-F5344CB8AC3E}">
        <p14:creationId xmlns:p14="http://schemas.microsoft.com/office/powerpoint/2010/main" val="1657047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1901579" y="1927507"/>
            <a:ext cx="4988547" cy="4769869"/>
          </a:xfrm>
          <a:custGeom>
            <a:avLst/>
            <a:gdLst>
              <a:gd name="connsiteX0" fmla="*/ 4956421 w 4988547"/>
              <a:gd name="connsiteY0" fmla="*/ 2088439 h 4769869"/>
              <a:gd name="connsiteX1" fmla="*/ 4845210 w 4988547"/>
              <a:gd name="connsiteY1" fmla="*/ 3410612 h 4769869"/>
              <a:gd name="connsiteX2" fmla="*/ 3807243 w 4988547"/>
              <a:gd name="connsiteY2" fmla="*/ 4572147 h 4769869"/>
              <a:gd name="connsiteX3" fmla="*/ 1261751 w 4988547"/>
              <a:gd name="connsiteY3" fmla="*/ 4633931 h 4769869"/>
              <a:gd name="connsiteX4" fmla="*/ 50789 w 4988547"/>
              <a:gd name="connsiteY4" fmla="*/ 3200547 h 4769869"/>
              <a:gd name="connsiteX5" fmla="*/ 384421 w 4988547"/>
              <a:gd name="connsiteY5" fmla="*/ 1507671 h 4769869"/>
              <a:gd name="connsiteX6" fmla="*/ 1805448 w 4988547"/>
              <a:gd name="connsiteY6" fmla="*/ 136071 h 4769869"/>
              <a:gd name="connsiteX7" fmla="*/ 3004053 w 4988547"/>
              <a:gd name="connsiteY7" fmla="*/ 197855 h 4769869"/>
              <a:gd name="connsiteX8" fmla="*/ 4622789 w 4988547"/>
              <a:gd name="connsiteY8" fmla="*/ 1445888 h 4769869"/>
              <a:gd name="connsiteX9" fmla="*/ 4956421 w 4988547"/>
              <a:gd name="connsiteY9" fmla="*/ 2088439 h 4769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988547" h="4769869">
                <a:moveTo>
                  <a:pt x="4956421" y="2088439"/>
                </a:moveTo>
                <a:cubicBezTo>
                  <a:pt x="4993491" y="2415893"/>
                  <a:pt x="5036740" y="2996661"/>
                  <a:pt x="4845210" y="3410612"/>
                </a:cubicBezTo>
                <a:cubicBezTo>
                  <a:pt x="4653680" y="3824563"/>
                  <a:pt x="4404486" y="4368261"/>
                  <a:pt x="3807243" y="4572147"/>
                </a:cubicBezTo>
                <a:cubicBezTo>
                  <a:pt x="3210000" y="4776033"/>
                  <a:pt x="1887827" y="4862531"/>
                  <a:pt x="1261751" y="4633931"/>
                </a:cubicBezTo>
                <a:cubicBezTo>
                  <a:pt x="635675" y="4405331"/>
                  <a:pt x="197011" y="3721590"/>
                  <a:pt x="50789" y="3200547"/>
                </a:cubicBezTo>
                <a:cubicBezTo>
                  <a:pt x="-95433" y="2679504"/>
                  <a:pt x="91978" y="2018417"/>
                  <a:pt x="384421" y="1507671"/>
                </a:cubicBezTo>
                <a:cubicBezTo>
                  <a:pt x="676864" y="996925"/>
                  <a:pt x="1368843" y="354374"/>
                  <a:pt x="1805448" y="136071"/>
                </a:cubicBezTo>
                <a:cubicBezTo>
                  <a:pt x="2242053" y="-82232"/>
                  <a:pt x="2534496" y="-20448"/>
                  <a:pt x="3004053" y="197855"/>
                </a:cubicBezTo>
                <a:cubicBezTo>
                  <a:pt x="3473610" y="416158"/>
                  <a:pt x="4297394" y="1136969"/>
                  <a:pt x="4622789" y="1445888"/>
                </a:cubicBezTo>
                <a:cubicBezTo>
                  <a:pt x="4948184" y="1754807"/>
                  <a:pt x="4919351" y="1760985"/>
                  <a:pt x="4956421" y="2088439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850" y="89068"/>
            <a:ext cx="7886700" cy="1254727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5"/>
                </a:solidFill>
              </a:rPr>
              <a:t>How can we find D</a:t>
            </a:r>
            <a:r>
              <a:rPr lang="en-US" baseline="30000" dirty="0">
                <a:solidFill>
                  <a:schemeClr val="accent5"/>
                </a:solidFill>
              </a:rPr>
              <a:t>(k)</a:t>
            </a:r>
            <a:r>
              <a:rPr lang="en-US" dirty="0">
                <a:solidFill>
                  <a:schemeClr val="accent5"/>
                </a:solidFill>
              </a:rPr>
              <a:t>[</a:t>
            </a:r>
            <a:r>
              <a:rPr lang="en-US" dirty="0" err="1">
                <a:solidFill>
                  <a:schemeClr val="accent5"/>
                </a:solidFill>
              </a:rPr>
              <a:t>u,v</a:t>
            </a:r>
            <a:r>
              <a:rPr lang="en-US" dirty="0">
                <a:solidFill>
                  <a:schemeClr val="accent5"/>
                </a:solidFill>
              </a:rPr>
              <a:t>] using D</a:t>
            </a:r>
            <a:r>
              <a:rPr lang="en-US" baseline="30000" dirty="0">
                <a:solidFill>
                  <a:schemeClr val="accent5"/>
                </a:solidFill>
              </a:rPr>
              <a:t>(k)</a:t>
            </a:r>
            <a:r>
              <a:rPr lang="en-US" dirty="0">
                <a:solidFill>
                  <a:schemeClr val="accent5"/>
                </a:solidFill>
              </a:rPr>
              <a:t>?</a:t>
            </a:r>
          </a:p>
        </p:txBody>
      </p:sp>
      <p:sp>
        <p:nvSpPr>
          <p:cNvPr id="4" name="Oval 3"/>
          <p:cNvSpPr/>
          <p:nvPr/>
        </p:nvSpPr>
        <p:spPr>
          <a:xfrm>
            <a:off x="2236573" y="3212757"/>
            <a:ext cx="4411362" cy="308919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349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5453449" y="4979773"/>
            <a:ext cx="700216" cy="7146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49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k-1</a:t>
            </a:r>
          </a:p>
        </p:txBody>
      </p:sp>
      <p:sp>
        <p:nvSpPr>
          <p:cNvPr id="14" name="Oval 13"/>
          <p:cNvSpPr/>
          <p:nvPr/>
        </p:nvSpPr>
        <p:spPr>
          <a:xfrm>
            <a:off x="4897395" y="3778851"/>
            <a:ext cx="700216" cy="7146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49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3836773" y="4938580"/>
            <a:ext cx="700216" cy="7146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49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mr-IN" dirty="0">
                <a:solidFill>
                  <a:schemeClr val="tx1"/>
                </a:solidFill>
              </a:rPr>
              <a:t>…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3566984" y="3718352"/>
            <a:ext cx="700216" cy="7146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49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2426044" y="4400035"/>
            <a:ext cx="700216" cy="7146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49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8" name="Oval 17"/>
          <p:cNvSpPr/>
          <p:nvPr/>
        </p:nvSpPr>
        <p:spPr>
          <a:xfrm>
            <a:off x="3836773" y="2224603"/>
            <a:ext cx="700216" cy="7146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49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19" name="Oval 18"/>
          <p:cNvSpPr/>
          <p:nvPr/>
        </p:nvSpPr>
        <p:spPr>
          <a:xfrm>
            <a:off x="7080421" y="2515374"/>
            <a:ext cx="778475" cy="69738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49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k+1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Oval 19"/>
          <p:cNvSpPr/>
          <p:nvPr/>
        </p:nvSpPr>
        <p:spPr>
          <a:xfrm>
            <a:off x="762001" y="3718352"/>
            <a:ext cx="778475" cy="69738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49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</a:t>
            </a:r>
          </a:p>
        </p:txBody>
      </p:sp>
      <p:sp>
        <p:nvSpPr>
          <p:cNvPr id="21" name="Oval 20"/>
          <p:cNvSpPr/>
          <p:nvPr/>
        </p:nvSpPr>
        <p:spPr>
          <a:xfrm>
            <a:off x="7589108" y="4037443"/>
            <a:ext cx="778475" cy="69738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49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v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Oval 21"/>
          <p:cNvSpPr/>
          <p:nvPr/>
        </p:nvSpPr>
        <p:spPr>
          <a:xfrm>
            <a:off x="1023551" y="5413419"/>
            <a:ext cx="778475" cy="69738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49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</a:t>
            </a:r>
          </a:p>
        </p:txBody>
      </p:sp>
      <p:cxnSp>
        <p:nvCxnSpPr>
          <p:cNvPr id="27" name="Straight Arrow Connector 26"/>
          <p:cNvCxnSpPr>
            <a:stCxn id="20" idx="5"/>
            <a:endCxn id="17" idx="2"/>
          </p:cNvCxnSpPr>
          <p:nvPr/>
        </p:nvCxnSpPr>
        <p:spPr>
          <a:xfrm>
            <a:off x="1426471" y="4313606"/>
            <a:ext cx="999573" cy="443746"/>
          </a:xfrm>
          <a:prstGeom prst="straightConnector1">
            <a:avLst/>
          </a:prstGeom>
          <a:ln w="31750">
            <a:solidFill>
              <a:schemeClr val="accent5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7" idx="6"/>
            <a:endCxn id="16" idx="3"/>
          </p:cNvCxnSpPr>
          <p:nvPr/>
        </p:nvCxnSpPr>
        <p:spPr>
          <a:xfrm flipV="1">
            <a:off x="3126260" y="4328329"/>
            <a:ext cx="543268" cy="429023"/>
          </a:xfrm>
          <a:prstGeom prst="straightConnector1">
            <a:avLst/>
          </a:prstGeom>
          <a:ln w="31750">
            <a:solidFill>
              <a:schemeClr val="accent5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6" idx="5"/>
            <a:endCxn id="5" idx="1"/>
          </p:cNvCxnSpPr>
          <p:nvPr/>
        </p:nvCxnSpPr>
        <p:spPr>
          <a:xfrm>
            <a:off x="4164656" y="4328329"/>
            <a:ext cx="1391337" cy="756100"/>
          </a:xfrm>
          <a:prstGeom prst="straightConnector1">
            <a:avLst/>
          </a:prstGeom>
          <a:ln w="31750">
            <a:solidFill>
              <a:schemeClr val="accent5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5" idx="7"/>
            <a:endCxn id="21" idx="2"/>
          </p:cNvCxnSpPr>
          <p:nvPr/>
        </p:nvCxnSpPr>
        <p:spPr>
          <a:xfrm flipV="1">
            <a:off x="6051121" y="4386135"/>
            <a:ext cx="1537987" cy="698294"/>
          </a:xfrm>
          <a:prstGeom prst="straightConnector1">
            <a:avLst/>
          </a:prstGeom>
          <a:ln w="31750">
            <a:solidFill>
              <a:schemeClr val="accent5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70166" y="1134750"/>
            <a:ext cx="59070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D</a:t>
            </a:r>
            <a:r>
              <a:rPr lang="en-US" sz="2000" baseline="30000"/>
              <a:t>(k</a:t>
            </a:r>
            <a:r>
              <a:rPr lang="en-US" sz="2000" baseline="30000" dirty="0"/>
              <a:t>)</a:t>
            </a:r>
            <a:r>
              <a:rPr lang="en-US" sz="2000" dirty="0"/>
              <a:t>[</a:t>
            </a:r>
            <a:r>
              <a:rPr lang="en-US" sz="2000" dirty="0" err="1"/>
              <a:t>u,v</a:t>
            </a:r>
            <a:r>
              <a:rPr lang="en-US" sz="2000" dirty="0"/>
              <a:t>] is the cost of the shortest path from u to v so that all internal vertices on that path are in {1, </a:t>
            </a:r>
            <a:r>
              <a:rPr lang="mr-IN" sz="2000" dirty="0"/>
              <a:t>…</a:t>
            </a:r>
            <a:r>
              <a:rPr lang="en-US" sz="2000" dirty="0"/>
              <a:t>, k}.</a:t>
            </a:r>
          </a:p>
        </p:txBody>
      </p:sp>
      <p:sp>
        <p:nvSpPr>
          <p:cNvPr id="42" name="TextBox 41"/>
          <p:cNvSpPr txBox="1"/>
          <p:nvPr/>
        </p:nvSpPr>
        <p:spPr>
          <a:xfrm rot="593209">
            <a:off x="2899504" y="5796910"/>
            <a:ext cx="3274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Vertices 1, </a:t>
            </a:r>
            <a:r>
              <a:rPr lang="mr-IN" dirty="0">
                <a:solidFill>
                  <a:schemeClr val="accent4"/>
                </a:solidFill>
              </a:rPr>
              <a:t>…</a:t>
            </a:r>
            <a:r>
              <a:rPr lang="en-US" dirty="0">
                <a:solidFill>
                  <a:schemeClr val="accent4"/>
                </a:solidFill>
              </a:rPr>
              <a:t>, k-1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0166" y="2084248"/>
            <a:ext cx="26319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</a:rPr>
              <a:t>Case 1: </a:t>
            </a:r>
            <a:r>
              <a:rPr lang="en-US" sz="2800" dirty="0">
                <a:solidFill>
                  <a:schemeClr val="accent1"/>
                </a:solidFill>
              </a:rPr>
              <a:t>we don</a:t>
            </a:r>
            <a:r>
              <a:rPr lang="mr-IN" sz="2800" dirty="0">
                <a:solidFill>
                  <a:schemeClr val="accent1"/>
                </a:solidFill>
              </a:rPr>
              <a:t>’</a:t>
            </a:r>
            <a:r>
              <a:rPr lang="en-US" sz="2800" dirty="0">
                <a:solidFill>
                  <a:schemeClr val="accent1"/>
                </a:solidFill>
              </a:rPr>
              <a:t>t need vertex 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91866" y="5919085"/>
            <a:ext cx="3253312" cy="52322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5"/>
                </a:solidFill>
              </a:rPr>
              <a:t>D</a:t>
            </a:r>
            <a:r>
              <a:rPr lang="en-US" sz="2800" baseline="30000" dirty="0">
                <a:solidFill>
                  <a:schemeClr val="accent5"/>
                </a:solidFill>
              </a:rPr>
              <a:t>(k)</a:t>
            </a:r>
            <a:r>
              <a:rPr lang="en-US" sz="2800" dirty="0">
                <a:solidFill>
                  <a:schemeClr val="accent5"/>
                </a:solidFill>
              </a:rPr>
              <a:t>[</a:t>
            </a:r>
            <a:r>
              <a:rPr lang="en-US" sz="2800" dirty="0" err="1">
                <a:solidFill>
                  <a:schemeClr val="accent5"/>
                </a:solidFill>
              </a:rPr>
              <a:t>u,v</a:t>
            </a:r>
            <a:r>
              <a:rPr lang="en-US" sz="2800" dirty="0">
                <a:solidFill>
                  <a:schemeClr val="accent5"/>
                </a:solidFill>
              </a:rPr>
              <a:t>] = D</a:t>
            </a:r>
            <a:r>
              <a:rPr lang="en-US" sz="2800" baseline="30000" dirty="0">
                <a:solidFill>
                  <a:schemeClr val="accent5"/>
                </a:solidFill>
              </a:rPr>
              <a:t>(k-1)</a:t>
            </a:r>
            <a:r>
              <a:rPr lang="en-US" sz="2800" dirty="0">
                <a:solidFill>
                  <a:schemeClr val="accent5"/>
                </a:solidFill>
              </a:rPr>
              <a:t>[</a:t>
            </a:r>
            <a:r>
              <a:rPr lang="en-US" sz="2800" dirty="0" err="1">
                <a:solidFill>
                  <a:schemeClr val="accent5"/>
                </a:solidFill>
              </a:rPr>
              <a:t>u,v</a:t>
            </a:r>
            <a:r>
              <a:rPr lang="en-US" sz="2800" dirty="0">
                <a:solidFill>
                  <a:schemeClr val="accent5"/>
                </a:solidFill>
              </a:rPr>
              <a:t>] </a:t>
            </a:r>
          </a:p>
        </p:txBody>
      </p:sp>
      <p:sp>
        <p:nvSpPr>
          <p:cNvPr id="7" name="TextBox 6"/>
          <p:cNvSpPr txBox="1"/>
          <p:nvPr/>
        </p:nvSpPr>
        <p:spPr>
          <a:xfrm rot="587502">
            <a:off x="6950664" y="4995434"/>
            <a:ext cx="24679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This path was the shortest before, so it’s still the shortest now.</a:t>
            </a:r>
          </a:p>
        </p:txBody>
      </p:sp>
      <p:sp>
        <p:nvSpPr>
          <p:cNvPr id="30" name="TextBox 29"/>
          <p:cNvSpPr txBox="1"/>
          <p:nvPr/>
        </p:nvSpPr>
        <p:spPr>
          <a:xfrm rot="1992514">
            <a:off x="4480429" y="3155705"/>
            <a:ext cx="3274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Vertices 1, </a:t>
            </a:r>
            <a:r>
              <a:rPr lang="mr-IN" dirty="0"/>
              <a:t>…</a:t>
            </a:r>
            <a:r>
              <a:rPr lang="en-US" dirty="0"/>
              <a:t>, k</a:t>
            </a:r>
          </a:p>
        </p:txBody>
      </p:sp>
    </p:spTree>
    <p:extLst>
      <p:ext uri="{BB962C8B-B14F-4D97-AF65-F5344CB8AC3E}">
        <p14:creationId xmlns:p14="http://schemas.microsoft.com/office/powerpoint/2010/main" val="551839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Freeform 35"/>
          <p:cNvSpPr/>
          <p:nvPr/>
        </p:nvSpPr>
        <p:spPr>
          <a:xfrm>
            <a:off x="1901579" y="1927507"/>
            <a:ext cx="4988547" cy="4769869"/>
          </a:xfrm>
          <a:custGeom>
            <a:avLst/>
            <a:gdLst>
              <a:gd name="connsiteX0" fmla="*/ 4956421 w 4988547"/>
              <a:gd name="connsiteY0" fmla="*/ 2088439 h 4769869"/>
              <a:gd name="connsiteX1" fmla="*/ 4845210 w 4988547"/>
              <a:gd name="connsiteY1" fmla="*/ 3410612 h 4769869"/>
              <a:gd name="connsiteX2" fmla="*/ 3807243 w 4988547"/>
              <a:gd name="connsiteY2" fmla="*/ 4572147 h 4769869"/>
              <a:gd name="connsiteX3" fmla="*/ 1261751 w 4988547"/>
              <a:gd name="connsiteY3" fmla="*/ 4633931 h 4769869"/>
              <a:gd name="connsiteX4" fmla="*/ 50789 w 4988547"/>
              <a:gd name="connsiteY4" fmla="*/ 3200547 h 4769869"/>
              <a:gd name="connsiteX5" fmla="*/ 384421 w 4988547"/>
              <a:gd name="connsiteY5" fmla="*/ 1507671 h 4769869"/>
              <a:gd name="connsiteX6" fmla="*/ 1805448 w 4988547"/>
              <a:gd name="connsiteY6" fmla="*/ 136071 h 4769869"/>
              <a:gd name="connsiteX7" fmla="*/ 3004053 w 4988547"/>
              <a:gd name="connsiteY7" fmla="*/ 197855 h 4769869"/>
              <a:gd name="connsiteX8" fmla="*/ 4622789 w 4988547"/>
              <a:gd name="connsiteY8" fmla="*/ 1445888 h 4769869"/>
              <a:gd name="connsiteX9" fmla="*/ 4956421 w 4988547"/>
              <a:gd name="connsiteY9" fmla="*/ 2088439 h 4769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988547" h="4769869">
                <a:moveTo>
                  <a:pt x="4956421" y="2088439"/>
                </a:moveTo>
                <a:cubicBezTo>
                  <a:pt x="4993491" y="2415893"/>
                  <a:pt x="5036740" y="2996661"/>
                  <a:pt x="4845210" y="3410612"/>
                </a:cubicBezTo>
                <a:cubicBezTo>
                  <a:pt x="4653680" y="3824563"/>
                  <a:pt x="4404486" y="4368261"/>
                  <a:pt x="3807243" y="4572147"/>
                </a:cubicBezTo>
                <a:cubicBezTo>
                  <a:pt x="3210000" y="4776033"/>
                  <a:pt x="1887827" y="4862531"/>
                  <a:pt x="1261751" y="4633931"/>
                </a:cubicBezTo>
                <a:cubicBezTo>
                  <a:pt x="635675" y="4405331"/>
                  <a:pt x="197011" y="3721590"/>
                  <a:pt x="50789" y="3200547"/>
                </a:cubicBezTo>
                <a:cubicBezTo>
                  <a:pt x="-95433" y="2679504"/>
                  <a:pt x="91978" y="2018417"/>
                  <a:pt x="384421" y="1507671"/>
                </a:cubicBezTo>
                <a:cubicBezTo>
                  <a:pt x="676864" y="996925"/>
                  <a:pt x="1368843" y="354374"/>
                  <a:pt x="1805448" y="136071"/>
                </a:cubicBezTo>
                <a:cubicBezTo>
                  <a:pt x="2242053" y="-82232"/>
                  <a:pt x="2534496" y="-20448"/>
                  <a:pt x="3004053" y="197855"/>
                </a:cubicBezTo>
                <a:cubicBezTo>
                  <a:pt x="3473610" y="416158"/>
                  <a:pt x="4297394" y="1136969"/>
                  <a:pt x="4622789" y="1445888"/>
                </a:cubicBezTo>
                <a:cubicBezTo>
                  <a:pt x="4948184" y="1754807"/>
                  <a:pt x="4919351" y="1760985"/>
                  <a:pt x="4956421" y="2088439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 rot="1992514">
            <a:off x="4480429" y="3155705"/>
            <a:ext cx="3274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Vertices 1, </a:t>
            </a:r>
            <a:r>
              <a:rPr lang="mr-IN" dirty="0"/>
              <a:t>…</a:t>
            </a:r>
            <a:r>
              <a:rPr lang="en-US" dirty="0"/>
              <a:t>, 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850" y="89068"/>
            <a:ext cx="7886700" cy="1254727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5"/>
                </a:solidFill>
              </a:rPr>
              <a:t>How can we find D</a:t>
            </a:r>
            <a:r>
              <a:rPr lang="en-US" baseline="30000" dirty="0">
                <a:solidFill>
                  <a:schemeClr val="accent5"/>
                </a:solidFill>
              </a:rPr>
              <a:t>(k)</a:t>
            </a:r>
            <a:r>
              <a:rPr lang="en-US" dirty="0">
                <a:solidFill>
                  <a:schemeClr val="accent5"/>
                </a:solidFill>
              </a:rPr>
              <a:t>[</a:t>
            </a:r>
            <a:r>
              <a:rPr lang="en-US" dirty="0" err="1">
                <a:solidFill>
                  <a:schemeClr val="accent5"/>
                </a:solidFill>
              </a:rPr>
              <a:t>u,v</a:t>
            </a:r>
            <a:r>
              <a:rPr lang="en-US" dirty="0">
                <a:solidFill>
                  <a:schemeClr val="accent5"/>
                </a:solidFill>
              </a:rPr>
              <a:t>] using D</a:t>
            </a:r>
            <a:r>
              <a:rPr lang="en-US" baseline="30000" dirty="0">
                <a:solidFill>
                  <a:schemeClr val="accent5"/>
                </a:solidFill>
              </a:rPr>
              <a:t>(k)</a:t>
            </a:r>
            <a:r>
              <a:rPr lang="en-US" dirty="0">
                <a:solidFill>
                  <a:schemeClr val="accent5"/>
                </a:solidFill>
              </a:rPr>
              <a:t>?</a:t>
            </a:r>
          </a:p>
        </p:txBody>
      </p:sp>
      <p:sp>
        <p:nvSpPr>
          <p:cNvPr id="4" name="Oval 3"/>
          <p:cNvSpPr/>
          <p:nvPr/>
        </p:nvSpPr>
        <p:spPr>
          <a:xfrm>
            <a:off x="2236573" y="3212757"/>
            <a:ext cx="4411362" cy="308919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349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5453449" y="4979773"/>
            <a:ext cx="700216" cy="7146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49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k-1</a:t>
            </a:r>
          </a:p>
        </p:txBody>
      </p:sp>
      <p:sp>
        <p:nvSpPr>
          <p:cNvPr id="14" name="Oval 13"/>
          <p:cNvSpPr/>
          <p:nvPr/>
        </p:nvSpPr>
        <p:spPr>
          <a:xfrm>
            <a:off x="4897395" y="3778851"/>
            <a:ext cx="700216" cy="7146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49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3836773" y="4938580"/>
            <a:ext cx="700216" cy="7146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49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mr-IN" dirty="0">
                <a:solidFill>
                  <a:schemeClr val="tx1"/>
                </a:solidFill>
              </a:rPr>
              <a:t>…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3566984" y="3718352"/>
            <a:ext cx="700216" cy="7146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49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2426044" y="4400035"/>
            <a:ext cx="700216" cy="7146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49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8" name="Oval 17"/>
          <p:cNvSpPr/>
          <p:nvPr/>
        </p:nvSpPr>
        <p:spPr>
          <a:xfrm>
            <a:off x="3836773" y="2224603"/>
            <a:ext cx="700216" cy="7146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49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19" name="Oval 18"/>
          <p:cNvSpPr/>
          <p:nvPr/>
        </p:nvSpPr>
        <p:spPr>
          <a:xfrm>
            <a:off x="7080421" y="2515374"/>
            <a:ext cx="778475" cy="69738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49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k+1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Oval 19"/>
          <p:cNvSpPr/>
          <p:nvPr/>
        </p:nvSpPr>
        <p:spPr>
          <a:xfrm>
            <a:off x="762001" y="3718352"/>
            <a:ext cx="778475" cy="69738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49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</a:t>
            </a:r>
          </a:p>
        </p:txBody>
      </p:sp>
      <p:sp>
        <p:nvSpPr>
          <p:cNvPr id="21" name="Oval 20"/>
          <p:cNvSpPr/>
          <p:nvPr/>
        </p:nvSpPr>
        <p:spPr>
          <a:xfrm>
            <a:off x="7589108" y="4037443"/>
            <a:ext cx="778475" cy="69738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49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v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Oval 21"/>
          <p:cNvSpPr/>
          <p:nvPr/>
        </p:nvSpPr>
        <p:spPr>
          <a:xfrm>
            <a:off x="1023551" y="5413419"/>
            <a:ext cx="778475" cy="69738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49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</a:t>
            </a:r>
          </a:p>
        </p:txBody>
      </p:sp>
      <p:cxnSp>
        <p:nvCxnSpPr>
          <p:cNvPr id="27" name="Straight Arrow Connector 26"/>
          <p:cNvCxnSpPr>
            <a:stCxn id="20" idx="5"/>
            <a:endCxn id="17" idx="2"/>
          </p:cNvCxnSpPr>
          <p:nvPr/>
        </p:nvCxnSpPr>
        <p:spPr>
          <a:xfrm>
            <a:off x="1426471" y="4313606"/>
            <a:ext cx="999573" cy="443746"/>
          </a:xfrm>
          <a:prstGeom prst="straightConnector1">
            <a:avLst/>
          </a:prstGeom>
          <a:ln w="31750">
            <a:solidFill>
              <a:srgbClr val="7030A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7" idx="6"/>
            <a:endCxn id="16" idx="3"/>
          </p:cNvCxnSpPr>
          <p:nvPr/>
        </p:nvCxnSpPr>
        <p:spPr>
          <a:xfrm flipV="1">
            <a:off x="3126260" y="4328329"/>
            <a:ext cx="543268" cy="429023"/>
          </a:xfrm>
          <a:prstGeom prst="straightConnector1">
            <a:avLst/>
          </a:prstGeom>
          <a:ln w="31750">
            <a:solidFill>
              <a:srgbClr val="7030A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6" idx="0"/>
            <a:endCxn id="18" idx="4"/>
          </p:cNvCxnSpPr>
          <p:nvPr/>
        </p:nvCxnSpPr>
        <p:spPr>
          <a:xfrm flipV="1">
            <a:off x="3917092" y="2939236"/>
            <a:ext cx="269789" cy="779116"/>
          </a:xfrm>
          <a:prstGeom prst="straightConnector1">
            <a:avLst/>
          </a:prstGeom>
          <a:ln w="31750">
            <a:solidFill>
              <a:srgbClr val="7030A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endCxn id="21" idx="3"/>
          </p:cNvCxnSpPr>
          <p:nvPr/>
        </p:nvCxnSpPr>
        <p:spPr>
          <a:xfrm flipV="1">
            <a:off x="6177778" y="4632697"/>
            <a:ext cx="1525335" cy="588420"/>
          </a:xfrm>
          <a:prstGeom prst="straightConnector1">
            <a:avLst/>
          </a:prstGeom>
          <a:ln w="31750">
            <a:solidFill>
              <a:srgbClr val="FF00EB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70166" y="1134750"/>
            <a:ext cx="59070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D</a:t>
            </a:r>
            <a:r>
              <a:rPr lang="en-US" sz="2000" baseline="30000"/>
              <a:t>(k</a:t>
            </a:r>
            <a:r>
              <a:rPr lang="en-US" sz="2000" baseline="30000" dirty="0"/>
              <a:t>)</a:t>
            </a:r>
            <a:r>
              <a:rPr lang="en-US" sz="2000" dirty="0"/>
              <a:t>[</a:t>
            </a:r>
            <a:r>
              <a:rPr lang="en-US" sz="2000" dirty="0" err="1"/>
              <a:t>u,v</a:t>
            </a:r>
            <a:r>
              <a:rPr lang="en-US" sz="2000" dirty="0"/>
              <a:t>] is the cost of the shortest path from u to v so that all internal vertices on that path are in {1, </a:t>
            </a:r>
            <a:r>
              <a:rPr lang="mr-IN" sz="2000" dirty="0"/>
              <a:t>…</a:t>
            </a:r>
            <a:r>
              <a:rPr lang="en-US" sz="2000" dirty="0"/>
              <a:t>, k}.</a:t>
            </a:r>
          </a:p>
        </p:txBody>
      </p:sp>
      <p:sp>
        <p:nvSpPr>
          <p:cNvPr id="42" name="TextBox 41"/>
          <p:cNvSpPr txBox="1"/>
          <p:nvPr/>
        </p:nvSpPr>
        <p:spPr>
          <a:xfrm rot="593209">
            <a:off x="2899504" y="5796910"/>
            <a:ext cx="3274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Vertices 1, </a:t>
            </a:r>
            <a:r>
              <a:rPr lang="mr-IN" dirty="0">
                <a:solidFill>
                  <a:schemeClr val="accent4"/>
                </a:solidFill>
              </a:rPr>
              <a:t>…</a:t>
            </a:r>
            <a:r>
              <a:rPr lang="en-US" dirty="0">
                <a:solidFill>
                  <a:schemeClr val="accent4"/>
                </a:solidFill>
              </a:rPr>
              <a:t>, k-1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0166" y="2084248"/>
            <a:ext cx="26319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</a:rPr>
              <a:t>Case 2: </a:t>
            </a:r>
            <a:r>
              <a:rPr lang="en-US" sz="2800" dirty="0">
                <a:solidFill>
                  <a:schemeClr val="accent1"/>
                </a:solidFill>
              </a:rPr>
              <a:t>we need vertex 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81880" y="6139502"/>
            <a:ext cx="5266038" cy="52322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D</a:t>
            </a:r>
            <a:r>
              <a:rPr lang="en-US" sz="2800" baseline="30000" dirty="0">
                <a:solidFill>
                  <a:schemeClr val="accent1"/>
                </a:solidFill>
              </a:rPr>
              <a:t>(k)</a:t>
            </a:r>
            <a:r>
              <a:rPr lang="en-US" sz="2800" dirty="0">
                <a:solidFill>
                  <a:schemeClr val="accent1"/>
                </a:solidFill>
              </a:rPr>
              <a:t>[</a:t>
            </a:r>
            <a:r>
              <a:rPr lang="en-US" sz="2800" dirty="0" err="1">
                <a:solidFill>
                  <a:schemeClr val="accent1"/>
                </a:solidFill>
              </a:rPr>
              <a:t>u,v</a:t>
            </a:r>
            <a:r>
              <a:rPr lang="en-US" sz="2800" dirty="0">
                <a:solidFill>
                  <a:schemeClr val="accent1"/>
                </a:solidFill>
              </a:rPr>
              <a:t>] = </a:t>
            </a:r>
            <a:r>
              <a:rPr lang="en-US" sz="2800" dirty="0">
                <a:solidFill>
                  <a:srgbClr val="7030A0"/>
                </a:solidFill>
              </a:rPr>
              <a:t>D</a:t>
            </a:r>
            <a:r>
              <a:rPr lang="en-US" sz="2800" baseline="30000" dirty="0">
                <a:solidFill>
                  <a:srgbClr val="7030A0"/>
                </a:solidFill>
              </a:rPr>
              <a:t>(k-1)</a:t>
            </a:r>
            <a:r>
              <a:rPr lang="en-US" sz="2800" dirty="0">
                <a:solidFill>
                  <a:srgbClr val="7030A0"/>
                </a:solidFill>
              </a:rPr>
              <a:t>[</a:t>
            </a:r>
            <a:r>
              <a:rPr lang="en-US" sz="2800" dirty="0" err="1">
                <a:solidFill>
                  <a:srgbClr val="7030A0"/>
                </a:solidFill>
              </a:rPr>
              <a:t>u,k</a:t>
            </a:r>
            <a:r>
              <a:rPr lang="en-US" sz="2800" dirty="0">
                <a:solidFill>
                  <a:srgbClr val="7030A0"/>
                </a:solidFill>
              </a:rPr>
              <a:t>] </a:t>
            </a:r>
            <a:r>
              <a:rPr lang="en-US" sz="2800" dirty="0">
                <a:solidFill>
                  <a:schemeClr val="accent1"/>
                </a:solidFill>
              </a:rPr>
              <a:t>+ </a:t>
            </a:r>
            <a:r>
              <a:rPr lang="en-US" sz="2800" dirty="0">
                <a:solidFill>
                  <a:srgbClr val="FF00EB"/>
                </a:solidFill>
              </a:rPr>
              <a:t>D</a:t>
            </a:r>
            <a:r>
              <a:rPr lang="en-US" sz="2800" baseline="30000" dirty="0">
                <a:solidFill>
                  <a:srgbClr val="FF00EB"/>
                </a:solidFill>
              </a:rPr>
              <a:t>(k-1)</a:t>
            </a:r>
            <a:r>
              <a:rPr lang="en-US" sz="2800" dirty="0">
                <a:solidFill>
                  <a:srgbClr val="FF00EB"/>
                </a:solidFill>
              </a:rPr>
              <a:t>[</a:t>
            </a:r>
            <a:r>
              <a:rPr lang="en-US" sz="2800" dirty="0" err="1">
                <a:solidFill>
                  <a:srgbClr val="FF00EB"/>
                </a:solidFill>
              </a:rPr>
              <a:t>k,v</a:t>
            </a:r>
            <a:r>
              <a:rPr lang="en-US" sz="2800" dirty="0">
                <a:solidFill>
                  <a:srgbClr val="FF00EB"/>
                </a:solidFill>
              </a:rPr>
              <a:t>] </a:t>
            </a:r>
          </a:p>
        </p:txBody>
      </p:sp>
      <p:cxnSp>
        <p:nvCxnSpPr>
          <p:cNvPr id="24" name="Straight Arrow Connector 23"/>
          <p:cNvCxnSpPr>
            <a:stCxn id="14" idx="4"/>
            <a:endCxn id="5" idx="1"/>
          </p:cNvCxnSpPr>
          <p:nvPr/>
        </p:nvCxnSpPr>
        <p:spPr>
          <a:xfrm>
            <a:off x="5247503" y="4493484"/>
            <a:ext cx="308490" cy="590945"/>
          </a:xfrm>
          <a:prstGeom prst="straightConnector1">
            <a:avLst/>
          </a:prstGeom>
          <a:ln w="31750">
            <a:solidFill>
              <a:srgbClr val="FF00EB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8" idx="5"/>
            <a:endCxn id="14" idx="1"/>
          </p:cNvCxnSpPr>
          <p:nvPr/>
        </p:nvCxnSpPr>
        <p:spPr>
          <a:xfrm>
            <a:off x="4434445" y="2834580"/>
            <a:ext cx="565494" cy="1048927"/>
          </a:xfrm>
          <a:prstGeom prst="straightConnector1">
            <a:avLst/>
          </a:prstGeom>
          <a:ln w="31750">
            <a:solidFill>
              <a:srgbClr val="FF00EB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7743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5230481" y="2286467"/>
            <a:ext cx="3484632" cy="3336471"/>
            <a:chOff x="1901579" y="1927507"/>
            <a:chExt cx="5853819" cy="4769869"/>
          </a:xfrm>
        </p:grpSpPr>
        <p:sp>
          <p:nvSpPr>
            <p:cNvPr id="30" name="Freeform 29"/>
            <p:cNvSpPr/>
            <p:nvPr/>
          </p:nvSpPr>
          <p:spPr>
            <a:xfrm>
              <a:off x="1901579" y="1927507"/>
              <a:ext cx="4988547" cy="4769869"/>
            </a:xfrm>
            <a:custGeom>
              <a:avLst/>
              <a:gdLst>
                <a:gd name="connsiteX0" fmla="*/ 4956421 w 4988547"/>
                <a:gd name="connsiteY0" fmla="*/ 2088439 h 4769869"/>
                <a:gd name="connsiteX1" fmla="*/ 4845210 w 4988547"/>
                <a:gd name="connsiteY1" fmla="*/ 3410612 h 4769869"/>
                <a:gd name="connsiteX2" fmla="*/ 3807243 w 4988547"/>
                <a:gd name="connsiteY2" fmla="*/ 4572147 h 4769869"/>
                <a:gd name="connsiteX3" fmla="*/ 1261751 w 4988547"/>
                <a:gd name="connsiteY3" fmla="*/ 4633931 h 4769869"/>
                <a:gd name="connsiteX4" fmla="*/ 50789 w 4988547"/>
                <a:gd name="connsiteY4" fmla="*/ 3200547 h 4769869"/>
                <a:gd name="connsiteX5" fmla="*/ 384421 w 4988547"/>
                <a:gd name="connsiteY5" fmla="*/ 1507671 h 4769869"/>
                <a:gd name="connsiteX6" fmla="*/ 1805448 w 4988547"/>
                <a:gd name="connsiteY6" fmla="*/ 136071 h 4769869"/>
                <a:gd name="connsiteX7" fmla="*/ 3004053 w 4988547"/>
                <a:gd name="connsiteY7" fmla="*/ 197855 h 4769869"/>
                <a:gd name="connsiteX8" fmla="*/ 4622789 w 4988547"/>
                <a:gd name="connsiteY8" fmla="*/ 1445888 h 4769869"/>
                <a:gd name="connsiteX9" fmla="*/ 4956421 w 4988547"/>
                <a:gd name="connsiteY9" fmla="*/ 2088439 h 4769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88547" h="4769869">
                  <a:moveTo>
                    <a:pt x="4956421" y="2088439"/>
                  </a:moveTo>
                  <a:cubicBezTo>
                    <a:pt x="4993491" y="2415893"/>
                    <a:pt x="5036740" y="2996661"/>
                    <a:pt x="4845210" y="3410612"/>
                  </a:cubicBezTo>
                  <a:cubicBezTo>
                    <a:pt x="4653680" y="3824563"/>
                    <a:pt x="4404486" y="4368261"/>
                    <a:pt x="3807243" y="4572147"/>
                  </a:cubicBezTo>
                  <a:cubicBezTo>
                    <a:pt x="3210000" y="4776033"/>
                    <a:pt x="1887827" y="4862531"/>
                    <a:pt x="1261751" y="4633931"/>
                  </a:cubicBezTo>
                  <a:cubicBezTo>
                    <a:pt x="635675" y="4405331"/>
                    <a:pt x="197011" y="3721590"/>
                    <a:pt x="50789" y="3200547"/>
                  </a:cubicBezTo>
                  <a:cubicBezTo>
                    <a:pt x="-95433" y="2679504"/>
                    <a:pt x="91978" y="2018417"/>
                    <a:pt x="384421" y="1507671"/>
                  </a:cubicBezTo>
                  <a:cubicBezTo>
                    <a:pt x="676864" y="996925"/>
                    <a:pt x="1368843" y="354374"/>
                    <a:pt x="1805448" y="136071"/>
                  </a:cubicBezTo>
                  <a:cubicBezTo>
                    <a:pt x="2242053" y="-82232"/>
                    <a:pt x="2534496" y="-20448"/>
                    <a:pt x="3004053" y="197855"/>
                  </a:cubicBezTo>
                  <a:cubicBezTo>
                    <a:pt x="3473610" y="416158"/>
                    <a:pt x="4297394" y="1136969"/>
                    <a:pt x="4622789" y="1445888"/>
                  </a:cubicBezTo>
                  <a:cubicBezTo>
                    <a:pt x="4948184" y="1754807"/>
                    <a:pt x="4919351" y="1760985"/>
                    <a:pt x="4956421" y="2088439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/>
            <p:cNvSpPr txBox="1"/>
            <p:nvPr/>
          </p:nvSpPr>
          <p:spPr>
            <a:xfrm rot="2579088">
              <a:off x="4480429" y="3155705"/>
              <a:ext cx="32749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Vertices 1, </a:t>
              </a:r>
              <a:r>
                <a:rPr lang="mr-IN" dirty="0"/>
                <a:t>…</a:t>
              </a:r>
              <a:r>
                <a:rPr lang="en-US" dirty="0"/>
                <a:t>, k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850" y="89068"/>
            <a:ext cx="7886700" cy="1032531"/>
          </a:xfrm>
        </p:spPr>
        <p:txBody>
          <a:bodyPr>
            <a:normAutofit/>
          </a:bodyPr>
          <a:lstStyle/>
          <a:p>
            <a:r>
              <a:rPr lang="en-US" dirty="0"/>
              <a:t>A bit more detail on Case 2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559644" y="2570205"/>
            <a:ext cx="4438134" cy="2594920"/>
            <a:chOff x="762001" y="2224603"/>
            <a:chExt cx="7605582" cy="4077344"/>
          </a:xfrm>
        </p:grpSpPr>
        <p:sp>
          <p:nvSpPr>
            <p:cNvPr id="4" name="Oval 3"/>
            <p:cNvSpPr/>
            <p:nvPr/>
          </p:nvSpPr>
          <p:spPr>
            <a:xfrm>
              <a:off x="2236573" y="3212757"/>
              <a:ext cx="4411362" cy="308919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49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/>
          </p:nvSpPr>
          <p:spPr>
            <a:xfrm>
              <a:off x="5233084" y="4979773"/>
              <a:ext cx="1182811" cy="71463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49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k-1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4897395" y="3778851"/>
              <a:ext cx="700216" cy="71463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49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4046536" y="4686241"/>
              <a:ext cx="746262" cy="71463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49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mr-IN" dirty="0">
                  <a:solidFill>
                    <a:schemeClr val="tx1"/>
                  </a:solidFill>
                </a:rPr>
                <a:t>…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Oval 15"/>
            <p:cNvSpPr/>
            <p:nvPr/>
          </p:nvSpPr>
          <p:spPr>
            <a:xfrm>
              <a:off x="3566984" y="3718352"/>
              <a:ext cx="700216" cy="71463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49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2426044" y="4400035"/>
              <a:ext cx="700216" cy="71463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49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3836773" y="2224603"/>
              <a:ext cx="700216" cy="714633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49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k</a:t>
              </a:r>
            </a:p>
          </p:txBody>
        </p:sp>
        <p:sp>
          <p:nvSpPr>
            <p:cNvPr id="20" name="Oval 19"/>
            <p:cNvSpPr/>
            <p:nvPr/>
          </p:nvSpPr>
          <p:spPr>
            <a:xfrm>
              <a:off x="762001" y="3718352"/>
              <a:ext cx="778475" cy="69738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49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u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7589108" y="4037443"/>
              <a:ext cx="778475" cy="69738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49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v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Oval 21"/>
            <p:cNvSpPr/>
            <p:nvPr/>
          </p:nvSpPr>
          <p:spPr>
            <a:xfrm>
              <a:off x="1023551" y="5413419"/>
              <a:ext cx="778475" cy="69738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49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n</a:t>
              </a:r>
            </a:p>
          </p:txBody>
        </p:sp>
        <p:cxnSp>
          <p:nvCxnSpPr>
            <p:cNvPr id="27" name="Straight Arrow Connector 26"/>
            <p:cNvCxnSpPr>
              <a:stCxn id="20" idx="5"/>
              <a:endCxn id="17" idx="2"/>
            </p:cNvCxnSpPr>
            <p:nvPr/>
          </p:nvCxnSpPr>
          <p:spPr>
            <a:xfrm>
              <a:off x="1426471" y="4313606"/>
              <a:ext cx="999573" cy="443746"/>
            </a:xfrm>
            <a:prstGeom prst="straightConnector1">
              <a:avLst/>
            </a:prstGeom>
            <a:ln w="31750">
              <a:solidFill>
                <a:srgbClr val="7030A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>
              <a:stCxn id="17" idx="6"/>
              <a:endCxn id="16" idx="3"/>
            </p:cNvCxnSpPr>
            <p:nvPr/>
          </p:nvCxnSpPr>
          <p:spPr>
            <a:xfrm flipV="1">
              <a:off x="3126260" y="4328329"/>
              <a:ext cx="543268" cy="429023"/>
            </a:xfrm>
            <a:prstGeom prst="straightConnector1">
              <a:avLst/>
            </a:prstGeom>
            <a:ln w="31750">
              <a:solidFill>
                <a:srgbClr val="7030A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>
              <a:stCxn id="16" idx="0"/>
              <a:endCxn id="18" idx="4"/>
            </p:cNvCxnSpPr>
            <p:nvPr/>
          </p:nvCxnSpPr>
          <p:spPr>
            <a:xfrm flipV="1">
              <a:off x="3917092" y="2939236"/>
              <a:ext cx="269789" cy="779116"/>
            </a:xfrm>
            <a:prstGeom prst="straightConnector1">
              <a:avLst/>
            </a:prstGeom>
            <a:ln w="31750">
              <a:solidFill>
                <a:srgbClr val="7030A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>
              <a:endCxn id="21" idx="3"/>
            </p:cNvCxnSpPr>
            <p:nvPr/>
          </p:nvCxnSpPr>
          <p:spPr>
            <a:xfrm flipV="1">
              <a:off x="6177778" y="4632697"/>
              <a:ext cx="1525335" cy="588420"/>
            </a:xfrm>
            <a:prstGeom prst="straightConnector1">
              <a:avLst/>
            </a:prstGeom>
            <a:ln w="31750">
              <a:solidFill>
                <a:srgbClr val="FF00EB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/>
            <p:cNvSpPr txBox="1"/>
            <p:nvPr/>
          </p:nvSpPr>
          <p:spPr>
            <a:xfrm rot="867166">
              <a:off x="2455899" y="5405356"/>
              <a:ext cx="32749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4"/>
                  </a:solidFill>
                </a:rPr>
                <a:t>Vertices 1, </a:t>
              </a:r>
              <a:r>
                <a:rPr lang="mr-IN" dirty="0">
                  <a:solidFill>
                    <a:schemeClr val="accent4"/>
                  </a:solidFill>
                </a:rPr>
                <a:t>…</a:t>
              </a:r>
              <a:r>
                <a:rPr lang="en-US" dirty="0">
                  <a:solidFill>
                    <a:schemeClr val="accent4"/>
                  </a:solidFill>
                </a:rPr>
                <a:t>, k-1</a:t>
              </a:r>
            </a:p>
          </p:txBody>
        </p:sp>
        <p:cxnSp>
          <p:nvCxnSpPr>
            <p:cNvPr id="24" name="Straight Arrow Connector 23"/>
            <p:cNvCxnSpPr>
              <a:stCxn id="14" idx="4"/>
              <a:endCxn id="5" idx="1"/>
            </p:cNvCxnSpPr>
            <p:nvPr/>
          </p:nvCxnSpPr>
          <p:spPr>
            <a:xfrm>
              <a:off x="5247503" y="4493484"/>
              <a:ext cx="158799" cy="590944"/>
            </a:xfrm>
            <a:prstGeom prst="straightConnector1">
              <a:avLst/>
            </a:prstGeom>
            <a:ln w="31750">
              <a:solidFill>
                <a:srgbClr val="FF00EB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18" idx="5"/>
              <a:endCxn id="14" idx="1"/>
            </p:cNvCxnSpPr>
            <p:nvPr/>
          </p:nvCxnSpPr>
          <p:spPr>
            <a:xfrm>
              <a:off x="4434445" y="2834580"/>
              <a:ext cx="565494" cy="1048927"/>
            </a:xfrm>
            <a:prstGeom prst="straightConnector1">
              <a:avLst/>
            </a:prstGeom>
            <a:ln w="31750">
              <a:solidFill>
                <a:srgbClr val="FF00EB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/>
          <p:cNvSpPr txBox="1"/>
          <p:nvPr/>
        </p:nvSpPr>
        <p:spPr>
          <a:xfrm>
            <a:off x="224663" y="1121599"/>
            <a:ext cx="468880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endParaRPr lang="en-US" sz="2000" dirty="0">
              <a:solidFill>
                <a:schemeClr val="accent4"/>
              </a:solidFill>
            </a:endParaRPr>
          </a:p>
          <a:p>
            <a:pPr marL="342900" indent="-342900">
              <a:buFont typeface="Arial" charset="0"/>
              <a:buChar char="•"/>
            </a:pPr>
            <a:r>
              <a:rPr lang="en-US" sz="2400" dirty="0"/>
              <a:t>Suppose there are </a:t>
            </a:r>
            <a:r>
              <a:rPr lang="en-US" sz="2400" dirty="0">
                <a:solidFill>
                  <a:srgbClr val="C00000"/>
                </a:solidFill>
              </a:rPr>
              <a:t>no negative cycles.</a:t>
            </a:r>
          </a:p>
          <a:p>
            <a:pPr marL="800100" lvl="1" indent="-342900">
              <a:buFont typeface="Arial" charset="0"/>
              <a:buChar char="•"/>
            </a:pPr>
            <a:r>
              <a:rPr lang="en-US" sz="2000" dirty="0">
                <a:solidFill>
                  <a:schemeClr val="accent4"/>
                </a:solidFill>
              </a:rPr>
              <a:t>Then WLOG the shortest path from u to v through {1,</a:t>
            </a:r>
            <a:r>
              <a:rPr lang="mr-IN" sz="2000" dirty="0">
                <a:solidFill>
                  <a:schemeClr val="accent4"/>
                </a:solidFill>
              </a:rPr>
              <a:t>…</a:t>
            </a:r>
            <a:r>
              <a:rPr lang="en-US" sz="2000" dirty="0">
                <a:solidFill>
                  <a:schemeClr val="accent4"/>
                </a:solidFill>
              </a:rPr>
              <a:t>,k} is </a:t>
            </a:r>
            <a:r>
              <a:rPr lang="en-US" sz="2000" b="1" dirty="0">
                <a:solidFill>
                  <a:schemeClr val="accent4"/>
                </a:solidFill>
              </a:rPr>
              <a:t>simple</a:t>
            </a:r>
            <a:r>
              <a:rPr lang="en-US" sz="2000" dirty="0">
                <a:solidFill>
                  <a:schemeClr val="accent4"/>
                </a:solidFill>
              </a:rPr>
              <a:t>.</a:t>
            </a:r>
          </a:p>
          <a:p>
            <a:pPr marL="800100" lvl="1" indent="-342900">
              <a:buFont typeface="Arial" charset="0"/>
              <a:buChar char="•"/>
            </a:pPr>
            <a:endParaRPr lang="en-US" sz="2000" dirty="0">
              <a:solidFill>
                <a:schemeClr val="accent4"/>
              </a:solidFill>
            </a:endParaRPr>
          </a:p>
          <a:p>
            <a:pPr marL="342900" indent="-342900">
              <a:buFont typeface="Arial" charset="0"/>
              <a:buChar char="•"/>
            </a:pPr>
            <a:r>
              <a:rPr lang="en-US" sz="2400" dirty="0"/>
              <a:t>If </a:t>
            </a:r>
            <a:r>
              <a:rPr lang="en-US" sz="2400" b="1" u="sng" dirty="0">
                <a:solidFill>
                  <a:srgbClr val="7030A0"/>
                </a:solidFill>
              </a:rPr>
              <a:t>that </a:t>
            </a:r>
            <a:r>
              <a:rPr lang="en-US" sz="2400" b="1" u="sng" dirty="0">
                <a:solidFill>
                  <a:srgbClr val="FF00EB"/>
                </a:solidFill>
              </a:rPr>
              <a:t>path</a:t>
            </a:r>
            <a:r>
              <a:rPr lang="en-US" sz="2400" b="1" dirty="0"/>
              <a:t> </a:t>
            </a:r>
            <a:r>
              <a:rPr lang="en-US" sz="2400" dirty="0"/>
              <a:t>passes through k, it must look like this:</a:t>
            </a:r>
          </a:p>
          <a:p>
            <a:pPr marL="342900" indent="-342900">
              <a:buFont typeface="Arial" charset="0"/>
              <a:buChar char="•"/>
            </a:pPr>
            <a:endParaRPr lang="en-US" sz="2400" dirty="0"/>
          </a:p>
          <a:p>
            <a:pPr marL="342900" indent="-342900">
              <a:buFont typeface="Arial" charset="0"/>
              <a:buChar char="•"/>
            </a:pPr>
            <a:r>
              <a:rPr lang="en-US" sz="2400" b="1" u="sng" dirty="0">
                <a:solidFill>
                  <a:srgbClr val="7030A0"/>
                </a:solidFill>
              </a:rPr>
              <a:t>This path </a:t>
            </a:r>
            <a:r>
              <a:rPr lang="en-US" sz="2400" dirty="0"/>
              <a:t>is the shortest path from u to k through </a:t>
            </a:r>
            <a:r>
              <a:rPr lang="en-US" sz="2400" dirty="0">
                <a:solidFill>
                  <a:schemeClr val="accent4"/>
                </a:solidFill>
              </a:rPr>
              <a:t>{1,</a:t>
            </a:r>
            <a:r>
              <a:rPr lang="mr-IN" sz="2400" dirty="0">
                <a:solidFill>
                  <a:schemeClr val="accent4"/>
                </a:solidFill>
              </a:rPr>
              <a:t>…</a:t>
            </a:r>
            <a:r>
              <a:rPr lang="en-US" sz="2400" dirty="0">
                <a:solidFill>
                  <a:schemeClr val="accent4"/>
                </a:solidFill>
              </a:rPr>
              <a:t>,k-1}.</a:t>
            </a:r>
          </a:p>
          <a:p>
            <a:pPr marL="800100" lvl="1" indent="-342900">
              <a:buFont typeface="Arial" charset="0"/>
              <a:buChar char="•"/>
            </a:pPr>
            <a:r>
              <a:rPr lang="en-US" sz="2000" dirty="0">
                <a:solidFill>
                  <a:schemeClr val="accent1"/>
                </a:solidFill>
              </a:rPr>
              <a:t>sub-paths of shortest paths are shortest paths</a:t>
            </a:r>
          </a:p>
          <a:p>
            <a:pPr marL="342900" indent="-342900">
              <a:buFont typeface="Arial" charset="0"/>
              <a:buChar char="•"/>
            </a:pPr>
            <a:r>
              <a:rPr lang="en-US" sz="2400" dirty="0"/>
              <a:t>Same for </a:t>
            </a:r>
            <a:r>
              <a:rPr lang="en-US" sz="2400" b="1" u="sng" dirty="0">
                <a:solidFill>
                  <a:srgbClr val="FF00EB"/>
                </a:solidFill>
              </a:rPr>
              <a:t>this path</a:t>
            </a:r>
            <a:r>
              <a:rPr lang="en-US" sz="2400" dirty="0"/>
              <a:t>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56802" y="1110988"/>
            <a:ext cx="26319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</a:rPr>
              <a:t>Case 2: </a:t>
            </a:r>
            <a:r>
              <a:rPr lang="en-US" sz="2800" dirty="0">
                <a:solidFill>
                  <a:schemeClr val="accent1"/>
                </a:solidFill>
              </a:rPr>
              <a:t>we need vertex k.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81880" y="6139502"/>
            <a:ext cx="5266038" cy="52322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D</a:t>
            </a:r>
            <a:r>
              <a:rPr lang="en-US" sz="2800" baseline="30000" dirty="0">
                <a:solidFill>
                  <a:schemeClr val="accent1"/>
                </a:solidFill>
              </a:rPr>
              <a:t>(k)</a:t>
            </a:r>
            <a:r>
              <a:rPr lang="en-US" sz="2800" dirty="0">
                <a:solidFill>
                  <a:schemeClr val="accent1"/>
                </a:solidFill>
              </a:rPr>
              <a:t>[</a:t>
            </a:r>
            <a:r>
              <a:rPr lang="en-US" sz="2800" dirty="0" err="1">
                <a:solidFill>
                  <a:schemeClr val="accent1"/>
                </a:solidFill>
              </a:rPr>
              <a:t>u,v</a:t>
            </a:r>
            <a:r>
              <a:rPr lang="en-US" sz="2800" dirty="0">
                <a:solidFill>
                  <a:schemeClr val="accent1"/>
                </a:solidFill>
              </a:rPr>
              <a:t>] = </a:t>
            </a:r>
            <a:r>
              <a:rPr lang="en-US" sz="2800" dirty="0">
                <a:solidFill>
                  <a:srgbClr val="7030A0"/>
                </a:solidFill>
              </a:rPr>
              <a:t>D</a:t>
            </a:r>
            <a:r>
              <a:rPr lang="en-US" sz="2800" baseline="30000" dirty="0">
                <a:solidFill>
                  <a:srgbClr val="7030A0"/>
                </a:solidFill>
              </a:rPr>
              <a:t>(k-1)</a:t>
            </a:r>
            <a:r>
              <a:rPr lang="en-US" sz="2800" dirty="0">
                <a:solidFill>
                  <a:srgbClr val="7030A0"/>
                </a:solidFill>
              </a:rPr>
              <a:t>[</a:t>
            </a:r>
            <a:r>
              <a:rPr lang="en-US" sz="2800" dirty="0" err="1">
                <a:solidFill>
                  <a:srgbClr val="7030A0"/>
                </a:solidFill>
              </a:rPr>
              <a:t>u,k</a:t>
            </a:r>
            <a:r>
              <a:rPr lang="en-US" sz="2800" dirty="0">
                <a:solidFill>
                  <a:srgbClr val="7030A0"/>
                </a:solidFill>
              </a:rPr>
              <a:t>] </a:t>
            </a:r>
            <a:r>
              <a:rPr lang="en-US" sz="2800" dirty="0">
                <a:solidFill>
                  <a:schemeClr val="accent1"/>
                </a:solidFill>
              </a:rPr>
              <a:t>+ </a:t>
            </a:r>
            <a:r>
              <a:rPr lang="en-US" sz="2800" dirty="0">
                <a:solidFill>
                  <a:srgbClr val="FF00EB"/>
                </a:solidFill>
              </a:rPr>
              <a:t>D</a:t>
            </a:r>
            <a:r>
              <a:rPr lang="en-US" sz="2800" baseline="30000" dirty="0">
                <a:solidFill>
                  <a:srgbClr val="FF00EB"/>
                </a:solidFill>
              </a:rPr>
              <a:t>(k-1)</a:t>
            </a:r>
            <a:r>
              <a:rPr lang="en-US" sz="2800" dirty="0">
                <a:solidFill>
                  <a:srgbClr val="FF00EB"/>
                </a:solidFill>
              </a:rPr>
              <a:t>[</a:t>
            </a:r>
            <a:r>
              <a:rPr lang="en-US" sz="2800" dirty="0" err="1">
                <a:solidFill>
                  <a:srgbClr val="FF00EB"/>
                </a:solidFill>
              </a:rPr>
              <a:t>k,v</a:t>
            </a:r>
            <a:r>
              <a:rPr lang="en-US" sz="2800" dirty="0">
                <a:solidFill>
                  <a:srgbClr val="FF00EB"/>
                </a:solidFill>
              </a:rPr>
              <a:t>] 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3076832" y="3723940"/>
            <a:ext cx="11986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8569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  <p:bldP spid="3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4963" y="253915"/>
            <a:ext cx="8194074" cy="1325563"/>
          </a:xfrm>
        </p:spPr>
        <p:txBody>
          <a:bodyPr>
            <a:normAutofit/>
          </a:bodyPr>
          <a:lstStyle/>
          <a:p>
            <a:r>
              <a:rPr lang="en-US" sz="4000" dirty="0"/>
              <a:t>How can we find D</a:t>
            </a:r>
            <a:r>
              <a:rPr lang="en-US" sz="4000" baseline="30000" dirty="0"/>
              <a:t>(k)</a:t>
            </a:r>
            <a:r>
              <a:rPr lang="en-US" sz="4000" dirty="0"/>
              <a:t>[</a:t>
            </a:r>
            <a:r>
              <a:rPr lang="en-US" sz="4000" dirty="0" err="1"/>
              <a:t>u,v</a:t>
            </a:r>
            <a:r>
              <a:rPr lang="en-US" sz="4000" dirty="0"/>
              <a:t>] using D</a:t>
            </a:r>
            <a:r>
              <a:rPr lang="en-US" sz="4000" baseline="30000" dirty="0"/>
              <a:t>(k)</a:t>
            </a:r>
            <a:r>
              <a:rPr lang="en-US" sz="4000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D</a:t>
            </a:r>
            <a:r>
              <a:rPr lang="en-US" baseline="30000" dirty="0">
                <a:solidFill>
                  <a:schemeClr val="accent1"/>
                </a:solidFill>
              </a:rPr>
              <a:t>(k)</a:t>
            </a:r>
            <a:r>
              <a:rPr lang="en-US" dirty="0">
                <a:solidFill>
                  <a:schemeClr val="accent1"/>
                </a:solidFill>
              </a:rPr>
              <a:t>[</a:t>
            </a:r>
            <a:r>
              <a:rPr lang="en-US" dirty="0" err="1">
                <a:solidFill>
                  <a:schemeClr val="accent1"/>
                </a:solidFill>
              </a:rPr>
              <a:t>u,v</a:t>
            </a:r>
            <a:r>
              <a:rPr lang="en-US" dirty="0">
                <a:solidFill>
                  <a:schemeClr val="accent1"/>
                </a:solidFill>
              </a:rPr>
              <a:t>] </a:t>
            </a:r>
            <a:r>
              <a:rPr lang="en-US" dirty="0"/>
              <a:t>= min{ </a:t>
            </a:r>
            <a:r>
              <a:rPr lang="en-US" dirty="0">
                <a:solidFill>
                  <a:schemeClr val="accent5"/>
                </a:solidFill>
              </a:rPr>
              <a:t>D</a:t>
            </a:r>
            <a:r>
              <a:rPr lang="en-US" baseline="30000" dirty="0">
                <a:solidFill>
                  <a:schemeClr val="accent5"/>
                </a:solidFill>
              </a:rPr>
              <a:t>(k-1)</a:t>
            </a:r>
            <a:r>
              <a:rPr lang="en-US" dirty="0">
                <a:solidFill>
                  <a:schemeClr val="accent5"/>
                </a:solidFill>
              </a:rPr>
              <a:t>[</a:t>
            </a:r>
            <a:r>
              <a:rPr lang="en-US" dirty="0" err="1">
                <a:solidFill>
                  <a:schemeClr val="accent5"/>
                </a:solidFill>
              </a:rPr>
              <a:t>u,v</a:t>
            </a:r>
            <a:r>
              <a:rPr lang="en-US" dirty="0">
                <a:solidFill>
                  <a:schemeClr val="accent5"/>
                </a:solidFill>
              </a:rPr>
              <a:t>], </a:t>
            </a:r>
            <a:r>
              <a:rPr lang="en-US" dirty="0">
                <a:solidFill>
                  <a:srgbClr val="7030A0"/>
                </a:solidFill>
              </a:rPr>
              <a:t>D</a:t>
            </a:r>
            <a:r>
              <a:rPr lang="en-US" baseline="30000" dirty="0">
                <a:solidFill>
                  <a:srgbClr val="7030A0"/>
                </a:solidFill>
              </a:rPr>
              <a:t>(k-1)</a:t>
            </a:r>
            <a:r>
              <a:rPr lang="en-US" dirty="0">
                <a:solidFill>
                  <a:srgbClr val="7030A0"/>
                </a:solidFill>
              </a:rPr>
              <a:t>[</a:t>
            </a:r>
            <a:r>
              <a:rPr lang="en-US" dirty="0" err="1">
                <a:solidFill>
                  <a:srgbClr val="7030A0"/>
                </a:solidFill>
              </a:rPr>
              <a:t>u,k</a:t>
            </a:r>
            <a:r>
              <a:rPr lang="en-US" dirty="0">
                <a:solidFill>
                  <a:srgbClr val="7030A0"/>
                </a:solidFill>
              </a:rPr>
              <a:t>]</a:t>
            </a:r>
            <a:r>
              <a:rPr lang="en-US" dirty="0"/>
              <a:t> + </a:t>
            </a:r>
            <a:r>
              <a:rPr lang="en-US" dirty="0">
                <a:solidFill>
                  <a:srgbClr val="FF00EB"/>
                </a:solidFill>
              </a:rPr>
              <a:t>D</a:t>
            </a:r>
            <a:r>
              <a:rPr lang="en-US" baseline="30000" dirty="0">
                <a:solidFill>
                  <a:srgbClr val="FF00EB"/>
                </a:solidFill>
              </a:rPr>
              <a:t>(k-1)</a:t>
            </a:r>
            <a:r>
              <a:rPr lang="en-US" dirty="0">
                <a:solidFill>
                  <a:srgbClr val="FF00EB"/>
                </a:solidFill>
              </a:rPr>
              <a:t>[</a:t>
            </a:r>
            <a:r>
              <a:rPr lang="en-US" dirty="0" err="1">
                <a:solidFill>
                  <a:srgbClr val="FF00EB"/>
                </a:solidFill>
              </a:rPr>
              <a:t>k,v</a:t>
            </a:r>
            <a:r>
              <a:rPr lang="en-US" dirty="0">
                <a:solidFill>
                  <a:srgbClr val="FF00EB"/>
                </a:solidFill>
              </a:rPr>
              <a:t>] </a:t>
            </a:r>
            <a:r>
              <a:rPr lang="en-US" dirty="0"/>
              <a:t>}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Using our </a:t>
            </a:r>
            <a:r>
              <a:rPr lang="en-US" b="1" i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Dynamic programming </a:t>
            </a:r>
            <a:r>
              <a:rPr lang="en-US" dirty="0"/>
              <a:t>paradigm, this immediately gives us an algorithm!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79150">
            <a:off x="5846443" y="4567392"/>
            <a:ext cx="2983232" cy="19888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80270" y="2379581"/>
            <a:ext cx="19029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5"/>
                </a:solidFill>
              </a:rPr>
              <a:t>Case 1</a:t>
            </a:r>
            <a:r>
              <a:rPr lang="en-US" dirty="0">
                <a:solidFill>
                  <a:schemeClr val="accent5"/>
                </a:solidFill>
              </a:rPr>
              <a:t>: Cost of shortest path through {1,</a:t>
            </a:r>
            <a:r>
              <a:rPr lang="mr-IN" dirty="0">
                <a:solidFill>
                  <a:schemeClr val="accent5"/>
                </a:solidFill>
              </a:rPr>
              <a:t>…</a:t>
            </a:r>
            <a:r>
              <a:rPr lang="en-US" dirty="0">
                <a:solidFill>
                  <a:schemeClr val="accent5"/>
                </a:solidFill>
              </a:rPr>
              <a:t>,k-1}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645" y="2379581"/>
            <a:ext cx="32577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4"/>
                </a:solidFill>
              </a:rPr>
              <a:t>Case 2</a:t>
            </a:r>
            <a:r>
              <a:rPr lang="en-US" dirty="0">
                <a:solidFill>
                  <a:schemeClr val="accent4"/>
                </a:solidFill>
              </a:rPr>
              <a:t>: Cost of shortest path from </a:t>
            </a:r>
            <a:r>
              <a:rPr lang="en-US" dirty="0">
                <a:solidFill>
                  <a:srgbClr val="7030A0"/>
                </a:solidFill>
              </a:rPr>
              <a:t>u to k </a:t>
            </a:r>
            <a:r>
              <a:rPr lang="en-US" dirty="0">
                <a:solidFill>
                  <a:schemeClr val="accent4"/>
                </a:solidFill>
              </a:rPr>
              <a:t>and then from </a:t>
            </a:r>
            <a:r>
              <a:rPr lang="en-US" dirty="0">
                <a:solidFill>
                  <a:srgbClr val="FF00EB"/>
                </a:solidFill>
              </a:rPr>
              <a:t>k to v</a:t>
            </a:r>
            <a:r>
              <a:rPr lang="en-US" dirty="0">
                <a:solidFill>
                  <a:schemeClr val="accent4"/>
                </a:solidFill>
              </a:rPr>
              <a:t> through {1,</a:t>
            </a:r>
            <a:r>
              <a:rPr lang="mr-IN" dirty="0">
                <a:solidFill>
                  <a:schemeClr val="accent4"/>
                </a:solidFill>
              </a:rPr>
              <a:t>…</a:t>
            </a:r>
            <a:r>
              <a:rPr lang="en-US" dirty="0">
                <a:solidFill>
                  <a:schemeClr val="accent4"/>
                </a:solidFill>
              </a:rPr>
              <a:t>,k-1}</a:t>
            </a:r>
          </a:p>
        </p:txBody>
      </p:sp>
    </p:spTree>
    <p:extLst>
      <p:ext uri="{BB962C8B-B14F-4D97-AF65-F5344CB8AC3E}">
        <p14:creationId xmlns:p14="http://schemas.microsoft.com/office/powerpoint/2010/main" val="2006169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7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Floyd-</a:t>
            </a:r>
            <a:r>
              <a:rPr lang="en-US" dirty="0" err="1"/>
              <a:t>Warshall</a:t>
            </a:r>
            <a:r>
              <a:rPr lang="en-US" dirty="0"/>
              <a:t>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Initialize n-by-n arrays D</a:t>
                </a:r>
                <a:r>
                  <a:rPr lang="en-US" baseline="30000" dirty="0"/>
                  <a:t>(k) </a:t>
                </a:r>
                <a:r>
                  <a:rPr lang="en-US" dirty="0"/>
                  <a:t>for k = 0,</a:t>
                </a:r>
                <a:r>
                  <a:rPr lang="mr-IN" dirty="0"/>
                  <a:t>…</a:t>
                </a:r>
                <a:r>
                  <a:rPr lang="en-US" dirty="0"/>
                  <a:t>,n</a:t>
                </a:r>
              </a:p>
              <a:p>
                <a:pPr lvl="1"/>
                <a:r>
                  <a:rPr lang="en-US" dirty="0">
                    <a:solidFill>
                      <a:schemeClr val="accent4"/>
                    </a:solidFill>
                  </a:rPr>
                  <a:t>D</a:t>
                </a:r>
                <a:r>
                  <a:rPr lang="en-US" baseline="30000" dirty="0">
                    <a:solidFill>
                      <a:schemeClr val="accent4"/>
                    </a:solidFill>
                  </a:rPr>
                  <a:t>(k)</a:t>
                </a:r>
                <a:r>
                  <a:rPr lang="en-US" dirty="0">
                    <a:solidFill>
                      <a:schemeClr val="accent4"/>
                    </a:solidFill>
                  </a:rPr>
                  <a:t>[</a:t>
                </a:r>
                <a:r>
                  <a:rPr lang="en-US" dirty="0" err="1">
                    <a:solidFill>
                      <a:schemeClr val="accent4"/>
                    </a:solidFill>
                  </a:rPr>
                  <a:t>u,u</a:t>
                </a:r>
                <a:r>
                  <a:rPr lang="en-US" dirty="0">
                    <a:solidFill>
                      <a:schemeClr val="accent4"/>
                    </a:solidFill>
                  </a:rPr>
                  <a:t>] = 0 for all u, for all k</a:t>
                </a:r>
              </a:p>
              <a:p>
                <a:pPr lvl="1"/>
                <a:r>
                  <a:rPr lang="en-US" dirty="0">
                    <a:solidFill>
                      <a:schemeClr val="accent4"/>
                    </a:solidFill>
                  </a:rPr>
                  <a:t>D</a:t>
                </a:r>
                <a:r>
                  <a:rPr lang="en-US" baseline="30000" dirty="0">
                    <a:solidFill>
                      <a:schemeClr val="accent4"/>
                    </a:solidFill>
                  </a:rPr>
                  <a:t>(k)</a:t>
                </a:r>
                <a:r>
                  <a:rPr lang="en-US" dirty="0">
                    <a:solidFill>
                      <a:schemeClr val="accent4"/>
                    </a:solidFill>
                  </a:rPr>
                  <a:t>[</a:t>
                </a:r>
                <a:r>
                  <a:rPr lang="en-US" dirty="0" err="1">
                    <a:solidFill>
                      <a:schemeClr val="accent4"/>
                    </a:solidFill>
                  </a:rPr>
                  <a:t>u,v</a:t>
                </a:r>
                <a:r>
                  <a:rPr lang="en-US" dirty="0">
                    <a:solidFill>
                      <a:schemeClr val="accent4"/>
                    </a:solidFill>
                  </a:rPr>
                  <a:t>] =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∞</m:t>
                    </m:r>
                  </m:oMath>
                </a14:m>
                <a:r>
                  <a:rPr lang="en-US" dirty="0">
                    <a:solidFill>
                      <a:schemeClr val="accent4"/>
                    </a:solidFill>
                  </a:rPr>
                  <a:t> for all u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≠</m:t>
                    </m:r>
                  </m:oMath>
                </a14:m>
                <a:r>
                  <a:rPr lang="en-US" dirty="0">
                    <a:solidFill>
                      <a:schemeClr val="accent4"/>
                    </a:solidFill>
                  </a:rPr>
                  <a:t> v, for all k 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D</a:t>
                </a:r>
                <a:r>
                  <a:rPr lang="en-US" baseline="30000" dirty="0">
                    <a:solidFill>
                      <a:srgbClr val="7030A0"/>
                    </a:solidFill>
                  </a:rPr>
                  <a:t>(0)</a:t>
                </a:r>
                <a:r>
                  <a:rPr lang="en-US" dirty="0">
                    <a:solidFill>
                      <a:srgbClr val="7030A0"/>
                    </a:solidFill>
                  </a:rPr>
                  <a:t>[</a:t>
                </a:r>
                <a:r>
                  <a:rPr lang="en-US" dirty="0" err="1">
                    <a:solidFill>
                      <a:srgbClr val="7030A0"/>
                    </a:solidFill>
                  </a:rPr>
                  <a:t>u,v</a:t>
                </a:r>
                <a:r>
                  <a:rPr lang="en-US" dirty="0">
                    <a:solidFill>
                      <a:srgbClr val="7030A0"/>
                    </a:solidFill>
                  </a:rPr>
                  <a:t>] = weight(</a:t>
                </a:r>
                <a:r>
                  <a:rPr lang="en-US" dirty="0" err="1">
                    <a:solidFill>
                      <a:srgbClr val="7030A0"/>
                    </a:solidFill>
                  </a:rPr>
                  <a:t>u,v</a:t>
                </a:r>
                <a:r>
                  <a:rPr lang="en-US" dirty="0">
                    <a:solidFill>
                      <a:srgbClr val="7030A0"/>
                    </a:solidFill>
                  </a:rPr>
                  <a:t>) for all (</a:t>
                </a:r>
                <a:r>
                  <a:rPr lang="en-US" dirty="0" err="1">
                    <a:solidFill>
                      <a:srgbClr val="7030A0"/>
                    </a:solidFill>
                  </a:rPr>
                  <a:t>u,v</a:t>
                </a:r>
                <a:r>
                  <a:rPr lang="en-US" dirty="0">
                    <a:solidFill>
                      <a:srgbClr val="7030A0"/>
                    </a:solidFill>
                  </a:rPr>
                  <a:t>) in E.</a:t>
                </a:r>
              </a:p>
              <a:p>
                <a:r>
                  <a:rPr lang="en-US" b="1" dirty="0"/>
                  <a:t>For</a:t>
                </a:r>
                <a:r>
                  <a:rPr lang="en-US" dirty="0"/>
                  <a:t> k = 1, </a:t>
                </a:r>
                <a:r>
                  <a:rPr lang="mr-IN" dirty="0"/>
                  <a:t>…</a:t>
                </a:r>
                <a:r>
                  <a:rPr lang="en-US" dirty="0"/>
                  <a:t>, n:</a:t>
                </a:r>
              </a:p>
              <a:p>
                <a:pPr lvl="1"/>
                <a:r>
                  <a:rPr lang="en-US" b="1" dirty="0"/>
                  <a:t>For</a:t>
                </a:r>
                <a:r>
                  <a:rPr lang="en-US" dirty="0"/>
                  <a:t> pairs </a:t>
                </a:r>
                <a:r>
                  <a:rPr lang="en-US" dirty="0" err="1"/>
                  <a:t>u,v</a:t>
                </a:r>
                <a:r>
                  <a:rPr lang="en-US" dirty="0"/>
                  <a:t> in V</a:t>
                </a:r>
                <a:r>
                  <a:rPr lang="en-US" baseline="30000" dirty="0"/>
                  <a:t>2</a:t>
                </a:r>
                <a:r>
                  <a:rPr lang="en-US" dirty="0"/>
                  <a:t>:</a:t>
                </a:r>
              </a:p>
              <a:p>
                <a:pPr lvl="2"/>
                <a:r>
                  <a:rPr lang="en-US" sz="2400" dirty="0">
                    <a:solidFill>
                      <a:schemeClr val="accent1"/>
                    </a:solidFill>
                  </a:rPr>
                  <a:t>D</a:t>
                </a:r>
                <a:r>
                  <a:rPr lang="en-US" sz="2400" baseline="30000" dirty="0">
                    <a:solidFill>
                      <a:schemeClr val="accent1"/>
                    </a:solidFill>
                  </a:rPr>
                  <a:t>(k)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[</a:t>
                </a:r>
                <a:r>
                  <a:rPr lang="en-US" sz="2400" dirty="0" err="1">
                    <a:solidFill>
                      <a:schemeClr val="accent1"/>
                    </a:solidFill>
                  </a:rPr>
                  <a:t>u,v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] </a:t>
                </a:r>
                <a:r>
                  <a:rPr lang="en-US" sz="2400" dirty="0"/>
                  <a:t>= min{ </a:t>
                </a:r>
                <a:r>
                  <a:rPr lang="en-US" sz="2400" dirty="0">
                    <a:solidFill>
                      <a:schemeClr val="accent5"/>
                    </a:solidFill>
                  </a:rPr>
                  <a:t>D</a:t>
                </a:r>
                <a:r>
                  <a:rPr lang="en-US" sz="2400" baseline="30000" dirty="0">
                    <a:solidFill>
                      <a:schemeClr val="accent5"/>
                    </a:solidFill>
                  </a:rPr>
                  <a:t>(k-1)</a:t>
                </a:r>
                <a:r>
                  <a:rPr lang="en-US" sz="2400" dirty="0">
                    <a:solidFill>
                      <a:schemeClr val="accent5"/>
                    </a:solidFill>
                  </a:rPr>
                  <a:t>[</a:t>
                </a:r>
                <a:r>
                  <a:rPr lang="en-US" sz="2400" dirty="0" err="1">
                    <a:solidFill>
                      <a:schemeClr val="accent5"/>
                    </a:solidFill>
                  </a:rPr>
                  <a:t>u,v</a:t>
                </a:r>
                <a:r>
                  <a:rPr lang="en-US" sz="2400" dirty="0">
                    <a:solidFill>
                      <a:schemeClr val="accent5"/>
                    </a:solidFill>
                  </a:rPr>
                  <a:t>], </a:t>
                </a:r>
                <a:r>
                  <a:rPr lang="en-US" sz="2400" dirty="0">
                    <a:solidFill>
                      <a:srgbClr val="7030A0"/>
                    </a:solidFill>
                  </a:rPr>
                  <a:t>D</a:t>
                </a:r>
                <a:r>
                  <a:rPr lang="en-US" sz="2400" baseline="30000" dirty="0">
                    <a:solidFill>
                      <a:srgbClr val="7030A0"/>
                    </a:solidFill>
                  </a:rPr>
                  <a:t>(k-1)</a:t>
                </a:r>
                <a:r>
                  <a:rPr lang="en-US" sz="2400" dirty="0">
                    <a:solidFill>
                      <a:srgbClr val="7030A0"/>
                    </a:solidFill>
                  </a:rPr>
                  <a:t>[</a:t>
                </a:r>
                <a:r>
                  <a:rPr lang="en-US" sz="2400" dirty="0" err="1">
                    <a:solidFill>
                      <a:srgbClr val="7030A0"/>
                    </a:solidFill>
                  </a:rPr>
                  <a:t>u,k</a:t>
                </a:r>
                <a:r>
                  <a:rPr lang="en-US" sz="2400" dirty="0">
                    <a:solidFill>
                      <a:srgbClr val="7030A0"/>
                    </a:solidFill>
                  </a:rPr>
                  <a:t>]</a:t>
                </a:r>
                <a:r>
                  <a:rPr lang="en-US" sz="2400" dirty="0"/>
                  <a:t> + </a:t>
                </a:r>
                <a:r>
                  <a:rPr lang="en-US" sz="2400" dirty="0">
                    <a:solidFill>
                      <a:srgbClr val="FF00EB"/>
                    </a:solidFill>
                  </a:rPr>
                  <a:t>D</a:t>
                </a:r>
                <a:r>
                  <a:rPr lang="en-US" sz="2400" baseline="30000" dirty="0">
                    <a:solidFill>
                      <a:srgbClr val="FF00EB"/>
                    </a:solidFill>
                  </a:rPr>
                  <a:t>(k-1)</a:t>
                </a:r>
                <a:r>
                  <a:rPr lang="en-US" sz="2400" dirty="0">
                    <a:solidFill>
                      <a:srgbClr val="FF00EB"/>
                    </a:solidFill>
                  </a:rPr>
                  <a:t>[</a:t>
                </a:r>
                <a:r>
                  <a:rPr lang="en-US" sz="2400" dirty="0" err="1">
                    <a:solidFill>
                      <a:srgbClr val="FF00EB"/>
                    </a:solidFill>
                  </a:rPr>
                  <a:t>k,v</a:t>
                </a:r>
                <a:r>
                  <a:rPr lang="en-US" sz="2400" dirty="0">
                    <a:solidFill>
                      <a:srgbClr val="FF00EB"/>
                    </a:solidFill>
                  </a:rPr>
                  <a:t>] </a:t>
                </a:r>
                <a:r>
                  <a:rPr lang="en-US" sz="2400" dirty="0"/>
                  <a:t>}</a:t>
                </a:r>
              </a:p>
              <a:p>
                <a:r>
                  <a:rPr lang="en-US" b="1" dirty="0">
                    <a:solidFill>
                      <a:schemeClr val="accent4"/>
                    </a:solidFill>
                  </a:rPr>
                  <a:t>Return</a:t>
                </a:r>
                <a:r>
                  <a:rPr lang="en-US" dirty="0">
                    <a:solidFill>
                      <a:schemeClr val="accent4"/>
                    </a:solidFill>
                  </a:rPr>
                  <a:t> D</a:t>
                </a:r>
                <a:r>
                  <a:rPr lang="en-US" baseline="30000" dirty="0">
                    <a:solidFill>
                      <a:schemeClr val="accent4"/>
                    </a:solidFill>
                  </a:rPr>
                  <a:t>(n)</a:t>
                </a:r>
                <a:endParaRPr lang="en-US" dirty="0">
                  <a:solidFill>
                    <a:schemeClr val="accent4"/>
                  </a:solidFill>
                </a:endParaRPr>
              </a:p>
              <a:p>
                <a:pPr lvl="2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91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6944497" y="2179500"/>
            <a:ext cx="195236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7030A0"/>
                </a:solidFill>
              </a:rPr>
              <a:t>The base case checks out: the only path through zero other vertices are edges directly from u to v.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176963"/>
            <a:ext cx="86003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This is a bottom-up </a:t>
            </a:r>
            <a:r>
              <a:rPr lang="en-US" sz="2800" b="1" i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Dynamic programming </a:t>
            </a:r>
            <a:r>
              <a:rPr lang="en-US" sz="2800" dirty="0"/>
              <a:t> algorithm. </a:t>
            </a:r>
          </a:p>
        </p:txBody>
      </p:sp>
    </p:spTree>
    <p:extLst>
      <p:ext uri="{BB962C8B-B14F-4D97-AF65-F5344CB8AC3E}">
        <p14:creationId xmlns:p14="http://schemas.microsoft.com/office/powerpoint/2010/main" val="1750666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We’ve basically just shown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49" y="1690689"/>
            <a:ext cx="8268215" cy="4962202"/>
          </a:xfrm>
        </p:spPr>
        <p:txBody>
          <a:bodyPr>
            <a:normAutofit/>
          </a:bodyPr>
          <a:lstStyle/>
          <a:p>
            <a:r>
              <a:rPr lang="en-US" dirty="0"/>
              <a:t>Theorem:</a:t>
            </a:r>
          </a:p>
          <a:p>
            <a:pPr marL="457200" lvl="1" indent="0">
              <a:buNone/>
            </a:pPr>
            <a:r>
              <a:rPr lang="en-US" dirty="0"/>
              <a:t>If there are </a:t>
            </a:r>
            <a:r>
              <a:rPr lang="en-US" dirty="0">
                <a:solidFill>
                  <a:schemeClr val="accent5"/>
                </a:solidFill>
              </a:rPr>
              <a:t>no negative cycle</a:t>
            </a:r>
            <a:r>
              <a:rPr lang="en-US" dirty="0"/>
              <a:t>s in a weighted directed graph G, then the </a:t>
            </a:r>
            <a:r>
              <a:rPr lang="en-US" dirty="0">
                <a:solidFill>
                  <a:schemeClr val="accent4"/>
                </a:solidFill>
              </a:rPr>
              <a:t>Floyd-</a:t>
            </a:r>
            <a:r>
              <a:rPr lang="en-US" dirty="0" err="1">
                <a:solidFill>
                  <a:schemeClr val="accent4"/>
                </a:solidFill>
              </a:rPr>
              <a:t>Warshall</a:t>
            </a:r>
            <a:r>
              <a:rPr lang="en-US" dirty="0">
                <a:solidFill>
                  <a:schemeClr val="accent4"/>
                </a:solidFill>
              </a:rPr>
              <a:t> algorithm</a:t>
            </a:r>
            <a:r>
              <a:rPr lang="en-US" dirty="0"/>
              <a:t>, running on G, </a:t>
            </a:r>
            <a:r>
              <a:rPr lang="en-US" dirty="0">
                <a:solidFill>
                  <a:schemeClr val="accent4"/>
                </a:solidFill>
              </a:rPr>
              <a:t>returns a matrix D</a:t>
            </a:r>
            <a:r>
              <a:rPr lang="en-US" baseline="30000" dirty="0">
                <a:solidFill>
                  <a:schemeClr val="accent4"/>
                </a:solidFill>
              </a:rPr>
              <a:t>(n)</a:t>
            </a:r>
            <a:r>
              <a:rPr lang="en-US" dirty="0">
                <a:solidFill>
                  <a:schemeClr val="accent4"/>
                </a:solidFill>
              </a:rPr>
              <a:t> so that: </a:t>
            </a:r>
          </a:p>
          <a:p>
            <a:pPr marL="914400" lvl="2" indent="0" algn="ctr">
              <a:buNone/>
            </a:pPr>
            <a:r>
              <a:rPr lang="en-US" sz="2400" dirty="0">
                <a:solidFill>
                  <a:schemeClr val="accent1"/>
                </a:solidFill>
              </a:rPr>
              <a:t>D</a:t>
            </a:r>
            <a:r>
              <a:rPr lang="en-US" sz="2400" baseline="30000" dirty="0">
                <a:solidFill>
                  <a:schemeClr val="accent1"/>
                </a:solidFill>
              </a:rPr>
              <a:t>(n)</a:t>
            </a:r>
            <a:r>
              <a:rPr lang="en-US" sz="2400" dirty="0">
                <a:solidFill>
                  <a:schemeClr val="accent1"/>
                </a:solidFill>
              </a:rPr>
              <a:t>[</a:t>
            </a:r>
            <a:r>
              <a:rPr lang="en-US" sz="2400" dirty="0" err="1">
                <a:solidFill>
                  <a:schemeClr val="accent1"/>
                </a:solidFill>
              </a:rPr>
              <a:t>u,v</a:t>
            </a:r>
            <a:r>
              <a:rPr lang="en-US" sz="2400" dirty="0">
                <a:solidFill>
                  <a:schemeClr val="accent1"/>
                </a:solidFill>
              </a:rPr>
              <a:t>] = distance between u and v in G.</a:t>
            </a:r>
          </a:p>
          <a:p>
            <a:pPr marL="914400" lvl="2" indent="0" algn="ctr">
              <a:buNone/>
            </a:pPr>
            <a:endParaRPr lang="en-US" dirty="0"/>
          </a:p>
          <a:p>
            <a:r>
              <a:rPr lang="en-US" dirty="0"/>
              <a:t>Running time: </a:t>
            </a:r>
            <a:r>
              <a:rPr lang="en-US" dirty="0">
                <a:solidFill>
                  <a:schemeClr val="accent1"/>
                </a:solidFill>
              </a:rPr>
              <a:t>O(n</a:t>
            </a:r>
            <a:r>
              <a:rPr lang="en-US" baseline="30000" dirty="0">
                <a:solidFill>
                  <a:schemeClr val="accent1"/>
                </a:solidFill>
              </a:rPr>
              <a:t>3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  <a:p>
            <a:pPr lvl="1"/>
            <a:r>
              <a:rPr lang="en-US" dirty="0"/>
              <a:t>Better than running BF n times!</a:t>
            </a:r>
          </a:p>
          <a:p>
            <a:pPr lvl="1"/>
            <a:r>
              <a:rPr lang="en-US" dirty="0"/>
              <a:t>Not really better than running Dijkstra n times.</a:t>
            </a:r>
          </a:p>
          <a:p>
            <a:pPr lvl="2"/>
            <a:r>
              <a:rPr lang="en-US" dirty="0">
                <a:solidFill>
                  <a:schemeClr val="accent4"/>
                </a:solidFill>
              </a:rPr>
              <a:t>But it’s simpler to implement and handles negative weights.</a:t>
            </a:r>
          </a:p>
          <a:p>
            <a:r>
              <a:rPr lang="en-US" dirty="0"/>
              <a:t>Storage: 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Enough to hold </a:t>
            </a:r>
            <a:r>
              <a:rPr lang="en-US" b="1" dirty="0">
                <a:solidFill>
                  <a:schemeClr val="accent5"/>
                </a:solidFill>
              </a:rPr>
              <a:t>two</a:t>
            </a:r>
            <a:r>
              <a:rPr lang="en-US" dirty="0">
                <a:solidFill>
                  <a:schemeClr val="accent1"/>
                </a:solidFill>
              </a:rPr>
              <a:t> n-by-n arrays, and the original graph.</a:t>
            </a:r>
          </a:p>
          <a:p>
            <a:pPr lvl="1"/>
            <a:endParaRPr lang="en-US" dirty="0">
              <a:solidFill>
                <a:schemeClr val="accent1"/>
              </a:solidFill>
            </a:endParaRPr>
          </a:p>
          <a:p>
            <a:pPr marL="914400" lvl="2" indent="0" algn="ctr">
              <a:buNone/>
            </a:pPr>
            <a:endParaRPr lang="en-US" sz="2400" dirty="0">
              <a:solidFill>
                <a:schemeClr val="accent1"/>
              </a:solidFill>
            </a:endParaRPr>
          </a:p>
          <a:p>
            <a:endParaRPr lang="en-US" sz="3200" dirty="0">
              <a:solidFill>
                <a:schemeClr val="accent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441" y="3694735"/>
            <a:ext cx="920163" cy="12844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59503" y="3694735"/>
            <a:ext cx="21995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7030A0"/>
                </a:solidFill>
              </a:rPr>
              <a:t>Work out the details of the proof!  (Or see Lecture Notes 12 for a few more details).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130" y="6437870"/>
            <a:ext cx="6870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As with Bellman-Ford, we don’t really need to store all n of the D</a:t>
            </a:r>
            <a:r>
              <a:rPr lang="en-US" baseline="30000" dirty="0">
                <a:solidFill>
                  <a:schemeClr val="accent5"/>
                </a:solidFill>
              </a:rPr>
              <a:t>(k)</a:t>
            </a:r>
            <a:r>
              <a:rPr lang="en-US" dirty="0">
                <a:solidFill>
                  <a:schemeClr val="accent5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5206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7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there </a:t>
            </a:r>
            <a:r>
              <a:rPr lang="en-US" i="1" dirty="0"/>
              <a:t>are</a:t>
            </a:r>
            <a:r>
              <a:rPr lang="en-US" dirty="0"/>
              <a:t> negative cycles?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/>
          <a:lstStyle/>
          <a:p>
            <a:r>
              <a:rPr lang="en-US" dirty="0"/>
              <a:t>Just like Bellman-Ford, Floyd-</a:t>
            </a:r>
            <a:r>
              <a:rPr lang="en-US" dirty="0" err="1"/>
              <a:t>Warshall</a:t>
            </a:r>
            <a:r>
              <a:rPr lang="en-US" dirty="0"/>
              <a:t> can </a:t>
            </a:r>
            <a:r>
              <a:rPr lang="en-US" dirty="0">
                <a:solidFill>
                  <a:schemeClr val="accent1"/>
                </a:solidFill>
              </a:rPr>
              <a:t>detect negative cycles.</a:t>
            </a:r>
          </a:p>
          <a:p>
            <a:r>
              <a:rPr lang="en-US" dirty="0"/>
              <a:t>If there is a </a:t>
            </a:r>
            <a:r>
              <a:rPr lang="en-US" dirty="0">
                <a:solidFill>
                  <a:schemeClr val="accent5"/>
                </a:solidFill>
              </a:rPr>
              <a:t>negative cycle</a:t>
            </a:r>
            <a:r>
              <a:rPr lang="en-US" dirty="0"/>
              <a:t>, then there is </a:t>
            </a:r>
            <a:r>
              <a:rPr lang="en-US" dirty="0">
                <a:solidFill>
                  <a:schemeClr val="accent4"/>
                </a:solidFill>
              </a:rPr>
              <a:t>a path from v to v that goes through all n vertices that has cost &lt; 0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That’s just the definition of a negative cycle.</a:t>
            </a:r>
          </a:p>
          <a:p>
            <a:r>
              <a:rPr lang="en-US" dirty="0"/>
              <a:t>So </a:t>
            </a:r>
            <a:r>
              <a:rPr lang="en-US" dirty="0">
                <a:solidFill>
                  <a:schemeClr val="accent1"/>
                </a:solidFill>
              </a:rPr>
              <a:t>D</a:t>
            </a:r>
            <a:r>
              <a:rPr lang="en-US" baseline="30000" dirty="0">
                <a:solidFill>
                  <a:schemeClr val="accent1"/>
                </a:solidFill>
              </a:rPr>
              <a:t>(n)</a:t>
            </a:r>
            <a:r>
              <a:rPr lang="en-US" dirty="0">
                <a:solidFill>
                  <a:schemeClr val="accent1"/>
                </a:solidFill>
              </a:rPr>
              <a:t>[</a:t>
            </a:r>
            <a:r>
              <a:rPr lang="en-US" dirty="0" err="1">
                <a:solidFill>
                  <a:schemeClr val="accent1"/>
                </a:solidFill>
              </a:rPr>
              <a:t>v,v</a:t>
            </a:r>
            <a:r>
              <a:rPr lang="en-US" dirty="0">
                <a:solidFill>
                  <a:schemeClr val="accent1"/>
                </a:solidFill>
              </a:rPr>
              <a:t>] &lt; 0</a:t>
            </a:r>
            <a:r>
              <a:rPr lang="en-US" dirty="0"/>
              <a:t>.</a:t>
            </a:r>
          </a:p>
          <a:p>
            <a:r>
              <a:rPr lang="en-US" dirty="0"/>
              <a:t>So check for that; if you see it, return </a:t>
            </a:r>
            <a:r>
              <a:rPr lang="en-US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negative cycle.</a:t>
            </a:r>
          </a:p>
        </p:txBody>
      </p:sp>
    </p:spTree>
    <p:extLst>
      <p:ext uri="{BB962C8B-B14F-4D97-AF65-F5344CB8AC3E}">
        <p14:creationId xmlns:p14="http://schemas.microsoft.com/office/powerpoint/2010/main" val="2124919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have we learned?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>
                <a:solidFill>
                  <a:schemeClr val="accent1"/>
                </a:solidFill>
              </a:rPr>
              <a:t>Floyd-</a:t>
            </a:r>
            <a:r>
              <a:rPr lang="en-US" dirty="0" err="1">
                <a:solidFill>
                  <a:schemeClr val="accent1"/>
                </a:solidFill>
              </a:rPr>
              <a:t>Warshall</a:t>
            </a:r>
            <a:r>
              <a:rPr lang="en-US" dirty="0"/>
              <a:t> algorithm is another example of </a:t>
            </a:r>
            <a:r>
              <a:rPr lang="en-US" dirty="0">
                <a:solidFill>
                  <a:schemeClr val="accent5"/>
                </a:solidFill>
              </a:rPr>
              <a:t>dynamic programming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>
                <a:solidFill>
                  <a:schemeClr val="accent4"/>
                </a:solidFill>
              </a:rPr>
              <a:t>It computes All Pairs Shortest Paths in a directed weighted graph in time O(n</a:t>
            </a:r>
            <a:r>
              <a:rPr lang="en-US" baseline="30000" dirty="0">
                <a:solidFill>
                  <a:schemeClr val="accent4"/>
                </a:solidFill>
              </a:rPr>
              <a:t>3</a:t>
            </a:r>
            <a:r>
              <a:rPr lang="en-US" dirty="0">
                <a:solidFill>
                  <a:schemeClr val="accent4"/>
                </a:solidFill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7690622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more shortest-path algorithms: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Bellman-Ford for single-source shortest path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Floyd-</a:t>
            </a:r>
            <a:r>
              <a:rPr lang="en-US" dirty="0" err="1">
                <a:solidFill>
                  <a:schemeClr val="accent4"/>
                </a:solidFill>
              </a:rPr>
              <a:t>Warshall</a:t>
            </a:r>
            <a:r>
              <a:rPr lang="en-US" dirty="0">
                <a:solidFill>
                  <a:schemeClr val="accent4"/>
                </a:solidFill>
              </a:rPr>
              <a:t> for all-pairs shortest path</a:t>
            </a:r>
          </a:p>
          <a:p>
            <a:r>
              <a:rPr lang="en-US" b="1" i="1" dirty="0">
                <a:solidFill>
                  <a:schemeClr val="accent5"/>
                </a:solidFill>
              </a:rPr>
              <a:t>Dynamic programming!</a:t>
            </a:r>
          </a:p>
          <a:p>
            <a:pPr lvl="1"/>
            <a:r>
              <a:rPr lang="en-US" dirty="0"/>
              <a:t>This is a fancy name for:</a:t>
            </a:r>
          </a:p>
          <a:p>
            <a:pPr lvl="2"/>
            <a:r>
              <a:rPr lang="en-US" dirty="0">
                <a:solidFill>
                  <a:schemeClr val="accent4"/>
                </a:solidFill>
              </a:rPr>
              <a:t>Break up an optimization problem into smaller problems</a:t>
            </a:r>
          </a:p>
          <a:p>
            <a:pPr lvl="2"/>
            <a:r>
              <a:rPr lang="en-US" dirty="0">
                <a:solidFill>
                  <a:schemeClr val="accent1"/>
                </a:solidFill>
              </a:rPr>
              <a:t>The optimal solutions to the sub-problems should be sub-solutions to the original problem.</a:t>
            </a:r>
          </a:p>
          <a:p>
            <a:pPr lvl="2"/>
            <a:r>
              <a:rPr lang="en-US" dirty="0">
                <a:solidFill>
                  <a:schemeClr val="accent6"/>
                </a:solidFill>
              </a:rPr>
              <a:t>Build the optimal solution iteratively by filling in a table of sub-solutions.</a:t>
            </a:r>
          </a:p>
          <a:p>
            <a:pPr lvl="2"/>
            <a:r>
              <a:rPr lang="en-US" dirty="0">
                <a:solidFill>
                  <a:schemeClr val="accent5"/>
                </a:solidFill>
              </a:rPr>
              <a:t>Take advantage of overlapping sub-problems!</a:t>
            </a:r>
          </a:p>
        </p:txBody>
      </p:sp>
    </p:spTree>
    <p:extLst>
      <p:ext uri="{BB962C8B-B14F-4D97-AF65-F5344CB8AC3E}">
        <p14:creationId xmlns:p14="http://schemas.microsoft.com/office/powerpoint/2010/main" val="947826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More examples of </a:t>
            </a:r>
            <a:r>
              <a:rPr lang="en-US" dirty="0">
                <a:solidFill>
                  <a:schemeClr val="accent5"/>
                </a:solidFill>
              </a:rPr>
              <a:t>dynamic programming</a:t>
            </a:r>
            <a:r>
              <a:rPr lang="en-US" dirty="0"/>
              <a:t>!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0531" y="3396609"/>
            <a:ext cx="5276334" cy="31913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7135" y="5387610"/>
            <a:ext cx="29634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We will stop bullets with </a:t>
            </a:r>
            <a:r>
              <a:rPr lang="en-US">
                <a:solidFill>
                  <a:schemeClr val="accent1"/>
                </a:solidFill>
              </a:rPr>
              <a:t>our action-packed coding </a:t>
            </a:r>
            <a:r>
              <a:rPr lang="en-US" dirty="0">
                <a:solidFill>
                  <a:schemeClr val="accent1"/>
                </a:solidFill>
              </a:rPr>
              <a:t>skills, and also maybe find longest common subsequences.</a:t>
            </a:r>
          </a:p>
        </p:txBody>
      </p:sp>
    </p:spTree>
    <p:extLst>
      <p:ext uri="{BB962C8B-B14F-4D97-AF65-F5344CB8AC3E}">
        <p14:creationId xmlns:p14="http://schemas.microsoft.com/office/powerpoint/2010/main" val="1252302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2333</TotalTime>
  <Words>5070</Words>
  <Application>Microsoft Office PowerPoint</Application>
  <PresentationFormat>On-screen Show (4:3)</PresentationFormat>
  <Paragraphs>779</Paragraphs>
  <Slides>53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2" baseType="lpstr">
      <vt:lpstr>Arial</vt:lpstr>
      <vt:lpstr>Bell MT</vt:lpstr>
      <vt:lpstr>Big Caslon Medium</vt:lpstr>
      <vt:lpstr>Calibri</vt:lpstr>
      <vt:lpstr>Calibri Light</vt:lpstr>
      <vt:lpstr>Cambria Math</vt:lpstr>
      <vt:lpstr>Chalkboard</vt:lpstr>
      <vt:lpstr>Courier</vt:lpstr>
      <vt:lpstr>Office Theme</vt:lpstr>
      <vt:lpstr>Lecture 12</vt:lpstr>
      <vt:lpstr>Last time</vt:lpstr>
      <vt:lpstr>Today</vt:lpstr>
      <vt:lpstr>Recall</vt:lpstr>
      <vt:lpstr>One drawback to Dijkstra</vt:lpstr>
      <vt:lpstr>Bellman-Ford algorithm</vt:lpstr>
      <vt:lpstr>Bellman-Ford Algorithm</vt:lpstr>
      <vt:lpstr>Now update!</vt:lpstr>
      <vt:lpstr>How do we get d(k)[b] from d(k-1)?</vt:lpstr>
      <vt:lpstr>Bellman-Ford Algorithm*</vt:lpstr>
      <vt:lpstr>Bellman-Ford Algorithm* Example</vt:lpstr>
      <vt:lpstr>Bellman-Ford Algorithm* Example</vt:lpstr>
      <vt:lpstr>Bellman-Ford Algorithm* Example</vt:lpstr>
      <vt:lpstr>Bellman-Ford Algorithm* Example</vt:lpstr>
      <vt:lpstr>Bellman-Ford Algorithm* Example</vt:lpstr>
      <vt:lpstr>How do we actually implement this?  (This is what the * on all the previous slides was for).</vt:lpstr>
      <vt:lpstr>Bellman-Ford Algorithm*</vt:lpstr>
      <vt:lpstr>Why does it work?</vt:lpstr>
      <vt:lpstr>Sketch of proof [skip this in lecture] that this thing we’ve been asserting is really true</vt:lpstr>
      <vt:lpstr>Is this the conclusion we want?</vt:lpstr>
      <vt:lpstr>DANGER!</vt:lpstr>
      <vt:lpstr>But if there is no negative cycle</vt:lpstr>
      <vt:lpstr>Let’s go after a new conclusion.</vt:lpstr>
      <vt:lpstr>Proof</vt:lpstr>
      <vt:lpstr>So that proves:</vt:lpstr>
      <vt:lpstr>What have we learned?</vt:lpstr>
      <vt:lpstr>Bellman-Ford is also used in practice.</vt:lpstr>
      <vt:lpstr>This was an example of…</vt:lpstr>
      <vt:lpstr>What is dynamic programming?</vt:lpstr>
      <vt:lpstr>Elements of dynamic programming</vt:lpstr>
      <vt:lpstr>Two ways to think about and/or implement DP algorithms</vt:lpstr>
      <vt:lpstr>Bottom up approach</vt:lpstr>
      <vt:lpstr>Top down approach</vt:lpstr>
      <vt:lpstr>Example: top-down** version of BF*</vt:lpstr>
      <vt:lpstr>Visualization  top-down approach</vt:lpstr>
      <vt:lpstr>Visualization  top-down approach</vt:lpstr>
      <vt:lpstr>What have we learned?</vt:lpstr>
      <vt:lpstr>Why “dynamic programming” ?</vt:lpstr>
      <vt:lpstr>Why “dynamic programming” ?</vt:lpstr>
      <vt:lpstr>Another example</vt:lpstr>
      <vt:lpstr>Optimal substructure</vt:lpstr>
      <vt:lpstr>Optimal substructure</vt:lpstr>
      <vt:lpstr>How can we find D(k)[u,v] using D(k)?</vt:lpstr>
      <vt:lpstr>How can we find D(k)[u,v] using D(k)?</vt:lpstr>
      <vt:lpstr>How can we find D(k)[u,v] using D(k)?</vt:lpstr>
      <vt:lpstr>A bit more detail on Case 2</vt:lpstr>
      <vt:lpstr>How can we find D(k)[u,v] using D(k)?</vt:lpstr>
      <vt:lpstr>Floyd-Warshall algorithm</vt:lpstr>
      <vt:lpstr>We’ve basically just shown</vt:lpstr>
      <vt:lpstr>What if there are negative cycles?</vt:lpstr>
      <vt:lpstr>What have we learned?</vt:lpstr>
      <vt:lpstr>Recap</vt:lpstr>
      <vt:lpstr>Next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12</dc:title>
  <dc:creator>Mary Katherine Wootters</dc:creator>
  <cp:lastModifiedBy>Valdis Saulespurens</cp:lastModifiedBy>
  <cp:revision>58</cp:revision>
  <dcterms:created xsi:type="dcterms:W3CDTF">2017-05-13T04:05:16Z</dcterms:created>
  <dcterms:modified xsi:type="dcterms:W3CDTF">2021-04-20T11:06:42Z</dcterms:modified>
</cp:coreProperties>
</file>